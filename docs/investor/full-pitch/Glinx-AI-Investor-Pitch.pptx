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Glinx has one main directive: make a company self-aware so it can recursively self-improve. In business terms, this means a persistent model of the company that understands its purpose and current condition, proposes changes, and learns from measured results. The owner defines the objectives and permissions. The full platform is a product vision. Today, an installable Company Discovery prototype establishes the first sensing layer. The cover illustration depicts a fictional manufacturing environment and does not represent a customer installation.</a:t>
            </a:r>
          </a:p>
          <a:p>
            <a:endParaRPr/>
          </a:p>
          <a:p>
            <a:r>
              <a:t>Sources</a:t>
            </a:r>
          </a:p>
          <a:p>
            <a:r>
              <a:t>Founder-provided career background and Glinx vision, September 2026.</a:t>
            </a:r>
          </a:p>
          <a:p>
            <a:r>
              <a:t>https://github.com/dennybrig/Glinx.ai/blob/8e49df99fe437d0452892e5034a3c0ca97e56a8c/docs/ARCHITECTURE.md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investment thesis combines a large ambition with a narrow starting point. Companies already hold operating information in ERP, email, finance and other systems. Glinx would preserve the evidence and connect it to business meaning, then use outcomes to update the next decision. The initial manufacturing focus is a customer hypothesis, supported by the founder’s operating experience. No paying customer, executed pilot, measured savings or financing amount is claimed. The next milestone is customer evidence that a complete loop can improve a real decision.</a:t>
            </a:r>
          </a:p>
          <a:p>
            <a:endParaRPr/>
          </a:p>
          <a:p>
            <a:r>
              <a:t>Sources</a:t>
            </a:r>
          </a:p>
          <a:p>
            <a:r>
              <a:t>Founder-provided career background and Glinx vision, September 2026.</a:t>
            </a:r>
          </a:p>
          <a:p>
            <a:r>
              <a:t>https://github.com/dennybrig/Glinx.ai/blob/8e49df99fe437d0452892e5034a3c0ca97e56a8c/docs/ARCHITECTURE.md</a:t>
            </a:r>
          </a:p>
          <a:p>
            <a:r>
              <a:t>https://github.com/dennybrig/Glinx.ai/blob/8e49df99fe437d0452892e5034a3c0ca97e56a8c/README.md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examples describe the customer problem Glinx intends to address. They are operating questions, not quantified survey findings. A manager may have all the necessary systems and still need manual reconciliation to answer a cross-functional question. Discovery establishes what exists. Later connectors and entity resolution would establish what the records mean together. A useful product must also record where it lacks data or where source systems disagree.</a:t>
            </a:r>
          </a:p>
          <a:p>
            <a:endParaRPr/>
          </a:p>
          <a:p>
            <a:r>
              <a:t>Sources</a:t>
            </a:r>
          </a:p>
          <a:p>
            <a:r>
              <a:t>Founder-provided career background and Glinx vision, September 2026.</a:t>
            </a:r>
          </a:p>
          <a:p>
            <a:r>
              <a:t>Founder-supplied operating-model image, C17DB1D4-A31C-4246-8679-988D07947354.jpeg,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Self-awareness here means a functional business capability, not consciousness or legal personhood. The company model needs explicit objectives, a current state, evidence for its explanations and memory over time. It should know the limits of its knowledge. Human leaders continue to resolve trade-offs among profit, service, quality, safety and other constraints. Recursive improvement means feeding evaluated outcomes into later cycles. It does not mean unconstrained self-modification or permission to pursue a metric at any cost.</a:t>
            </a:r>
          </a:p>
          <a:p>
            <a:endParaRPr/>
          </a:p>
          <a:p>
            <a:r>
              <a:t>Sources</a:t>
            </a:r>
          </a:p>
          <a:p>
            <a:r>
              <a:t>Founder-provided career background and Glinx vision, September 2026.</a:t>
            </a:r>
          </a:p>
          <a:p>
            <a:r>
              <a:t>https://github.com/dennybrig/Glinx.ai/blob/8e49df99fe437d0452892e5034a3c0ca97e56a8c/docs/ARCHITECTURE.md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Stanford’s 2026 AI Index reports AI use at 88% of surveyed organizations in 2025, while agent deployment remained in single digits across nearly all business functions. These are survey findings, not estimates of the number of customers Glinx can win. They suggest a context in which AI familiarity is widespread and operational deployment still needs work. The inference for Glinx is to focus on a bounded business workflow where evidence, permissions and a measurable outcome can establish trust. Adoption does not by itself prove demand for Glinx.</a:t>
            </a:r>
          </a:p>
          <a:p>
            <a:endParaRPr/>
          </a:p>
          <a:p>
            <a:r>
              <a:t>Sources</a:t>
            </a:r>
          </a:p>
          <a:p>
            <a:r>
              <a:t>https://hai.stanford.edu/ai-index/2026-ai-index-report/economy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founder’s reference image defines five layers. Company organs are the source systems, including ERP, email, finance, HR and tax. Connector fabric acquires permitted records using APIs, change-data capture, files or events. The evidence plane preserves original records, lineage and permissions. The Company Connectome resolves business entities, relationships and meaning. Glinx cognition diagnoses, simulates, acts and learns. The outcome of an action must return as new evidence for the next cycle. Most of this end-state architecture remains to be built. The current prototype identifies approved system metadata and records its evidence.</a:t>
            </a:r>
          </a:p>
          <a:p>
            <a:endParaRPr/>
          </a:p>
          <a:p>
            <a:r>
              <a:t>Sources</a:t>
            </a:r>
          </a:p>
          <a:p>
            <a:r>
              <a:t>Founder-supplied operating-model image, C17DB1D4-A31C-4246-8679-988D07947354.jpeg, September 2026.</a:t>
            </a:r>
          </a:p>
          <a:p>
            <a:r>
              <a:t>https://github.com/dennybrig/Glinx.ai/blob/8e49df99fe437d0452892e5034a3c0ca97e56a8c/docs/ARCHITECTURE.md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Connectome is a proposed persistent model of the company’s entities, relationships, objectives and changing state. This order example links customer, order, product, supplier, work order and capacity across source systems. Each record should retain identifiers, timestamps, provenance and applicable access controls. Entity resolution must distinguish multiple installations and similarly named objects. The graph gives an investigator context, but it does not automatically establish causation. Discovery today only supplies an initial system inventory and separately reported relationships, not this full operating graph.</a:t>
            </a:r>
          </a:p>
          <a:p>
            <a:endParaRPr/>
          </a:p>
          <a:p>
            <a:r>
              <a:t>Sources</a:t>
            </a:r>
          </a:p>
          <a:p>
            <a:r>
              <a:t>Founder-supplied operating-model image, C17DB1D4-A31C-4246-8679-988D07947354.jpeg, September 2026.</a:t>
            </a:r>
          </a:p>
          <a:p>
            <a:r>
              <a:t>https://github.com/dennybrig/Glinx.ai/blob/8e49df99fe437d0452892e5034a3c0ca97e56a8c/docs/ARCHITECTURE.md</a:t>
            </a:r>
          </a:p>
          <a:p>
            <a:r>
              <a:t>https://github.com/dennybrig/Glinx.ai/blob/8e49df99fe437d0452892e5034a3c0ca97e56a8c/docs/REPORT-CONTRACT.md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loop operationalizes the main directive. Sense refreshes evidence. Understand forms explanations with uncertainty. Decide compares options against owner-defined objectives and constraints. Act executes only authorized changes. Measure evaluates results against a baseline, including unintended effects. Learn retains or rejects the change and updates the model, playbook or monitoring criteria. An agent may launch a narrowly scoped subtask only under a pre-approved policy with bounded access, budget and duration. It must not grant itself authority, rewrite its objectives or blindly reinforce its earlier answer. Consequential actions require human approval. The full loop is a future product capability.</a:t>
            </a:r>
          </a:p>
          <a:p>
            <a:endParaRPr/>
          </a:p>
          <a:p>
            <a:r>
              <a:t>Sources</a:t>
            </a:r>
          </a:p>
          <a:p>
            <a:r>
              <a:t>Founder-provided career background and Glinx vision, September 2026.</a:t>
            </a:r>
          </a:p>
          <a:p>
            <a:r>
              <a:t>Founder-supplied operating-model image, C17DB1D4-A31C-4246-8679-988D07947354.jpeg, September 2026.</a:t>
            </a:r>
          </a:p>
          <a:p>
            <a:r>
              <a:t>https://github.com/dennybrig/Glinx.ai/blob/8e49df99fe437d0452892e5034a3c0ca97e56a8c/docs/ARCHITECTURE.md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one concrete example rather than claiming the platform can optimize everything at once. A manufacturing owner sees worsening delivery performance and rising overtime. The proposed system brings together dated records and tests plausible explanations. It compares a bounded intervention with alternatives, and a person approves the change. It then measures delivery, cost and quality over an agreed window. The next cycle starts with an improved hypothesis or a rejected intervention, not a claim that any observed improvement proves causation. Native ERP access, reasoning, action execution and outcome evaluation remain future work.</a:t>
            </a:r>
          </a:p>
          <a:p>
            <a:endParaRPr/>
          </a:p>
          <a:p>
            <a:r>
              <a:t>Sources</a:t>
            </a:r>
          </a:p>
          <a:p>
            <a:r>
              <a:t>Founder-provided career background and Glinx vision, September 2026.</a:t>
            </a:r>
          </a:p>
          <a:p>
            <a:r>
              <a:t>Founder-supplied operating-model image, C17DB1D4-A31C-4246-8679-988D07947354.jpeg, September 2026.</a:t>
            </a:r>
          </a:p>
          <a:p>
            <a:r>
              <a:t>https://github.com/dennybrig/Glinx.ai/blob/8e49df99fe437d0452892e5034a3c0ca97e56a8c/docs/ARCHITECTURE.md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buyer is the owner, CEO or general manager responsible for the company’s performance. An operations leader champions the first use case. Finance and process owners validate definitions, operating evidence and the value calculation. IT and security approve integration boundaries and controls. The proposed 100–499 employee manufacturing segment is a starting focus, not a validated market segment or an exclusion of smaller companies. A firm needs enough workflow complexity to justify integration effort, a named owner and accessible source records. Longer-term users could include distribution and service businesses and operating teams managing multiple companies.</a:t>
            </a:r>
          </a:p>
          <a:p>
            <a:endParaRPr/>
          </a:p>
          <a:p>
            <a:r>
              <a:t>Sources</a:t>
            </a:r>
          </a:p>
          <a:p>
            <a:r>
              <a:t>Founder-provided career background and Glinx vision,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potential customer outcomes rather than delivered modules or verified results. Glinx should choose one recurring use case with measurable input and output before expanding. Delivery, margin, working capital and change implementation all depend on relationships across records and teams. Working-capital release must remain separate from recurring profit improvement. HR, payroll, tax and regulated decisions require their own permission boundaries and responsible specialists. Presence of a source connector does not authorize an agent to make a business decision.</a:t>
            </a:r>
          </a:p>
          <a:p>
            <a:endParaRPr/>
          </a:p>
          <a:p>
            <a:r>
              <a:t>Sources</a:t>
            </a:r>
          </a:p>
          <a:p>
            <a:r>
              <a:t>Founder-provided career background and Glinx vision, September 2026.</a:t>
            </a:r>
          </a:p>
          <a:p>
            <a:r>
              <a:t>Founder-supplied operating-model image, C17DB1D4-A31C-4246-8679-988D07947354.jpeg,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broader Glinx product map. Know combines Discovery with the proposed persistent company model. Diagnose would explain problems with traceable evidence and uncertainty. Prioritize would rank opportunities using costs, expected impact and risk assumptions. Plan would translate a chosen opportunity into an accountable roadmap. Operate and learn would use scoped agents to carry out permitted tasks and evaluate their effects. The architecture would allow appropriate models and tools for each task. Glinx does not need to train its own foundation model to test this thesis. Today’s inventory questions use deterministic rules, and the full reasoning and execution capabilities remain planned.</a:t>
            </a:r>
          </a:p>
          <a:p>
            <a:endParaRPr/>
          </a:p>
          <a:p>
            <a:r>
              <a:t>Sources</a:t>
            </a:r>
          </a:p>
          <a:p>
            <a:r>
              <a:t>Founder-provided career background and Glinx vision, September 2026.</a:t>
            </a:r>
          </a:p>
          <a:p>
            <a:r>
              <a:t>https://github.com/dennybrig/Glinx.ai/blob/8e49df99fe437d0452892e5034a3c0ca97e56a8c/docs/ARCHITECTURE.md</a:t>
            </a:r>
          </a:p>
          <a:p>
            <a:r>
              <a:t>https://github.com/dennybrig/Glinx.ai/blob/8e49df99fe437d0452892e5034a3c0ca97e56a8c/README.md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implementation record reports 17 Python tests and 7 JavaScript model tests. A real Linux run inspected 693 package entries in a development environment and returned one endpoint record, with network sources disabled. A built wheel installed into a clean environment and served local report and dashboard routes. The source types cover local application records, mail-domain clues, Microsoft enterprise-app registrations, approved HTTPS fingerprints and owner inventories. Live Microsoft tenant and real Windows/macOS validation remain ahead. The Alder Forge demonstration is fictional. No customer revenue, measured savings or production security certification is claimed.</a:t>
            </a:r>
          </a:p>
          <a:p>
            <a:endParaRPr/>
          </a:p>
          <a:p>
            <a:r>
              <a:t>Sources</a:t>
            </a:r>
          </a:p>
          <a:p>
            <a:r>
              <a:t>https://github.com/dennybrig/Glinx.ai/blob/8e49df99fe437d0452892e5034a3c0ca97e56a8c/docs/VALIDATION.md</a:t>
            </a:r>
          </a:p>
          <a:p>
            <a:r>
              <a:t>https://github.com/dennybrig/Glinx.ai/blob/8e49df99fe437d0452892e5034a3c0ca97e56a8c/README.md</a:t>
            </a:r>
          </a:p>
          <a:p>
            <a:r>
              <a:t>https://github.com/dennybrig/Glinx.ai/blob/8e49df99fe437d0452892e5034a3c0ca97e56a8c/docs/REPORT-CONTRACT.md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recommended go-to-market approach begins with founder-led access to manufacturing operators and a narrow paid diagnostic. A design partner must supply an executive sponsor, a process owner and permission to the needed evidence. The second phase establishes one useful loop, including a baseline and approval. Only after the customer confirms value should Glinx expand the workflow and test an annual software contract. ERP implementation firms and private-equity operating teams are possible future channels, not existing commercial relationships. This approach also tests whether deployment can become repeatable rather than a new consulting project every time.</a:t>
            </a:r>
          </a:p>
          <a:p>
            <a:endParaRPr/>
          </a:p>
          <a:p>
            <a:r>
              <a:t>Sources</a:t>
            </a:r>
          </a:p>
          <a:p>
            <a:r>
              <a:t>Founder-provided career background and Glinx vision, September 2026.</a:t>
            </a:r>
          </a:p>
          <a:p>
            <a:r>
              <a:t>https://github.com/dennybrig/Glinx.ai/blob/8e49df99fe437d0452892e5034a3c0ca97e56a8c/docs/ARCHITECTURE.md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model separates the diagnostic, recurring platform, variable workflow usage and implementation services. This avoids disguising implementation labor as high-margin software revenue. Pricing must reflect the value to the customer and the cost of connectors, inference, support and evaluation. Later in the deck, $60,000 annual subscription revenue is a scenario input only. It is not a quoted price, committed contract or benchmark. A successful pilot should test willingness to pay as well as technical usefulness. No recurring revenue or gross margin has been established.</a:t>
            </a:r>
          </a:p>
          <a:p>
            <a:endParaRPr/>
          </a:p>
          <a:p>
            <a:r>
              <a:t>Sources</a:t>
            </a:r>
          </a:p>
          <a:p>
            <a:r>
              <a:t>Founder-provided career background and Glinx vision,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NAM reports 239,265 U.S. manufacturing firms in 2022, with 93.1% below 100 employees and 4,177 firms at 500 or more. Approximate firms at 100–499 employees = 239,265 × (1 − 0.931) − 4,177 = 12,332.285. Because the share is rounded, the deck rounds the pool down to about 12,000 rather than claiming precision. The scenario multiplies 12,000 firms by an assumed $60,000 annual subscription to obtain $720 million. This is a gross potential pool for a selected segment, not a validated TAM, SAM, forecast or evidence of willingness to pay. Filtering for data access, workflow fit, budget, geography and channels will reduce the reachable market. Distribution, services and larger firms are potential expansion areas excluded from this calculation.</a:t>
            </a:r>
          </a:p>
          <a:p>
            <a:endParaRPr/>
          </a:p>
          <a:p>
            <a:r>
              <a:t>Sources</a:t>
            </a:r>
          </a:p>
          <a:p>
            <a:r>
              <a:t>https://nam.org/mfgdata/facts-about-manufacturing-expanded/</a:t>
            </a:r>
          </a:p>
          <a:p>
            <a:r>
              <a:t>https://www.census.gov/data/tables/2022/econ/susb/2022-susb-annual.html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Palantir documents an ontology with actions and organizational controls. SAP describes Joule agents and assistants using business semantics and a trusted data layer. Microsoft Copilot Studio supports agents connected to business data and event-triggered actions. Glinx must not claim that no one has built context, graphs or agents. Its proposed entry point is a focused manufacturing deployment with an operator-readable company model and verified outcomes. Faster setup, lower total cost, customer usability and better results all require comparative pilot evidence. Consulting and internal development remain credible substitutes, including simply improving the existing systems. Product descriptions reflect official pages accessed September 9, 2026.</a:t>
            </a:r>
          </a:p>
          <a:p>
            <a:endParaRPr/>
          </a:p>
          <a:p>
            <a:r>
              <a:t>Sources</a:t>
            </a:r>
          </a:p>
          <a:p>
            <a:r>
              <a:t>https://www.palantir.com/docs/foundry/ontology/overview/</a:t>
            </a:r>
          </a:p>
          <a:p>
            <a:r>
              <a:t>https://www.sap.com/products/artificial-intelligence/ai-agents.html</a:t>
            </a:r>
          </a:p>
          <a:p>
            <a:r>
              <a:t>https://learn.microsoft.com/en-us/microsoft-copilot-studio/authoring-triggers-about</a:t>
            </a:r>
          </a:p>
          <a:p>
            <a:r>
              <a:t>https://www.microsoft.com/en-us/microsoft-365-copilot/microsoft-copilot-studio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moat hypothesis has four parts: a useful company-specific model, a decision-and-outcome history, reusable deployment work and customer trust in operating controls. None is a current proven moat. Glinx should keep customer records exportable and permissioned. Reusable schemas, code, tests and appropriately authorized patterns can improve delivery without pooling confidential customer data by default. An advantage would show up in declining deployment effort, greater repeat usage, better-calibrated recommendations and retained customers. A generic model wrapper or a large number of connectors alone would be easy for competitors to match.</a:t>
            </a:r>
          </a:p>
          <a:p>
            <a:endParaRPr/>
          </a:p>
          <a:p>
            <a:r>
              <a:t>Sources</a:t>
            </a:r>
          </a:p>
          <a:p>
            <a:r>
              <a:t>Founder-provided career background and Glinx vision, September 2026.</a:t>
            </a:r>
          </a:p>
          <a:p>
            <a:r>
              <a:t>Founder-supplied operating-model image, C17DB1D4-A31C-4246-8679-988D07947354.jpeg, September 2026.</a:t>
            </a:r>
          </a:p>
          <a:p>
            <a:r>
              <a:t>https://github.com/dennybrig/Glinx.ai/blob/8e49df99fe437d0452892e5034a3c0ca97e56a8c/docs/ARCHITECTURE.md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roadmap is deliberately milestone-based rather than a promised launch calendar. Discovery already exists as a local prototype. The next stage requires stable company identities, an ERP connection and reliable retrieval with source permissions. Then the team can trial a limited, human-approved intervention and evaluate its effect. Scale should follow paid customer continuation and evidence that similar installations cost less effort. Continuous monitoring, action approval enforcement, tenant isolation, credentials management and rollback mechanisms need implementation and testing before operational deployment.</a:t>
            </a:r>
          </a:p>
          <a:p>
            <a:endParaRPr/>
          </a:p>
          <a:p>
            <a:r>
              <a:t>Sources</a:t>
            </a:r>
          </a:p>
          <a:p>
            <a:r>
              <a:t>https://github.com/dennybrig/Glinx.ai/blob/8e49df99fe437d0452892e5034a3c0ca97e56a8c/docs/ARCHITECTURE.md</a:t>
            </a:r>
          </a:p>
          <a:p>
            <a:r>
              <a:t>https://github.com/dennybrig/Glinx.ai/blob/8e49df99fe437d0452892e5034a3c0ca97e56a8c/docs/VALIDATION.md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Denny’s founder-market fit comes from manufacturing operations and P&amp;L accountability, including leadership of a 76-person organization, ERP implementation experience, and post-acquisition systems integration. His Rice University MBA complements that operating perspective. These are founder-provided biographical facts, not independent diligence findings. No cofounder, advisor, engineering team or institutional partnership is represented. The near-term staffing need is enterprise software and connectors, applied AI evaluation, security and customer implementation. The investor conversation should test whether the founder can recruit that capacity and turn domain expertise into repeatable software.</a:t>
            </a:r>
          </a:p>
          <a:p>
            <a:endParaRPr/>
          </a:p>
          <a:p>
            <a:r>
              <a:t>Sources</a:t>
            </a:r>
          </a:p>
          <a:p>
            <a:r>
              <a:t>Founder-provided career background and Glinx vision,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investor ask is support for the transition from Discovery to a real, governed improvement loop and repeatable paid deployment. Capital would primarily support the enterprise integration, company model, evaluation and action-control capabilities, plus direct pilot work. The founder has not specified a raise amount, valuation, round instrument or financing terms, so the deck makes no such claim. Those terms should follow a staffed delivery plan and a defined runway. The design-partner ask is access to one useful workflow, a baseline, an executive sponsor and a named process owner. The long-term opportunity is a company whose decisions benefit from what it has already learned.</a:t>
            </a:r>
          </a:p>
          <a:p>
            <a:endParaRPr/>
          </a:p>
          <a:p>
            <a:r>
              <a:t>Sources</a:t>
            </a:r>
          </a:p>
          <a:p>
            <a:r>
              <a:t>Founder-provided career background and Glinx vision, September 2026.</a:t>
            </a:r>
          </a:p>
          <a:p>
            <a:r>
              <a:t>https://github.com/dennybrig/Glinx.ai/blob/8e49df99fe437d0452892e5034a3c0ca97e56a8c/docs/ARCHITECTURE.md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Governance is part of the proposed product architecture. Owners set goals and constraints. Data access needs source-native authorization, tenant isolation and auditability. Agents should receive only the tools and time needed for a task, with explicit budgets and controlled delegation. Untrusted documents and emails must remain data rather than agent instructions. Financial commitments, employment decisions, sensitive disclosures and material operational changes require designated human authority and specialist review where appropriate. Versioned workflows, evaluations, stop controls and tested recovery are necessary before deployment. The current metadata-only prototype does not implement the full production control framework.</a:t>
            </a:r>
          </a:p>
          <a:p>
            <a:endParaRPr/>
          </a:p>
          <a:p>
            <a:r>
              <a:t>Sources</a:t>
            </a:r>
          </a:p>
          <a:p>
            <a:r>
              <a:t>https://github.com/dennybrig/Glinx.ai/blob/8e49df99fe437d0452892e5034a3c0ca97e56a8c/docs/ARCHITECTURE.md</a:t>
            </a:r>
          </a:p>
          <a:p>
            <a:r>
              <a:t>Founder-supplied operating-model image, C17DB1D4-A31C-4246-8679-988D07947354.jpeg,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sensitivity is an arithmetic illustration, not a customer case, savings commitment or pricing proposal accepted by the founder. It assumes a $3 million annual addressable cost base. A 2%, 5% or 8% recurring reduction yields $60,000, $150,000 or $240,000 annual gross benefit. Assumed year-one cost is $60,000 software plus $30,000 implementation, totaling $90,000. Year-one net benefits are therefore negative $30,000, positive $60,000 and positive $150,000. No timing ramp, taxes or financing effects are modeled. The low case demonstrates that a technically working tool may still fail economically. Cash released from working capital is a separate benefit and must not be counted as recurring cost savings. Agreement on baseline, attribution and adverse effects is essential.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risks could invalidate the investment thesis: integration remains bespoke, the company model cannot reliably resolve context, measured outcomes reflect confounding or metric gaming, customers will not pay enough to support the product, or incumbents deliver an easier alternative. A pilot should collect disconfirming evidence as well as positive examples. A useful company model must identify missing coverage and contradictory records. The team should define minimum evidence and guardrails before an intervention and preserve failed experiments. The business needs evidence of retention and repeatability, not only demonstrations. These risks are Glinx planning judgments rather than externally sourced estimates.</a:t>
            </a:r>
          </a:p>
          <a:p>
            <a:endParaRPr/>
          </a:p>
          <a:p>
            <a:r>
              <a:t>Sources</a:t>
            </a:r>
          </a:p>
          <a:p>
            <a:r>
              <a:t>https://github.com/dennybrig/Glinx.ai/blob/8e49df99fe437d0452892e5034a3c0ca97e56a8c/docs/ARCHITECTURE.md</a:t>
            </a:r>
          </a:p>
          <a:p>
            <a:r>
              <a:t>https://www.palantir.com/docs/foundry/ontology/overview/</a:t>
            </a:r>
          </a:p>
          <a:p>
            <a:r>
              <a:t>https://www.sap.com/products/artificial-intelligence/ai-agents.html</a:t>
            </a:r>
          </a:p>
          <a:p>
            <a:r>
              <a:t>https://www.microsoft.com/en-us/microsoft-365-copilot/microsoft-copilot-studio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Supporting sources distinguish current engineering facts, founder-supplied vision, external context and planning assumptions. Product facts refer to the September 9, 2026 software commit. The operating-model image is founder-supplied. Stanford survey figures support the why-now context, while NAM’s presentation of Census data supports an approximate firm pool. Official product documentation supports competitor descriptions. Market revenue, pricing, customer benefits and deployment milestones are explicitly labeled hypotheses or scenarios. None represents a forecast, traction claim or signed financing commitment.</a:t>
            </a:r>
          </a:p>
          <a:p>
            <a:endParaRPr/>
          </a:p>
          <a:p>
            <a:r>
              <a:t>Sources</a:t>
            </a:r>
          </a:p>
          <a:p>
            <a:r>
              <a:t>https://github.com/dennybrig/Glinx.ai/blob/8e49df99fe437d0452892e5034a3c0ca97e56a8c/README.md</a:t>
            </a:r>
          </a:p>
          <a:p>
            <a:r>
              <a:t>https://github.com/dennybrig/Glinx.ai/blob/8e49df99fe437d0452892e5034a3c0ca97e56a8c/docs/ARCHITECTURE.md</a:t>
            </a:r>
          </a:p>
          <a:p>
            <a:r>
              <a:t>https://github.com/dennybrig/Glinx.ai/blob/8e49df99fe437d0452892e5034a3c0ca97e56a8c/docs/VALIDATION.md</a:t>
            </a:r>
          </a:p>
          <a:p>
            <a:r>
              <a:t>https://hai.stanford.edu/ai-index/2026-ai-index-report/economy</a:t>
            </a:r>
          </a:p>
          <a:p>
            <a:r>
              <a:t>https://nam.org/mfgdata/facts-about-manufacturing-expanded/</a:t>
            </a:r>
          </a:p>
          <a:p>
            <a:r>
              <a:t>https://www.census.gov/data/tables/2022/econ/susb/2022-susb-annual.html</a:t>
            </a:r>
          </a:p>
          <a:p>
            <a:r>
              <a:t>https://www.palantir.com/docs/foundry/ontology/overview/</a:t>
            </a:r>
          </a:p>
          <a:p>
            <a:r>
              <a:t>https://www.sap.com/products/artificial-intelligence/ai-agents.html</a:t>
            </a:r>
          </a:p>
          <a:p>
            <a:r>
              <a:t>https://learn.microsoft.com/en-us/microsoft-copilot-studio/authoring-triggers-about</a:t>
            </a:r>
          </a:p>
          <a:p>
            <a:r>
              <a:t>https://www.microsoft.com/en-us/microsoft-365-copilot/microsoft-copilot-studio</a:t>
            </a:r>
          </a:p>
          <a:p>
            <a:r>
              <a:t>Founder-supplied operating-model image, C17DB1D4-A31C-4246-8679-988D07947354.jpeg, September 2026.</a:t>
            </a:r>
          </a:p>
          <a:p>
            <a:r>
              <a:t>Founder-provided career background and Glinx vision,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hyperlink" Target="https://www.sap.com/products/artificial-intelligence/ai-agents.html" TargetMode="External"/><Relationship Id="rId3" Type="http://schemas.openxmlformats.org/officeDocument/2006/relationships/hyperlink" Target="https://github.com/dennybrig/Glinx.ai/blob/8e49df99fe437d0452892e5034a3c0ca97e56a8c/docs/ARCHITECTURE.md" TargetMode="External"/><Relationship Id="rId7" Type="http://schemas.openxmlformats.org/officeDocument/2006/relationships/hyperlink" Target="https://www.palantir.com/docs/foundry/ontology/overview/"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nam.org/mfgdata/facts-about-manufacturing-expanded/" TargetMode="External"/><Relationship Id="rId5" Type="http://schemas.openxmlformats.org/officeDocument/2006/relationships/hyperlink" Target="https://hai.stanford.edu/ai-index/2026-ai-index-report/economy" TargetMode="External"/><Relationship Id="rId4" Type="http://schemas.openxmlformats.org/officeDocument/2006/relationships/hyperlink" Target="https://github.com/dennybrig/Glinx.ai/blob/8e49df99fe437d0452892e5034a3c0ca97e56a8c/docs/VALIDATION.md" TargetMode="External"/><Relationship Id="rId9" Type="http://schemas.openxmlformats.org/officeDocument/2006/relationships/hyperlink" Target="https://www.microsoft.com/en-us/microsoft-365-copilot/microsoft-copilot-stud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13981" r="13981"/>
          <a:stretch>
            <a:fillRect/>
          </a:stretch>
        </p:blipFill>
        <p:spPr>
          <a:xfrm>
            <a:off x="8486775" y="0"/>
            <a:ext cx="3705225" cy="6858000"/>
          </a:xfrm>
          <a:prstGeom prst="rect">
            <a:avLst/>
          </a:prstGeom>
        </p:spPr>
      </p:pic>
      <p:sp>
        <p:nvSpPr>
          <p:cNvPr id="2" name="Rectangle 1">
            <a:extLst>
              <a:ext uri="{FF2B5EF4-FFF2-40B4-BE49-F238E27FC236}">
                <a16:creationId xmlns:a16="http://schemas.microsoft.com/office/drawing/2014/main" id="{812DBC9A-BBD7-4F7A-B960-882BA55D7A9E}"/>
              </a:ext>
            </a:extLst>
          </p:cNvPr>
          <p:cNvSpPr>
            <a:spLocks noGrp="1"/>
          </p:cNvSpPr>
          <p:nvPr/>
        </p:nvSpPr>
        <p:spPr>
          <a:xfrm>
            <a:off x="8382000" y="0"/>
            <a:ext cx="104775" cy="6858000"/>
          </a:xfrm>
          <a:prstGeom prst="rect">
            <a:avLst/>
          </a:prstGeom>
          <a:solidFill>
            <a:srgbClr val="087F87"/>
          </a:solidFill>
          <a:ln w="0">
            <a:noFill/>
          </a:ln>
        </p:spPr>
        <p:txBody>
          <a:bodyPr/>
          <a:lstStyle/>
          <a:p>
            <a:endParaRPr lang="en-US"/>
          </a:p>
        </p:txBody>
      </p:sp>
      <p:sp>
        <p:nvSpPr>
          <p:cNvPr id="3" name="Rectangle 2">
            <a:extLst>
              <a:ext uri="{FF2B5EF4-FFF2-40B4-BE49-F238E27FC236}">
                <a16:creationId xmlns:a16="http://schemas.microsoft.com/office/drawing/2014/main" id="{B9376A60-5063-4609-8063-8B7318065E71}"/>
              </a:ext>
            </a:extLst>
          </p:cNvPr>
          <p:cNvSpPr>
            <a:spLocks noGrp="1"/>
          </p:cNvSpPr>
          <p:nvPr/>
        </p:nvSpPr>
        <p:spPr>
          <a:xfrm>
            <a:off x="609600" y="581025"/>
            <a:ext cx="466725" cy="47625"/>
          </a:xfrm>
          <a:prstGeom prst="rect">
            <a:avLst/>
          </a:prstGeom>
          <a:solidFill>
            <a:srgbClr val="087F87"/>
          </a:solidFill>
          <a:ln w="0">
            <a:noFill/>
          </a:ln>
        </p:spPr>
        <p:txBody>
          <a:bodyPr/>
          <a:lstStyle/>
          <a:p>
            <a:endParaRPr lang="en-US"/>
          </a:p>
        </p:txBody>
      </p:sp>
      <p:sp>
        <p:nvSpPr>
          <p:cNvPr id="4" name="GLINX AI">
            <a:extLst>
              <a:ext uri="{FF2B5EF4-FFF2-40B4-BE49-F238E27FC236}">
                <a16:creationId xmlns:a16="http://schemas.microsoft.com/office/drawing/2014/main" id="{07EB81BB-213A-4762-95F3-2563181EF9B5}"/>
              </a:ext>
            </a:extLst>
          </p:cNvPr>
          <p:cNvSpPr>
            <a:spLocks noGrp="1"/>
          </p:cNvSpPr>
          <p:nvPr/>
        </p:nvSpPr>
        <p:spPr>
          <a:xfrm>
            <a:off x="609600" y="904875"/>
            <a:ext cx="6858000" cy="66675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GLINX AI</a:t>
            </a:r>
          </a:p>
        </p:txBody>
      </p:sp>
      <p:sp>
        <p:nvSpPr>
          <p:cNvPr id="5" name="The self-improving&#10;company">
            <a:extLst>
              <a:ext uri="{FF2B5EF4-FFF2-40B4-BE49-F238E27FC236}">
                <a16:creationId xmlns:a16="http://schemas.microsoft.com/office/drawing/2014/main" id="{B268EA91-C900-441B-BBB7-133E45CA30C0}"/>
              </a:ext>
            </a:extLst>
          </p:cNvPr>
          <p:cNvSpPr>
            <a:spLocks noGrp="1"/>
          </p:cNvSpPr>
          <p:nvPr/>
        </p:nvSpPr>
        <p:spPr>
          <a:xfrm>
            <a:off x="609600" y="2333625"/>
            <a:ext cx="7620000" cy="1619250"/>
          </a:xfrm>
          <a:prstGeom prst="rect">
            <a:avLst/>
          </a:prstGeom>
          <a:noFill/>
          <a:ln w="0">
            <a:noFill/>
          </a:ln>
        </p:spPr>
        <p:txBody>
          <a:bodyPr wrap="square" lIns="0" tIns="0" rIns="0" bIns="0" anchor="t">
            <a:noAutofit/>
          </a:bodyPr>
          <a:lstStyle/>
          <a:p>
            <a:pPr algn="l">
              <a:defRPr sz="4875" b="1">
                <a:solidFill>
                  <a:srgbClr val="112A46"/>
                </a:solidFill>
                <a:latin typeface="Arial"/>
                <a:ea typeface="Arial"/>
                <a:cs typeface="Arial"/>
              </a:defRPr>
            </a:pPr>
            <a:r>
              <a:rPr sz="4875" b="1">
                <a:solidFill>
                  <a:srgbClr val="112A46"/>
                </a:solidFill>
                <a:latin typeface="Arial"/>
                <a:ea typeface="Arial"/>
                <a:cs typeface="Arial"/>
              </a:rPr>
              <a:t>The self-improving</a:t>
            </a:r>
          </a:p>
          <a:p>
            <a:pPr algn="l">
              <a:defRPr sz="4875" b="1">
                <a:solidFill>
                  <a:srgbClr val="112A46"/>
                </a:solidFill>
                <a:latin typeface="Arial"/>
                <a:ea typeface="Arial"/>
                <a:cs typeface="Arial"/>
              </a:defRPr>
            </a:pPr>
            <a:r>
              <a:rPr sz="4875" b="1">
                <a:solidFill>
                  <a:srgbClr val="112A46"/>
                </a:solidFill>
                <a:latin typeface="Arial"/>
                <a:ea typeface="Arial"/>
                <a:cs typeface="Arial"/>
              </a:rPr>
              <a:t>company</a:t>
            </a:r>
          </a:p>
        </p:txBody>
      </p:sp>
      <p:sp>
        <p:nvSpPr>
          <p:cNvPr id="6" name="Company self-awareness.&#10;Recursive improvement.">
            <a:extLst>
              <a:ext uri="{FF2B5EF4-FFF2-40B4-BE49-F238E27FC236}">
                <a16:creationId xmlns:a16="http://schemas.microsoft.com/office/drawing/2014/main" id="{C1BD9EC7-6305-4760-AB82-65602A461262}"/>
              </a:ext>
            </a:extLst>
          </p:cNvPr>
          <p:cNvSpPr>
            <a:spLocks noGrp="1"/>
          </p:cNvSpPr>
          <p:nvPr/>
        </p:nvSpPr>
        <p:spPr>
          <a:xfrm>
            <a:off x="609600" y="4229100"/>
            <a:ext cx="7239000" cy="1066800"/>
          </a:xfrm>
          <a:prstGeom prst="rect">
            <a:avLst/>
          </a:prstGeom>
          <a:noFill/>
          <a:ln w="0">
            <a:noFill/>
          </a:ln>
        </p:spPr>
        <p:txBody>
          <a:bodyPr wrap="square" lIns="0" tIns="0" rIns="0" bIns="0" anchor="t">
            <a:noAutofit/>
          </a:bodyPr>
          <a:lstStyle/>
          <a:p>
            <a:pPr algn="l">
              <a:defRPr sz="2550" b="0">
                <a:solidFill>
                  <a:srgbClr val="536274"/>
                </a:solidFill>
                <a:latin typeface="Arial"/>
                <a:ea typeface="Arial"/>
                <a:cs typeface="Arial"/>
              </a:defRPr>
            </a:pPr>
            <a:r>
              <a:rPr sz="2550" b="0">
                <a:solidFill>
                  <a:srgbClr val="536274"/>
                </a:solidFill>
                <a:latin typeface="Arial"/>
                <a:ea typeface="Arial"/>
                <a:cs typeface="Arial"/>
              </a:rPr>
              <a:t>Company self-awareness.</a:t>
            </a:r>
          </a:p>
          <a:p>
            <a:pPr algn="l">
              <a:defRPr sz="2550" b="0">
                <a:solidFill>
                  <a:srgbClr val="536274"/>
                </a:solidFill>
                <a:latin typeface="Arial"/>
                <a:ea typeface="Arial"/>
                <a:cs typeface="Arial"/>
              </a:defRPr>
            </a:pPr>
            <a:r>
              <a:rPr sz="2550" b="0">
                <a:solidFill>
                  <a:srgbClr val="536274"/>
                </a:solidFill>
                <a:latin typeface="Arial"/>
                <a:ea typeface="Arial"/>
                <a:cs typeface="Arial"/>
              </a:rPr>
              <a:t>Recursive improvement.</a:t>
            </a:r>
          </a:p>
        </p:txBody>
      </p:sp>
      <p:sp>
        <p:nvSpPr>
          <p:cNvPr id="7" name="Investor presentation&#10;Denny Garcia&#10;September 2026">
            <a:extLst>
              <a:ext uri="{FF2B5EF4-FFF2-40B4-BE49-F238E27FC236}">
                <a16:creationId xmlns:a16="http://schemas.microsoft.com/office/drawing/2014/main" id="{52979F91-011E-47BA-AB47-A111F84D8CA2}"/>
              </a:ext>
            </a:extLst>
          </p:cNvPr>
          <p:cNvSpPr>
            <a:spLocks noGrp="1"/>
          </p:cNvSpPr>
          <p:nvPr/>
        </p:nvSpPr>
        <p:spPr>
          <a:xfrm>
            <a:off x="609600" y="5715000"/>
            <a:ext cx="7143750" cy="762000"/>
          </a:xfrm>
          <a:prstGeom prst="rect">
            <a:avLst/>
          </a:prstGeom>
          <a:noFill/>
          <a:ln w="0">
            <a:noFill/>
          </a:ln>
        </p:spPr>
        <p:txBody>
          <a:bodyPr wrap="square" lIns="0" tIns="0" rIns="0" bIns="0" anchor="t">
            <a:noAutofit/>
          </a:bodyPr>
          <a:lstStyle/>
          <a:p>
            <a:pPr algn="l">
              <a:defRPr sz="1425" b="0">
                <a:solidFill>
                  <a:srgbClr val="536274"/>
                </a:solidFill>
                <a:latin typeface="Arial"/>
                <a:ea typeface="Arial"/>
                <a:cs typeface="Arial"/>
              </a:defRPr>
            </a:pPr>
            <a:r>
              <a:rPr sz="1425" b="0">
                <a:solidFill>
                  <a:srgbClr val="536274"/>
                </a:solidFill>
                <a:latin typeface="Arial"/>
                <a:ea typeface="Arial"/>
                <a:cs typeface="Arial"/>
              </a:rPr>
              <a:t>Investor presentation</a:t>
            </a:r>
          </a:p>
          <a:p>
            <a:pPr algn="l">
              <a:defRPr sz="1425" b="0">
                <a:solidFill>
                  <a:srgbClr val="536274"/>
                </a:solidFill>
                <a:latin typeface="Arial"/>
                <a:ea typeface="Arial"/>
                <a:cs typeface="Arial"/>
              </a:defRPr>
            </a:pPr>
            <a:r>
              <a:rPr sz="1425" b="0">
                <a:solidFill>
                  <a:srgbClr val="536274"/>
                </a:solidFill>
                <a:latin typeface="Arial"/>
                <a:ea typeface="Arial"/>
                <a:cs typeface="Arial"/>
              </a:rPr>
              <a:t>Denny Garcia</a:t>
            </a:r>
          </a:p>
          <a:p>
            <a:pPr algn="l">
              <a:defRPr sz="1425" b="0">
                <a:solidFill>
                  <a:srgbClr val="536274"/>
                </a:solidFill>
                <a:latin typeface="Arial"/>
                <a:ea typeface="Arial"/>
                <a:cs typeface="Arial"/>
              </a:defRPr>
            </a:pPr>
            <a:r>
              <a:rPr sz="1425" b="0">
                <a:solidFill>
                  <a:srgbClr val="536274"/>
                </a:solidFill>
                <a:latin typeface="Arial"/>
                <a:ea typeface="Arial"/>
                <a:cs typeface="Arial"/>
              </a:rPr>
              <a:t>September 2026</a:t>
            </a:r>
          </a:p>
        </p:txBody>
      </p:sp>
    </p:spTree>
    <p:extLst>
      <p:ext uri="{BB962C8B-B14F-4D97-AF65-F5344CB8AC3E}">
        <p14:creationId xmlns:p14="http://schemas.microsoft.com/office/powerpoint/2010/main" val="1785297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A625EC7-B59B-4734-AD76-421908C80C25}"/>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The Glinx investment thesis">
            <a:extLst>
              <a:ext uri="{FF2B5EF4-FFF2-40B4-BE49-F238E27FC236}">
                <a16:creationId xmlns:a16="http://schemas.microsoft.com/office/drawing/2014/main" id="{955A00DB-EA75-417A-9C85-031032BA12BB}"/>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The Glinx investment thesis</a:t>
            </a:r>
          </a:p>
        </p:txBody>
      </p:sp>
      <p:sp>
        <p:nvSpPr>
          <p:cNvPr id="3" name="A persistent company model could make each improvement cycle bett">
            <a:extLst>
              <a:ext uri="{FF2B5EF4-FFF2-40B4-BE49-F238E27FC236}">
                <a16:creationId xmlns:a16="http://schemas.microsoft.com/office/drawing/2014/main" id="{704428C1-7BAF-4216-B042-735074D53CF6}"/>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A persistent company model could make each improvement cycle better informed than the last.</a:t>
            </a:r>
          </a:p>
        </p:txBody>
      </p:sp>
      <p:sp>
        <p:nvSpPr>
          <p:cNvPr id="4" name="Rectangle 3">
            <a:extLst>
              <a:ext uri="{FF2B5EF4-FFF2-40B4-BE49-F238E27FC236}">
                <a16:creationId xmlns:a16="http://schemas.microsoft.com/office/drawing/2014/main" id="{77EE42EE-2954-4334-80EA-12BAC99A4AE0}"/>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2FB7FA44-4121-4632-8C5F-A1235B50CA5A}"/>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02">
            <a:extLst>
              <a:ext uri="{FF2B5EF4-FFF2-40B4-BE49-F238E27FC236}">
                <a16:creationId xmlns:a16="http://schemas.microsoft.com/office/drawing/2014/main" id="{8B057E29-83D0-4CD3-9737-235AB8C0A4C7}"/>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02</a:t>
            </a:r>
          </a:p>
        </p:txBody>
      </p:sp>
      <p:sp>
        <p:nvSpPr>
          <p:cNvPr id="7" name="01">
            <a:extLst>
              <a:ext uri="{FF2B5EF4-FFF2-40B4-BE49-F238E27FC236}">
                <a16:creationId xmlns:a16="http://schemas.microsoft.com/office/drawing/2014/main" id="{C3638850-CA61-49F7-922C-117629B9F51D}"/>
              </a:ext>
            </a:extLst>
          </p:cNvPr>
          <p:cNvSpPr>
            <a:spLocks noGrp="1"/>
          </p:cNvSpPr>
          <p:nvPr/>
        </p:nvSpPr>
        <p:spPr>
          <a:xfrm>
            <a:off x="609600" y="2324100"/>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01</a:t>
            </a:r>
          </a:p>
        </p:txBody>
      </p:sp>
      <p:sp>
        <p:nvSpPr>
          <p:cNvPr id="8" name="What Glinx would do">
            <a:extLst>
              <a:ext uri="{FF2B5EF4-FFF2-40B4-BE49-F238E27FC236}">
                <a16:creationId xmlns:a16="http://schemas.microsoft.com/office/drawing/2014/main" id="{F1465264-9767-41E2-91C7-6975B26CC386}"/>
              </a:ext>
            </a:extLst>
          </p:cNvPr>
          <p:cNvSpPr>
            <a:spLocks noGrp="1"/>
          </p:cNvSpPr>
          <p:nvPr/>
        </p:nvSpPr>
        <p:spPr>
          <a:xfrm>
            <a:off x="1323975" y="2324100"/>
            <a:ext cx="3190875"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What Glinx would do</a:t>
            </a:r>
          </a:p>
        </p:txBody>
      </p:sp>
      <p:sp>
        <p:nvSpPr>
          <p:cNvPr id="9" name="Connect the company’s systems to an evidence-backed model of how ">
            <a:extLst>
              <a:ext uri="{FF2B5EF4-FFF2-40B4-BE49-F238E27FC236}">
                <a16:creationId xmlns:a16="http://schemas.microsoft.com/office/drawing/2014/main" id="{3D76EFAF-17A8-4AF4-A3D5-5EFD8E3D21DE}"/>
              </a:ext>
            </a:extLst>
          </p:cNvPr>
          <p:cNvSpPr>
            <a:spLocks noGrp="1"/>
          </p:cNvSpPr>
          <p:nvPr/>
        </p:nvSpPr>
        <p:spPr>
          <a:xfrm>
            <a:off x="4857750" y="2324100"/>
            <a:ext cx="6724650" cy="96202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Connect the company’s systems to an evidence-backed model of how the business works.</a:t>
            </a:r>
          </a:p>
        </p:txBody>
      </p:sp>
      <p:sp>
        <p:nvSpPr>
          <p:cNvPr id="10" name="Rectangle 9">
            <a:extLst>
              <a:ext uri="{FF2B5EF4-FFF2-40B4-BE49-F238E27FC236}">
                <a16:creationId xmlns:a16="http://schemas.microsoft.com/office/drawing/2014/main" id="{4DEBE4BC-5D24-4E27-9751-C086E989BC6C}"/>
              </a:ext>
            </a:extLst>
          </p:cNvPr>
          <p:cNvSpPr>
            <a:spLocks noGrp="1"/>
          </p:cNvSpPr>
          <p:nvPr/>
        </p:nvSpPr>
        <p:spPr>
          <a:xfrm>
            <a:off x="609600" y="3305175"/>
            <a:ext cx="10972800" cy="9525"/>
          </a:xfrm>
          <a:prstGeom prst="rect">
            <a:avLst/>
          </a:prstGeom>
          <a:solidFill>
            <a:srgbClr val="D8E0E6"/>
          </a:solidFill>
          <a:ln w="0">
            <a:noFill/>
          </a:ln>
        </p:spPr>
        <p:txBody>
          <a:bodyPr/>
          <a:lstStyle/>
          <a:p>
            <a:endParaRPr lang="en-US"/>
          </a:p>
        </p:txBody>
      </p:sp>
      <p:sp>
        <p:nvSpPr>
          <p:cNvPr id="11" name="02">
            <a:extLst>
              <a:ext uri="{FF2B5EF4-FFF2-40B4-BE49-F238E27FC236}">
                <a16:creationId xmlns:a16="http://schemas.microsoft.com/office/drawing/2014/main" id="{79FD52F0-D613-4505-97D7-5262E42D018A}"/>
              </a:ext>
            </a:extLst>
          </p:cNvPr>
          <p:cNvSpPr>
            <a:spLocks noGrp="1"/>
          </p:cNvSpPr>
          <p:nvPr/>
        </p:nvSpPr>
        <p:spPr>
          <a:xfrm>
            <a:off x="609600" y="3448050"/>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02</a:t>
            </a:r>
          </a:p>
        </p:txBody>
      </p:sp>
      <p:sp>
        <p:nvSpPr>
          <p:cNvPr id="12" name="Why it matters">
            <a:extLst>
              <a:ext uri="{FF2B5EF4-FFF2-40B4-BE49-F238E27FC236}">
                <a16:creationId xmlns:a16="http://schemas.microsoft.com/office/drawing/2014/main" id="{EBBF1C79-4346-4C18-BA51-E627E4F339DB}"/>
              </a:ext>
            </a:extLst>
          </p:cNvPr>
          <p:cNvSpPr>
            <a:spLocks noGrp="1"/>
          </p:cNvSpPr>
          <p:nvPr/>
        </p:nvSpPr>
        <p:spPr>
          <a:xfrm>
            <a:off x="1323975" y="3448050"/>
            <a:ext cx="3190875"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Why it matters</a:t>
            </a:r>
          </a:p>
        </p:txBody>
      </p:sp>
      <p:sp>
        <p:nvSpPr>
          <p:cNvPr id="13" name="Use that model to diagnose operating problems and learn from the ">
            <a:extLst>
              <a:ext uri="{FF2B5EF4-FFF2-40B4-BE49-F238E27FC236}">
                <a16:creationId xmlns:a16="http://schemas.microsoft.com/office/drawing/2014/main" id="{C1B43105-DCBD-40A4-9C7D-AFB6B1FB8AC4}"/>
              </a:ext>
            </a:extLst>
          </p:cNvPr>
          <p:cNvSpPr>
            <a:spLocks noGrp="1"/>
          </p:cNvSpPr>
          <p:nvPr/>
        </p:nvSpPr>
        <p:spPr>
          <a:xfrm>
            <a:off x="4857750" y="3448050"/>
            <a:ext cx="6724650" cy="96202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Use that model to diagnose operating problems and learn from the results of approved actions.</a:t>
            </a:r>
          </a:p>
        </p:txBody>
      </p:sp>
      <p:sp>
        <p:nvSpPr>
          <p:cNvPr id="14" name="Rectangle 13">
            <a:extLst>
              <a:ext uri="{FF2B5EF4-FFF2-40B4-BE49-F238E27FC236}">
                <a16:creationId xmlns:a16="http://schemas.microsoft.com/office/drawing/2014/main" id="{44D0DB50-F145-4E58-B063-B7A61E0389E6}"/>
              </a:ext>
            </a:extLst>
          </p:cNvPr>
          <p:cNvSpPr>
            <a:spLocks noGrp="1"/>
          </p:cNvSpPr>
          <p:nvPr/>
        </p:nvSpPr>
        <p:spPr>
          <a:xfrm>
            <a:off x="609600" y="4429125"/>
            <a:ext cx="10972800" cy="9525"/>
          </a:xfrm>
          <a:prstGeom prst="rect">
            <a:avLst/>
          </a:prstGeom>
          <a:solidFill>
            <a:srgbClr val="D8E0E6"/>
          </a:solidFill>
          <a:ln w="0">
            <a:noFill/>
          </a:ln>
        </p:spPr>
        <p:txBody>
          <a:bodyPr/>
          <a:lstStyle/>
          <a:p>
            <a:endParaRPr lang="en-US"/>
          </a:p>
        </p:txBody>
      </p:sp>
      <p:sp>
        <p:nvSpPr>
          <p:cNvPr id="15" name="03">
            <a:extLst>
              <a:ext uri="{FF2B5EF4-FFF2-40B4-BE49-F238E27FC236}">
                <a16:creationId xmlns:a16="http://schemas.microsoft.com/office/drawing/2014/main" id="{2FE927D9-22EF-4340-841F-5469E44B3D50}"/>
              </a:ext>
            </a:extLst>
          </p:cNvPr>
          <p:cNvSpPr>
            <a:spLocks noGrp="1"/>
          </p:cNvSpPr>
          <p:nvPr/>
        </p:nvSpPr>
        <p:spPr>
          <a:xfrm>
            <a:off x="609600" y="4572000"/>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03</a:t>
            </a:r>
          </a:p>
        </p:txBody>
      </p:sp>
      <p:sp>
        <p:nvSpPr>
          <p:cNvPr id="16" name="Where it starts">
            <a:extLst>
              <a:ext uri="{FF2B5EF4-FFF2-40B4-BE49-F238E27FC236}">
                <a16:creationId xmlns:a16="http://schemas.microsoft.com/office/drawing/2014/main" id="{1683E12F-8D98-47DF-91DC-6D570D15D6E6}"/>
              </a:ext>
            </a:extLst>
          </p:cNvPr>
          <p:cNvSpPr>
            <a:spLocks noGrp="1"/>
          </p:cNvSpPr>
          <p:nvPr/>
        </p:nvSpPr>
        <p:spPr>
          <a:xfrm>
            <a:off x="1323975" y="4572000"/>
            <a:ext cx="3190875"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Where it starts</a:t>
            </a:r>
          </a:p>
        </p:txBody>
      </p:sp>
      <p:sp>
        <p:nvSpPr>
          <p:cNvPr id="17" name="Enter through Company Discovery, then prove one improvement loop ">
            <a:extLst>
              <a:ext uri="{FF2B5EF4-FFF2-40B4-BE49-F238E27FC236}">
                <a16:creationId xmlns:a16="http://schemas.microsoft.com/office/drawing/2014/main" id="{EC916E6C-9580-447C-9EB5-AAE9A6B9EC7D}"/>
              </a:ext>
            </a:extLst>
          </p:cNvPr>
          <p:cNvSpPr>
            <a:spLocks noGrp="1"/>
          </p:cNvSpPr>
          <p:nvPr/>
        </p:nvSpPr>
        <p:spPr>
          <a:xfrm>
            <a:off x="4857750" y="4572000"/>
            <a:ext cx="6724650" cy="96202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Enter through Company Discovery, then prove one improvement loop with a manufacturing partner.</a:t>
            </a:r>
          </a:p>
        </p:txBody>
      </p:sp>
      <p:sp>
        <p:nvSpPr>
          <p:cNvPr id="18" name="Rectangle 17">
            <a:extLst>
              <a:ext uri="{FF2B5EF4-FFF2-40B4-BE49-F238E27FC236}">
                <a16:creationId xmlns:a16="http://schemas.microsoft.com/office/drawing/2014/main" id="{EDF197B0-848E-476E-A235-427B8F3E0F47}"/>
              </a:ext>
            </a:extLst>
          </p:cNvPr>
          <p:cNvSpPr>
            <a:spLocks noGrp="1"/>
          </p:cNvSpPr>
          <p:nvPr/>
        </p:nvSpPr>
        <p:spPr>
          <a:xfrm>
            <a:off x="609600" y="5553075"/>
            <a:ext cx="10972800" cy="9525"/>
          </a:xfrm>
          <a:prstGeom prst="rect">
            <a:avLst/>
          </a:prstGeom>
          <a:solidFill>
            <a:srgbClr val="D8E0E6"/>
          </a:solidFill>
          <a:ln w="0">
            <a:noFill/>
          </a:ln>
        </p:spPr>
        <p:txBody>
          <a:bodyPr/>
          <a:lstStyle/>
          <a:p>
            <a:endParaRPr lang="en-US"/>
          </a:p>
        </p:txBody>
      </p:sp>
      <p:sp>
        <p:nvSpPr>
          <p:cNvPr id="19" name="Platform thesis. Discovery is the current prototype. Business rea">
            <a:extLst>
              <a:ext uri="{FF2B5EF4-FFF2-40B4-BE49-F238E27FC236}">
                <a16:creationId xmlns:a16="http://schemas.microsoft.com/office/drawing/2014/main" id="{94D92C63-530D-4CB9-9743-9D62C3ABA743}"/>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Platform thesis. Discovery is the current prototype. Business reasoning, actions and learning remain future work.</a:t>
            </a:r>
          </a:p>
        </p:txBody>
      </p:sp>
    </p:spTree>
    <p:extLst>
      <p:ext uri="{BB962C8B-B14F-4D97-AF65-F5344CB8AC3E}">
        <p14:creationId xmlns:p14="http://schemas.microsoft.com/office/powerpoint/2010/main" val="1462476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EBD6BEB-BC93-4EBC-8C81-F1E4B4E20904}"/>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Decisions depend on evidence across systems">
            <a:extLst>
              <a:ext uri="{FF2B5EF4-FFF2-40B4-BE49-F238E27FC236}">
                <a16:creationId xmlns:a16="http://schemas.microsoft.com/office/drawing/2014/main" id="{7D7416E8-ACFE-47AB-AC6B-486CFB3D33A7}"/>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Decisions depend on evidence across systems</a:t>
            </a:r>
          </a:p>
        </p:txBody>
      </p:sp>
      <p:sp>
        <p:nvSpPr>
          <p:cNvPr id="3" name="The operating problem often spans several records, several teams ">
            <a:extLst>
              <a:ext uri="{FF2B5EF4-FFF2-40B4-BE49-F238E27FC236}">
                <a16:creationId xmlns:a16="http://schemas.microsoft.com/office/drawing/2014/main" id="{8C9FE9C4-3F30-45E8-93C4-6DB6B58B046E}"/>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The operating problem often spans several records, several teams and several definitions of the truth.</a:t>
            </a:r>
          </a:p>
        </p:txBody>
      </p:sp>
      <p:sp>
        <p:nvSpPr>
          <p:cNvPr id="4" name="Rectangle 3">
            <a:extLst>
              <a:ext uri="{FF2B5EF4-FFF2-40B4-BE49-F238E27FC236}">
                <a16:creationId xmlns:a16="http://schemas.microsoft.com/office/drawing/2014/main" id="{EF6AC5C0-E01E-4D63-A2D1-1B1A46652868}"/>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E619A4A2-E22D-4AFC-B94B-9B31D19E670F}"/>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03">
            <a:extLst>
              <a:ext uri="{FF2B5EF4-FFF2-40B4-BE49-F238E27FC236}">
                <a16:creationId xmlns:a16="http://schemas.microsoft.com/office/drawing/2014/main" id="{AD249431-5459-4B3F-812F-891F5A0C94C7}"/>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03</a:t>
            </a:r>
          </a:p>
        </p:txBody>
      </p:sp>
      <p:graphicFrame>
        <p:nvGraphicFramePr>
          <p:cNvPr id="16" name="Table 15"/>
          <p:cNvGraphicFramePr/>
          <p:nvPr/>
        </p:nvGraphicFramePr>
        <p:xfrm>
          <a:off x="609600" y="2209800"/>
          <a:ext cx="10972800" cy="3381375"/>
        </p:xfrm>
        <a:graphic>
          <a:graphicData uri="http://schemas.openxmlformats.org/drawingml/2006/table">
            <a:tbl>
              <a:tblPr/>
              <a:tblGrid>
                <a:gridCol w="4714875">
                  <a:extLst>
                    <a:ext uri="{9D8B030D-6E8A-4147-A177-3AD203B41FA5}">
                      <a16:colId xmlns:a16="http://schemas.microsoft.com/office/drawing/2014/main" val="20000"/>
                    </a:ext>
                  </a:extLst>
                </a:gridCol>
                <a:gridCol w="6257925">
                  <a:extLst>
                    <a:ext uri="{9D8B030D-6E8A-4147-A177-3AD203B41FA5}">
                      <a16:colId xmlns:a16="http://schemas.microsoft.com/office/drawing/2014/main" val="20001"/>
                    </a:ext>
                  </a:extLst>
                </a:gridCol>
              </a:tblGrid>
              <a:tr h="495300">
                <a:tc>
                  <a:txBody>
                    <a:bodyPr/>
                    <a:lstStyle/>
                    <a:p>
                      <a:r>
                        <a:rPr sz="1500" b="1">
                          <a:solidFill>
                            <a:srgbClr val="FFFFFF"/>
                          </a:solidFill>
                          <a:latin typeface="Arial"/>
                          <a:ea typeface="Arial"/>
                          <a:cs typeface="Arial"/>
                        </a:rPr>
                        <a:t>Business question</a:t>
                      </a:r>
                    </a:p>
                  </a:txBody>
                  <a:tcPr anchor="ctr">
                    <a:solidFill>
                      <a:srgbClr val="112A46"/>
                    </a:solidFill>
                  </a:tcPr>
                </a:tc>
                <a:tc>
                  <a:txBody>
                    <a:bodyPr/>
                    <a:lstStyle/>
                    <a:p>
                      <a:r>
                        <a:rPr sz="1500" b="1">
                          <a:solidFill>
                            <a:srgbClr val="FFFFFF"/>
                          </a:solidFill>
                          <a:latin typeface="Arial"/>
                          <a:ea typeface="Arial"/>
                          <a:cs typeface="Arial"/>
                        </a:rPr>
                        <a:t>Evidence the answer needs</a:t>
                      </a:r>
                    </a:p>
                  </a:txBody>
                  <a:tcPr anchor="ctr">
                    <a:solidFill>
                      <a:srgbClr val="112A46"/>
                    </a:solidFill>
                  </a:tcPr>
                </a:tc>
                <a:extLst>
                  <a:ext uri="{0D108BD9-81ED-4DB2-BD59-A6C34878D82A}">
                    <a16:rowId xmlns:a16="http://schemas.microsoft.com/office/drawing/2014/main" val="10000"/>
                  </a:ext>
                </a:extLst>
              </a:tr>
              <a:tr h="721519">
                <a:tc>
                  <a:txBody>
                    <a:bodyPr/>
                    <a:lstStyle/>
                    <a:p>
                      <a:r>
                        <a:rPr sz="1875" b="1">
                          <a:solidFill>
                            <a:srgbClr val="112A46"/>
                          </a:solidFill>
                          <a:latin typeface="Arial"/>
                          <a:ea typeface="Arial"/>
                          <a:cs typeface="Arial"/>
                        </a:rPr>
                        <a:t>Why did this order lose margin?</a:t>
                      </a:r>
                    </a:p>
                  </a:txBody>
                  <a:tcPr anchor="ctr">
                    <a:solidFill>
                      <a:srgbClr val="FFFFFF"/>
                    </a:solidFill>
                  </a:tcPr>
                </a:tc>
                <a:tc>
                  <a:txBody>
                    <a:bodyPr/>
                    <a:lstStyle/>
                    <a:p>
                      <a:r>
                        <a:rPr sz="1875" b="0">
                          <a:solidFill>
                            <a:srgbClr val="112A46"/>
                          </a:solidFill>
                          <a:latin typeface="Arial"/>
                          <a:ea typeface="Arial"/>
                          <a:cs typeface="Arial"/>
                        </a:rPr>
                        <a:t>Quote, material cost, labor, rework and invoice</a:t>
                      </a:r>
                    </a:p>
                  </a:txBody>
                  <a:tcPr anchor="ctr">
                    <a:solidFill>
                      <a:srgbClr val="FFFFFF"/>
                    </a:solidFill>
                  </a:tcPr>
                </a:tc>
                <a:extLst>
                  <a:ext uri="{0D108BD9-81ED-4DB2-BD59-A6C34878D82A}">
                    <a16:rowId xmlns:a16="http://schemas.microsoft.com/office/drawing/2014/main" val="10001"/>
                  </a:ext>
                </a:extLst>
              </a:tr>
              <a:tr h="721519">
                <a:tc>
                  <a:txBody>
                    <a:bodyPr/>
                    <a:lstStyle/>
                    <a:p>
                      <a:r>
                        <a:rPr sz="1875" b="1">
                          <a:solidFill>
                            <a:srgbClr val="112A46"/>
                          </a:solidFill>
                          <a:latin typeface="Arial"/>
                          <a:ea typeface="Arial"/>
                          <a:cs typeface="Arial"/>
                        </a:rPr>
                        <a:t>Why are deliveries slipping?</a:t>
                      </a:r>
                    </a:p>
                  </a:txBody>
                  <a:tcPr anchor="ctr">
                    <a:solidFill>
                      <a:srgbClr val="F2F5F7"/>
                    </a:solidFill>
                  </a:tcPr>
                </a:tc>
                <a:tc>
                  <a:txBody>
                    <a:bodyPr/>
                    <a:lstStyle/>
                    <a:p>
                      <a:r>
                        <a:rPr sz="1875" b="0">
                          <a:solidFill>
                            <a:srgbClr val="112A46"/>
                          </a:solidFill>
                          <a:latin typeface="Arial"/>
                          <a:ea typeface="Arial"/>
                          <a:cs typeface="Arial"/>
                        </a:rPr>
                        <a:t>Customer promise, production plan, supply and capacity</a:t>
                      </a:r>
                    </a:p>
                  </a:txBody>
                  <a:tcPr anchor="ctr">
                    <a:solidFill>
                      <a:srgbClr val="F2F5F7"/>
                    </a:solidFill>
                  </a:tcPr>
                </a:tc>
                <a:extLst>
                  <a:ext uri="{0D108BD9-81ED-4DB2-BD59-A6C34878D82A}">
                    <a16:rowId xmlns:a16="http://schemas.microsoft.com/office/drawing/2014/main" val="10002"/>
                  </a:ext>
                </a:extLst>
              </a:tr>
              <a:tr h="721519">
                <a:tc>
                  <a:txBody>
                    <a:bodyPr/>
                    <a:lstStyle/>
                    <a:p>
                      <a:r>
                        <a:rPr sz="1875" b="1">
                          <a:solidFill>
                            <a:srgbClr val="112A46"/>
                          </a:solidFill>
                          <a:latin typeface="Arial"/>
                          <a:ea typeface="Arial"/>
                          <a:cs typeface="Arial"/>
                        </a:rPr>
                        <a:t>Where is cash getting trapped?</a:t>
                      </a:r>
                    </a:p>
                  </a:txBody>
                  <a:tcPr anchor="ctr">
                    <a:solidFill>
                      <a:srgbClr val="FFFFFF"/>
                    </a:solidFill>
                  </a:tcPr>
                </a:tc>
                <a:tc>
                  <a:txBody>
                    <a:bodyPr/>
                    <a:lstStyle/>
                    <a:p>
                      <a:r>
                        <a:rPr sz="1875" b="0">
                          <a:solidFill>
                            <a:srgbClr val="112A46"/>
                          </a:solidFill>
                          <a:latin typeface="Arial"/>
                          <a:ea typeface="Arial"/>
                          <a:cs typeface="Arial"/>
                        </a:rPr>
                        <a:t>Inventory, purchase commitments and receivables</a:t>
                      </a:r>
                    </a:p>
                  </a:txBody>
                  <a:tcPr anchor="ctr">
                    <a:solidFill>
                      <a:srgbClr val="FFFFFF"/>
                    </a:solidFill>
                  </a:tcPr>
                </a:tc>
                <a:extLst>
                  <a:ext uri="{0D108BD9-81ED-4DB2-BD59-A6C34878D82A}">
                    <a16:rowId xmlns:a16="http://schemas.microsoft.com/office/drawing/2014/main" val="10003"/>
                  </a:ext>
                </a:extLst>
              </a:tr>
              <a:tr h="721519">
                <a:tc>
                  <a:txBody>
                    <a:bodyPr/>
                    <a:lstStyle/>
                    <a:p>
                      <a:r>
                        <a:rPr sz="1875" b="1">
                          <a:solidFill>
                            <a:srgbClr val="112A46"/>
                          </a:solidFill>
                          <a:latin typeface="Arial"/>
                          <a:ea typeface="Arial"/>
                          <a:cs typeface="Arial"/>
                        </a:rPr>
                        <a:t>Did the last change actually help?</a:t>
                      </a:r>
                    </a:p>
                  </a:txBody>
                  <a:tcPr anchor="ctr">
                    <a:solidFill>
                      <a:srgbClr val="F2F5F7"/>
                    </a:solidFill>
                  </a:tcPr>
                </a:tc>
                <a:tc>
                  <a:txBody>
                    <a:bodyPr/>
                    <a:lstStyle/>
                    <a:p>
                      <a:r>
                        <a:rPr sz="1875" b="0">
                          <a:solidFill>
                            <a:srgbClr val="112A46"/>
                          </a:solidFill>
                          <a:latin typeface="Arial"/>
                          <a:ea typeface="Arial"/>
                          <a:cs typeface="Arial"/>
                        </a:rPr>
                        <a:t>A baseline, the action taken and the later outcome</a:t>
                      </a:r>
                    </a:p>
                  </a:txBody>
                  <a:tcPr anchor="ctr">
                    <a:solidFill>
                      <a:srgbClr val="F2F5F7"/>
                    </a:solidFill>
                  </a:tcP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24BAFD86-49AE-4636-ADAC-16483719D898}"/>
              </a:ext>
            </a:extLst>
          </p:cNvPr>
          <p:cNvSpPr>
            <a:spLocks noGrp="1"/>
          </p:cNvSpPr>
          <p:nvPr/>
        </p:nvSpPr>
        <p:spPr>
          <a:xfrm>
            <a:off x="609600" y="5781675"/>
            <a:ext cx="47625" cy="428625"/>
          </a:xfrm>
          <a:prstGeom prst="rect">
            <a:avLst/>
          </a:prstGeom>
          <a:solidFill>
            <a:srgbClr val="087F87"/>
          </a:solidFill>
          <a:ln w="0">
            <a:noFill/>
          </a:ln>
        </p:spPr>
        <p:txBody>
          <a:bodyPr/>
          <a:lstStyle/>
          <a:p>
            <a:endParaRPr lang="en-US"/>
          </a:p>
        </p:txBody>
      </p:sp>
      <p:sp>
        <p:nvSpPr>
          <p:cNvPr id="9" name="Glinx aims to make these relationships and their evidence availab">
            <a:extLst>
              <a:ext uri="{FF2B5EF4-FFF2-40B4-BE49-F238E27FC236}">
                <a16:creationId xmlns:a16="http://schemas.microsoft.com/office/drawing/2014/main" id="{789DC4B9-1853-4836-9802-BB9B2909172A}"/>
              </a:ext>
            </a:extLst>
          </p:cNvPr>
          <p:cNvSpPr>
            <a:spLocks noGrp="1"/>
          </p:cNvSpPr>
          <p:nvPr/>
        </p:nvSpPr>
        <p:spPr>
          <a:xfrm>
            <a:off x="800100" y="5810250"/>
            <a:ext cx="10782300" cy="533400"/>
          </a:xfrm>
          <a:prstGeom prst="rect">
            <a:avLst/>
          </a:prstGeom>
          <a:noFill/>
          <a:ln w="0">
            <a:noFill/>
          </a:ln>
        </p:spPr>
        <p:txBody>
          <a:bodyPr wrap="square" lIns="0" tIns="0" rIns="0" bIns="0" anchor="t">
            <a:noAutofit/>
          </a:bodyPr>
          <a:lstStyle/>
          <a:p>
            <a:pPr algn="l">
              <a:defRPr sz="1950" b="1">
                <a:solidFill>
                  <a:srgbClr val="112A46"/>
                </a:solidFill>
                <a:latin typeface="Arial"/>
                <a:ea typeface="Arial"/>
                <a:cs typeface="Arial"/>
              </a:defRPr>
            </a:pPr>
            <a:r>
              <a:rPr sz="1950" b="1">
                <a:solidFill>
                  <a:srgbClr val="112A46"/>
                </a:solidFill>
                <a:latin typeface="Arial"/>
                <a:ea typeface="Arial"/>
                <a:cs typeface="Arial"/>
              </a:rPr>
              <a:t>Glinx aims to make these relationships and their evidence available in one company model</a:t>
            </a:r>
          </a:p>
        </p:txBody>
      </p:sp>
    </p:spTree>
    <p:extLst>
      <p:ext uri="{BB962C8B-B14F-4D97-AF65-F5344CB8AC3E}">
        <p14:creationId xmlns:p14="http://schemas.microsoft.com/office/powerpoint/2010/main" val="267501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0F51858-FCE5-4B1D-8E27-DA50774D057B}"/>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Company self-awareness">
            <a:extLst>
              <a:ext uri="{FF2B5EF4-FFF2-40B4-BE49-F238E27FC236}">
                <a16:creationId xmlns:a16="http://schemas.microsoft.com/office/drawing/2014/main" id="{275FCC37-1E47-4024-BEE5-6ABF214A63E8}"/>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Company self-awareness</a:t>
            </a:r>
          </a:p>
        </p:txBody>
      </p:sp>
      <p:sp>
        <p:nvSpPr>
          <p:cNvPr id="3" name="Glinx’s proposed self-model would answer four questions continuou">
            <a:extLst>
              <a:ext uri="{FF2B5EF4-FFF2-40B4-BE49-F238E27FC236}">
                <a16:creationId xmlns:a16="http://schemas.microsoft.com/office/drawing/2014/main" id="{429D2468-D0E5-44DE-B91E-8445DCE0491F}"/>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Glinx’s proposed self-model would answer four questions continuously.</a:t>
            </a:r>
          </a:p>
        </p:txBody>
      </p:sp>
      <p:sp>
        <p:nvSpPr>
          <p:cNvPr id="4" name="Rectangle 3">
            <a:extLst>
              <a:ext uri="{FF2B5EF4-FFF2-40B4-BE49-F238E27FC236}">
                <a16:creationId xmlns:a16="http://schemas.microsoft.com/office/drawing/2014/main" id="{925B8D8B-7E8B-4040-8C45-F32B6AF671CF}"/>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3D733166-EA49-41E2-89BD-02527BD90908}"/>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04">
            <a:extLst>
              <a:ext uri="{FF2B5EF4-FFF2-40B4-BE49-F238E27FC236}">
                <a16:creationId xmlns:a16="http://schemas.microsoft.com/office/drawing/2014/main" id="{F4988F17-1D7E-42D6-B9DC-20815BF79CB0}"/>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04</a:t>
            </a:r>
          </a:p>
        </p:txBody>
      </p:sp>
      <p:sp>
        <p:nvSpPr>
          <p:cNvPr id="7" name="01">
            <a:extLst>
              <a:ext uri="{FF2B5EF4-FFF2-40B4-BE49-F238E27FC236}">
                <a16:creationId xmlns:a16="http://schemas.microsoft.com/office/drawing/2014/main" id="{ACDFAD03-327D-46C9-A770-3F77C49273D3}"/>
              </a:ext>
            </a:extLst>
          </p:cNvPr>
          <p:cNvSpPr>
            <a:spLocks noGrp="1"/>
          </p:cNvSpPr>
          <p:nvPr/>
        </p:nvSpPr>
        <p:spPr>
          <a:xfrm>
            <a:off x="609600" y="2238375"/>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01</a:t>
            </a:r>
          </a:p>
        </p:txBody>
      </p:sp>
      <p:sp>
        <p:nvSpPr>
          <p:cNvPr id="8" name="Purpose">
            <a:extLst>
              <a:ext uri="{FF2B5EF4-FFF2-40B4-BE49-F238E27FC236}">
                <a16:creationId xmlns:a16="http://schemas.microsoft.com/office/drawing/2014/main" id="{F85BEC3D-F187-4167-B7B4-7480C2411944}"/>
              </a:ext>
            </a:extLst>
          </p:cNvPr>
          <p:cNvSpPr>
            <a:spLocks noGrp="1"/>
          </p:cNvSpPr>
          <p:nvPr/>
        </p:nvSpPr>
        <p:spPr>
          <a:xfrm>
            <a:off x="1323975" y="2238375"/>
            <a:ext cx="314325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Purpose</a:t>
            </a:r>
          </a:p>
        </p:txBody>
      </p:sp>
      <p:sp>
        <p:nvSpPr>
          <p:cNvPr id="9" name="What are we trying to achieve, and what constraints must we respe">
            <a:extLst>
              <a:ext uri="{FF2B5EF4-FFF2-40B4-BE49-F238E27FC236}">
                <a16:creationId xmlns:a16="http://schemas.microsoft.com/office/drawing/2014/main" id="{FDBEAFB8-1755-48BE-AE18-65CED7B6C321}"/>
              </a:ext>
            </a:extLst>
          </p:cNvPr>
          <p:cNvSpPr>
            <a:spLocks noGrp="1"/>
          </p:cNvSpPr>
          <p:nvPr/>
        </p:nvSpPr>
        <p:spPr>
          <a:xfrm>
            <a:off x="4810125" y="2238375"/>
            <a:ext cx="6772275" cy="79057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What are we trying to achieve, and what constraints must we respect?</a:t>
            </a:r>
          </a:p>
        </p:txBody>
      </p:sp>
      <p:sp>
        <p:nvSpPr>
          <p:cNvPr id="10" name="Rectangle 9">
            <a:extLst>
              <a:ext uri="{FF2B5EF4-FFF2-40B4-BE49-F238E27FC236}">
                <a16:creationId xmlns:a16="http://schemas.microsoft.com/office/drawing/2014/main" id="{D9B81E70-7359-419F-8624-BD31817DA62F}"/>
              </a:ext>
            </a:extLst>
          </p:cNvPr>
          <p:cNvSpPr>
            <a:spLocks noGrp="1"/>
          </p:cNvSpPr>
          <p:nvPr/>
        </p:nvSpPr>
        <p:spPr>
          <a:xfrm>
            <a:off x="609600" y="3048000"/>
            <a:ext cx="10972800" cy="9525"/>
          </a:xfrm>
          <a:prstGeom prst="rect">
            <a:avLst/>
          </a:prstGeom>
          <a:solidFill>
            <a:srgbClr val="D8E0E6"/>
          </a:solidFill>
          <a:ln w="0">
            <a:noFill/>
          </a:ln>
        </p:spPr>
        <p:txBody>
          <a:bodyPr/>
          <a:lstStyle/>
          <a:p>
            <a:endParaRPr lang="en-US"/>
          </a:p>
        </p:txBody>
      </p:sp>
      <p:sp>
        <p:nvSpPr>
          <p:cNvPr id="11" name="02">
            <a:extLst>
              <a:ext uri="{FF2B5EF4-FFF2-40B4-BE49-F238E27FC236}">
                <a16:creationId xmlns:a16="http://schemas.microsoft.com/office/drawing/2014/main" id="{89B1AD35-7476-47AD-8A2A-15B4326F0102}"/>
              </a:ext>
            </a:extLst>
          </p:cNvPr>
          <p:cNvSpPr>
            <a:spLocks noGrp="1"/>
          </p:cNvSpPr>
          <p:nvPr/>
        </p:nvSpPr>
        <p:spPr>
          <a:xfrm>
            <a:off x="609600" y="3181350"/>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02</a:t>
            </a:r>
          </a:p>
        </p:txBody>
      </p:sp>
      <p:sp>
        <p:nvSpPr>
          <p:cNvPr id="12" name="Condition">
            <a:extLst>
              <a:ext uri="{FF2B5EF4-FFF2-40B4-BE49-F238E27FC236}">
                <a16:creationId xmlns:a16="http://schemas.microsoft.com/office/drawing/2014/main" id="{14BD81F1-3156-4378-965E-F71021736528}"/>
              </a:ext>
            </a:extLst>
          </p:cNvPr>
          <p:cNvSpPr>
            <a:spLocks noGrp="1"/>
          </p:cNvSpPr>
          <p:nvPr/>
        </p:nvSpPr>
        <p:spPr>
          <a:xfrm>
            <a:off x="1323975" y="3181350"/>
            <a:ext cx="314325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Condition</a:t>
            </a:r>
          </a:p>
        </p:txBody>
      </p:sp>
      <p:sp>
        <p:nvSpPr>
          <p:cNvPr id="13" name="What is happening across the business, and what remains uncertain">
            <a:extLst>
              <a:ext uri="{FF2B5EF4-FFF2-40B4-BE49-F238E27FC236}">
                <a16:creationId xmlns:a16="http://schemas.microsoft.com/office/drawing/2014/main" id="{420839A3-B3FD-498A-9F75-81E22DB0CACB}"/>
              </a:ext>
            </a:extLst>
          </p:cNvPr>
          <p:cNvSpPr>
            <a:spLocks noGrp="1"/>
          </p:cNvSpPr>
          <p:nvPr/>
        </p:nvSpPr>
        <p:spPr>
          <a:xfrm>
            <a:off x="4810125" y="3181350"/>
            <a:ext cx="6772275" cy="79057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What is happening across the business, and what remains uncertain?</a:t>
            </a:r>
          </a:p>
        </p:txBody>
      </p:sp>
      <p:sp>
        <p:nvSpPr>
          <p:cNvPr id="14" name="Rectangle 13">
            <a:extLst>
              <a:ext uri="{FF2B5EF4-FFF2-40B4-BE49-F238E27FC236}">
                <a16:creationId xmlns:a16="http://schemas.microsoft.com/office/drawing/2014/main" id="{36EA5B21-55DD-4E00-BE1A-202D384D0364}"/>
              </a:ext>
            </a:extLst>
          </p:cNvPr>
          <p:cNvSpPr>
            <a:spLocks noGrp="1"/>
          </p:cNvSpPr>
          <p:nvPr/>
        </p:nvSpPr>
        <p:spPr>
          <a:xfrm>
            <a:off x="609600" y="3990975"/>
            <a:ext cx="10972800" cy="9525"/>
          </a:xfrm>
          <a:prstGeom prst="rect">
            <a:avLst/>
          </a:prstGeom>
          <a:solidFill>
            <a:srgbClr val="D8E0E6"/>
          </a:solidFill>
          <a:ln w="0">
            <a:noFill/>
          </a:ln>
        </p:spPr>
        <p:txBody>
          <a:bodyPr/>
          <a:lstStyle/>
          <a:p>
            <a:endParaRPr lang="en-US"/>
          </a:p>
        </p:txBody>
      </p:sp>
      <p:sp>
        <p:nvSpPr>
          <p:cNvPr id="15" name="03">
            <a:extLst>
              <a:ext uri="{FF2B5EF4-FFF2-40B4-BE49-F238E27FC236}">
                <a16:creationId xmlns:a16="http://schemas.microsoft.com/office/drawing/2014/main" id="{F99D3B90-AA8F-463D-A4D2-697753A08A58}"/>
              </a:ext>
            </a:extLst>
          </p:cNvPr>
          <p:cNvSpPr>
            <a:spLocks noGrp="1"/>
          </p:cNvSpPr>
          <p:nvPr/>
        </p:nvSpPr>
        <p:spPr>
          <a:xfrm>
            <a:off x="609600" y="4124325"/>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03</a:t>
            </a:r>
          </a:p>
        </p:txBody>
      </p:sp>
      <p:sp>
        <p:nvSpPr>
          <p:cNvPr id="16" name="Explanation">
            <a:extLst>
              <a:ext uri="{FF2B5EF4-FFF2-40B4-BE49-F238E27FC236}">
                <a16:creationId xmlns:a16="http://schemas.microsoft.com/office/drawing/2014/main" id="{44F636D6-48C9-422A-BD9B-B203020C8F49}"/>
              </a:ext>
            </a:extLst>
          </p:cNvPr>
          <p:cNvSpPr>
            <a:spLocks noGrp="1"/>
          </p:cNvSpPr>
          <p:nvPr/>
        </p:nvSpPr>
        <p:spPr>
          <a:xfrm>
            <a:off x="1323975" y="4124325"/>
            <a:ext cx="314325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Explanation</a:t>
            </a:r>
          </a:p>
        </p:txBody>
      </p:sp>
      <p:sp>
        <p:nvSpPr>
          <p:cNvPr id="17" name="Which relationships and evidence could explain a performance gap?">
            <a:extLst>
              <a:ext uri="{FF2B5EF4-FFF2-40B4-BE49-F238E27FC236}">
                <a16:creationId xmlns:a16="http://schemas.microsoft.com/office/drawing/2014/main" id="{FBDABD07-294B-4EE2-8AE7-F79F1EED55E0}"/>
              </a:ext>
            </a:extLst>
          </p:cNvPr>
          <p:cNvSpPr>
            <a:spLocks noGrp="1"/>
          </p:cNvSpPr>
          <p:nvPr/>
        </p:nvSpPr>
        <p:spPr>
          <a:xfrm>
            <a:off x="4810125" y="4124325"/>
            <a:ext cx="6772275" cy="79057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Which relationships and evidence could explain a performance gap?</a:t>
            </a:r>
          </a:p>
        </p:txBody>
      </p:sp>
      <p:sp>
        <p:nvSpPr>
          <p:cNvPr id="18" name="Rectangle 17">
            <a:extLst>
              <a:ext uri="{FF2B5EF4-FFF2-40B4-BE49-F238E27FC236}">
                <a16:creationId xmlns:a16="http://schemas.microsoft.com/office/drawing/2014/main" id="{3F20D968-32BA-4381-B07A-A5D4AD64874B}"/>
              </a:ext>
            </a:extLst>
          </p:cNvPr>
          <p:cNvSpPr>
            <a:spLocks noGrp="1"/>
          </p:cNvSpPr>
          <p:nvPr/>
        </p:nvSpPr>
        <p:spPr>
          <a:xfrm>
            <a:off x="609600" y="4933950"/>
            <a:ext cx="10972800" cy="9525"/>
          </a:xfrm>
          <a:prstGeom prst="rect">
            <a:avLst/>
          </a:prstGeom>
          <a:solidFill>
            <a:srgbClr val="D8E0E6"/>
          </a:solidFill>
          <a:ln w="0">
            <a:noFill/>
          </a:ln>
        </p:spPr>
        <p:txBody>
          <a:bodyPr/>
          <a:lstStyle/>
          <a:p>
            <a:endParaRPr lang="en-US"/>
          </a:p>
        </p:txBody>
      </p:sp>
      <p:sp>
        <p:nvSpPr>
          <p:cNvPr id="19" name="04">
            <a:extLst>
              <a:ext uri="{FF2B5EF4-FFF2-40B4-BE49-F238E27FC236}">
                <a16:creationId xmlns:a16="http://schemas.microsoft.com/office/drawing/2014/main" id="{E925EF30-0EF4-4FFB-9A36-F2F19237171F}"/>
              </a:ext>
            </a:extLst>
          </p:cNvPr>
          <p:cNvSpPr>
            <a:spLocks noGrp="1"/>
          </p:cNvSpPr>
          <p:nvPr/>
        </p:nvSpPr>
        <p:spPr>
          <a:xfrm>
            <a:off x="609600" y="5067300"/>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04</a:t>
            </a:r>
          </a:p>
        </p:txBody>
      </p:sp>
      <p:sp>
        <p:nvSpPr>
          <p:cNvPr id="20" name="Memory">
            <a:extLst>
              <a:ext uri="{FF2B5EF4-FFF2-40B4-BE49-F238E27FC236}">
                <a16:creationId xmlns:a16="http://schemas.microsoft.com/office/drawing/2014/main" id="{4957D0BC-CEF3-42EC-ACC2-1578927757A5}"/>
              </a:ext>
            </a:extLst>
          </p:cNvPr>
          <p:cNvSpPr>
            <a:spLocks noGrp="1"/>
          </p:cNvSpPr>
          <p:nvPr/>
        </p:nvSpPr>
        <p:spPr>
          <a:xfrm>
            <a:off x="1323975" y="5067300"/>
            <a:ext cx="314325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Memory</a:t>
            </a:r>
          </a:p>
        </p:txBody>
      </p:sp>
      <p:sp>
        <p:nvSpPr>
          <p:cNvPr id="21" name="What did we change, what happened next, and what should we retain">
            <a:extLst>
              <a:ext uri="{FF2B5EF4-FFF2-40B4-BE49-F238E27FC236}">
                <a16:creationId xmlns:a16="http://schemas.microsoft.com/office/drawing/2014/main" id="{6197B25C-1EFB-483E-9F1E-168940D66300}"/>
              </a:ext>
            </a:extLst>
          </p:cNvPr>
          <p:cNvSpPr>
            <a:spLocks noGrp="1"/>
          </p:cNvSpPr>
          <p:nvPr/>
        </p:nvSpPr>
        <p:spPr>
          <a:xfrm>
            <a:off x="4810125" y="5067300"/>
            <a:ext cx="6772275" cy="79057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What did we change, what happened next, and what should we retain?</a:t>
            </a:r>
          </a:p>
        </p:txBody>
      </p:sp>
      <p:sp>
        <p:nvSpPr>
          <p:cNvPr id="22" name="Rectangle 21">
            <a:extLst>
              <a:ext uri="{FF2B5EF4-FFF2-40B4-BE49-F238E27FC236}">
                <a16:creationId xmlns:a16="http://schemas.microsoft.com/office/drawing/2014/main" id="{0AD67AEE-8410-4632-974B-15EF4FE436D8}"/>
              </a:ext>
            </a:extLst>
          </p:cNvPr>
          <p:cNvSpPr>
            <a:spLocks noGrp="1"/>
          </p:cNvSpPr>
          <p:nvPr/>
        </p:nvSpPr>
        <p:spPr>
          <a:xfrm>
            <a:off x="609600" y="5876925"/>
            <a:ext cx="10972800" cy="9525"/>
          </a:xfrm>
          <a:prstGeom prst="rect">
            <a:avLst/>
          </a:prstGeom>
          <a:solidFill>
            <a:srgbClr val="D8E0E6"/>
          </a:solidFill>
          <a:ln w="0">
            <a:noFill/>
          </a:ln>
        </p:spPr>
        <p:txBody>
          <a:bodyPr/>
          <a:lstStyle/>
          <a:p>
            <a:endParaRPr lang="en-US"/>
          </a:p>
        </p:txBody>
      </p:sp>
      <p:sp>
        <p:nvSpPr>
          <p:cNvPr id="23" name="“Self-aware” describes an operational capability. Owners retain a">
            <a:extLst>
              <a:ext uri="{FF2B5EF4-FFF2-40B4-BE49-F238E27FC236}">
                <a16:creationId xmlns:a16="http://schemas.microsoft.com/office/drawing/2014/main" id="{8B13807F-6F71-45BF-85F2-D603205538FB}"/>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“Self-aware” describes an operational capability. Owners retain authority over company objectives and actions.</a:t>
            </a:r>
          </a:p>
        </p:txBody>
      </p:sp>
    </p:spTree>
    <p:extLst>
      <p:ext uri="{BB962C8B-B14F-4D97-AF65-F5344CB8AC3E}">
        <p14:creationId xmlns:p14="http://schemas.microsoft.com/office/powerpoint/2010/main" val="2110114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626463-E8C6-44E1-A636-9376450DBDEC}"/>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AI adoption is broad. Agent deployment remains early.">
            <a:extLst>
              <a:ext uri="{FF2B5EF4-FFF2-40B4-BE49-F238E27FC236}">
                <a16:creationId xmlns:a16="http://schemas.microsoft.com/office/drawing/2014/main" id="{18748BD8-EBAD-4861-9C96-C709C7AAB6E4}"/>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AI adoption is broad. Agent deployment remains early.</a:t>
            </a:r>
          </a:p>
        </p:txBody>
      </p:sp>
      <p:sp>
        <p:nvSpPr>
          <p:cNvPr id="3" name="Stanford’s 2026 AI Index describes both momentum and an execution">
            <a:extLst>
              <a:ext uri="{FF2B5EF4-FFF2-40B4-BE49-F238E27FC236}">
                <a16:creationId xmlns:a16="http://schemas.microsoft.com/office/drawing/2014/main" id="{3EA55C4E-2B54-435D-B5D5-AC430E7336DF}"/>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Stanford’s 2026 AI Index describes both momentum and an execution gap.</a:t>
            </a:r>
          </a:p>
        </p:txBody>
      </p:sp>
      <p:sp>
        <p:nvSpPr>
          <p:cNvPr id="4" name="Rectangle 3">
            <a:extLst>
              <a:ext uri="{FF2B5EF4-FFF2-40B4-BE49-F238E27FC236}">
                <a16:creationId xmlns:a16="http://schemas.microsoft.com/office/drawing/2014/main" id="{48D9F1D4-32BA-484F-B09E-CB107500B04B}"/>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CF8FE28E-6E7C-4926-BADC-C3036A045293}"/>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05">
            <a:extLst>
              <a:ext uri="{FF2B5EF4-FFF2-40B4-BE49-F238E27FC236}">
                <a16:creationId xmlns:a16="http://schemas.microsoft.com/office/drawing/2014/main" id="{3BDDE17A-6E27-49F9-846A-8FD87BDB6670}"/>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05</a:t>
            </a:r>
          </a:p>
        </p:txBody>
      </p:sp>
      <p:sp>
        <p:nvSpPr>
          <p:cNvPr id="7" name="88%">
            <a:extLst>
              <a:ext uri="{FF2B5EF4-FFF2-40B4-BE49-F238E27FC236}">
                <a16:creationId xmlns:a16="http://schemas.microsoft.com/office/drawing/2014/main" id="{BCFAC915-4F7D-4D94-BD79-8CC6DD5F7B11}"/>
              </a:ext>
            </a:extLst>
          </p:cNvPr>
          <p:cNvSpPr>
            <a:spLocks noGrp="1"/>
          </p:cNvSpPr>
          <p:nvPr/>
        </p:nvSpPr>
        <p:spPr>
          <a:xfrm>
            <a:off x="609600" y="2276475"/>
            <a:ext cx="3695700" cy="1066800"/>
          </a:xfrm>
          <a:prstGeom prst="rect">
            <a:avLst/>
          </a:prstGeom>
          <a:noFill/>
          <a:ln w="0">
            <a:noFill/>
          </a:ln>
        </p:spPr>
        <p:txBody>
          <a:bodyPr wrap="square" lIns="0" tIns="0" rIns="0" bIns="0" anchor="t">
            <a:noAutofit/>
          </a:bodyPr>
          <a:lstStyle/>
          <a:p>
            <a:pPr algn="l">
              <a:defRPr sz="6600" b="1">
                <a:solidFill>
                  <a:srgbClr val="087F87"/>
                </a:solidFill>
                <a:latin typeface="Arial"/>
                <a:ea typeface="Arial"/>
                <a:cs typeface="Arial"/>
              </a:defRPr>
            </a:pPr>
            <a:r>
              <a:rPr sz="6600" b="1">
                <a:solidFill>
                  <a:srgbClr val="087F87"/>
                </a:solidFill>
                <a:latin typeface="Arial"/>
                <a:ea typeface="Arial"/>
                <a:cs typeface="Arial"/>
              </a:rPr>
              <a:t>88%</a:t>
            </a:r>
          </a:p>
        </p:txBody>
      </p:sp>
      <p:sp>
        <p:nvSpPr>
          <p:cNvPr id="8" name="of surveyed organizations&#10;used AI in 2025">
            <a:extLst>
              <a:ext uri="{FF2B5EF4-FFF2-40B4-BE49-F238E27FC236}">
                <a16:creationId xmlns:a16="http://schemas.microsoft.com/office/drawing/2014/main" id="{2FCD5D61-EE09-481E-B197-FA3A5C33A7EB}"/>
              </a:ext>
            </a:extLst>
          </p:cNvPr>
          <p:cNvSpPr>
            <a:spLocks noGrp="1"/>
          </p:cNvSpPr>
          <p:nvPr/>
        </p:nvSpPr>
        <p:spPr>
          <a:xfrm>
            <a:off x="609600" y="3400425"/>
            <a:ext cx="4143375" cy="762000"/>
          </a:xfrm>
          <a:prstGeom prst="rect">
            <a:avLst/>
          </a:prstGeom>
          <a:noFill/>
          <a:ln w="0">
            <a:noFill/>
          </a:ln>
        </p:spPr>
        <p:txBody>
          <a:bodyPr wrap="square" lIns="0" tIns="0" rIns="0" bIns="0" anchor="t">
            <a:noAutofit/>
          </a:bodyPr>
          <a:lstStyle/>
          <a:p>
            <a:pPr algn="l">
              <a:defRPr sz="2100" b="1">
                <a:solidFill>
                  <a:srgbClr val="112A46"/>
                </a:solidFill>
                <a:latin typeface="Arial"/>
                <a:ea typeface="Arial"/>
                <a:cs typeface="Arial"/>
              </a:defRPr>
            </a:pPr>
            <a:r>
              <a:rPr sz="2100" b="1">
                <a:solidFill>
                  <a:srgbClr val="112A46"/>
                </a:solidFill>
                <a:latin typeface="Arial"/>
                <a:ea typeface="Arial"/>
                <a:cs typeface="Arial"/>
              </a:rPr>
              <a:t>of surveyed organizations</a:t>
            </a:r>
          </a:p>
          <a:p>
            <a:pPr algn="l">
              <a:defRPr sz="2100" b="1">
                <a:solidFill>
                  <a:srgbClr val="112A46"/>
                </a:solidFill>
                <a:latin typeface="Arial"/>
                <a:ea typeface="Arial"/>
                <a:cs typeface="Arial"/>
              </a:defRPr>
            </a:pPr>
            <a:r>
              <a:rPr sz="2100" b="1">
                <a:solidFill>
                  <a:srgbClr val="112A46"/>
                </a:solidFill>
                <a:latin typeface="Arial"/>
                <a:ea typeface="Arial"/>
                <a:cs typeface="Arial"/>
              </a:rPr>
              <a:t>used AI in 2025</a:t>
            </a:r>
          </a:p>
        </p:txBody>
      </p:sp>
      <p:sp>
        <p:nvSpPr>
          <p:cNvPr id="9" name="Single digits">
            <a:extLst>
              <a:ext uri="{FF2B5EF4-FFF2-40B4-BE49-F238E27FC236}">
                <a16:creationId xmlns:a16="http://schemas.microsoft.com/office/drawing/2014/main" id="{FAC1E4A9-5FB7-4C2A-860F-CFFEF7DF5A27}"/>
              </a:ext>
            </a:extLst>
          </p:cNvPr>
          <p:cNvSpPr>
            <a:spLocks noGrp="1"/>
          </p:cNvSpPr>
          <p:nvPr/>
        </p:nvSpPr>
        <p:spPr>
          <a:xfrm>
            <a:off x="5695950" y="2381250"/>
            <a:ext cx="5857875" cy="571500"/>
          </a:xfrm>
          <a:prstGeom prst="rect">
            <a:avLst/>
          </a:prstGeom>
          <a:noFill/>
          <a:ln w="0">
            <a:noFill/>
          </a:ln>
        </p:spPr>
        <p:txBody>
          <a:bodyPr wrap="square" lIns="0" tIns="0" rIns="0" bIns="0" anchor="t">
            <a:noAutofit/>
          </a:bodyPr>
          <a:lstStyle/>
          <a:p>
            <a:pPr algn="l">
              <a:defRPr sz="3075" b="1">
                <a:solidFill>
                  <a:srgbClr val="112A46"/>
                </a:solidFill>
                <a:latin typeface="Arial"/>
                <a:ea typeface="Arial"/>
                <a:cs typeface="Arial"/>
              </a:defRPr>
            </a:pPr>
            <a:r>
              <a:rPr sz="3075" b="1">
                <a:solidFill>
                  <a:srgbClr val="112A46"/>
                </a:solidFill>
                <a:latin typeface="Arial"/>
                <a:ea typeface="Arial"/>
                <a:cs typeface="Arial"/>
              </a:rPr>
              <a:t>Single digits</a:t>
            </a:r>
          </a:p>
        </p:txBody>
      </p:sp>
      <p:sp>
        <p:nvSpPr>
          <p:cNvPr id="10" name="AI agent deployment across&#10;nearly all business functions">
            <a:extLst>
              <a:ext uri="{FF2B5EF4-FFF2-40B4-BE49-F238E27FC236}">
                <a16:creationId xmlns:a16="http://schemas.microsoft.com/office/drawing/2014/main" id="{881EBB21-EFE8-4160-ACA7-BAB4643AD2C0}"/>
              </a:ext>
            </a:extLst>
          </p:cNvPr>
          <p:cNvSpPr>
            <a:spLocks noGrp="1"/>
          </p:cNvSpPr>
          <p:nvPr/>
        </p:nvSpPr>
        <p:spPr>
          <a:xfrm>
            <a:off x="5695950" y="3038475"/>
            <a:ext cx="5762625" cy="857250"/>
          </a:xfrm>
          <a:prstGeom prst="rect">
            <a:avLst/>
          </a:prstGeom>
          <a:noFill/>
          <a:ln w="0">
            <a:noFill/>
          </a:ln>
        </p:spPr>
        <p:txBody>
          <a:bodyPr wrap="square" lIns="0" tIns="0" rIns="0" bIns="0" anchor="t">
            <a:noAutofit/>
          </a:bodyPr>
          <a:lstStyle/>
          <a:p>
            <a:pPr algn="l">
              <a:defRPr sz="2100" b="0">
                <a:solidFill>
                  <a:srgbClr val="536274"/>
                </a:solidFill>
                <a:latin typeface="Arial"/>
                <a:ea typeface="Arial"/>
                <a:cs typeface="Arial"/>
              </a:defRPr>
            </a:pPr>
            <a:r>
              <a:rPr sz="2100" b="0">
                <a:solidFill>
                  <a:srgbClr val="536274"/>
                </a:solidFill>
                <a:latin typeface="Arial"/>
                <a:ea typeface="Arial"/>
                <a:cs typeface="Arial"/>
              </a:rPr>
              <a:t>AI agent deployment across</a:t>
            </a:r>
          </a:p>
          <a:p>
            <a:pPr algn="l">
              <a:defRPr sz="2100" b="0">
                <a:solidFill>
                  <a:srgbClr val="536274"/>
                </a:solidFill>
                <a:latin typeface="Arial"/>
                <a:ea typeface="Arial"/>
                <a:cs typeface="Arial"/>
              </a:defRPr>
            </a:pPr>
            <a:r>
              <a:rPr sz="2100" b="0">
                <a:solidFill>
                  <a:srgbClr val="536274"/>
                </a:solidFill>
                <a:latin typeface="Arial"/>
                <a:ea typeface="Arial"/>
                <a:cs typeface="Arial"/>
              </a:rPr>
              <a:t>nearly all business functions</a:t>
            </a:r>
          </a:p>
        </p:txBody>
      </p:sp>
      <p:sp>
        <p:nvSpPr>
          <p:cNvPr id="11" name="Rectangle 10">
            <a:extLst>
              <a:ext uri="{FF2B5EF4-FFF2-40B4-BE49-F238E27FC236}">
                <a16:creationId xmlns:a16="http://schemas.microsoft.com/office/drawing/2014/main" id="{9881F403-9D2F-4D26-94AB-037361565AAE}"/>
              </a:ext>
            </a:extLst>
          </p:cNvPr>
          <p:cNvSpPr>
            <a:spLocks noGrp="1"/>
          </p:cNvSpPr>
          <p:nvPr/>
        </p:nvSpPr>
        <p:spPr>
          <a:xfrm>
            <a:off x="609600" y="4314825"/>
            <a:ext cx="10972800" cy="9525"/>
          </a:xfrm>
          <a:prstGeom prst="rect">
            <a:avLst/>
          </a:prstGeom>
          <a:solidFill>
            <a:srgbClr val="D8E0E6"/>
          </a:solidFill>
          <a:ln w="0">
            <a:noFill/>
          </a:ln>
        </p:spPr>
        <p:txBody>
          <a:bodyPr/>
          <a:lstStyle/>
          <a:p>
            <a:endParaRPr lang="en-US"/>
          </a:p>
        </p:txBody>
      </p:sp>
      <p:sp>
        <p:nvSpPr>
          <p:cNvPr id="12" name="Glinx’s opportunity">
            <a:extLst>
              <a:ext uri="{FF2B5EF4-FFF2-40B4-BE49-F238E27FC236}">
                <a16:creationId xmlns:a16="http://schemas.microsoft.com/office/drawing/2014/main" id="{ECC6281B-C3A6-47E5-BA95-40F9BBEF59B2}"/>
              </a:ext>
            </a:extLst>
          </p:cNvPr>
          <p:cNvSpPr>
            <a:spLocks noGrp="1"/>
          </p:cNvSpPr>
          <p:nvPr/>
        </p:nvSpPr>
        <p:spPr>
          <a:xfrm>
            <a:off x="609600" y="4657725"/>
            <a:ext cx="3333750" cy="438150"/>
          </a:xfrm>
          <a:prstGeom prst="rect">
            <a:avLst/>
          </a:prstGeom>
          <a:noFill/>
          <a:ln w="0">
            <a:noFill/>
          </a:ln>
        </p:spPr>
        <p:txBody>
          <a:bodyPr wrap="square" lIns="0" tIns="0" rIns="0" bIns="0" anchor="t">
            <a:noAutofit/>
          </a:bodyPr>
          <a:lstStyle/>
          <a:p>
            <a:pPr algn="l">
              <a:defRPr sz="2100" b="1">
                <a:solidFill>
                  <a:srgbClr val="087F87"/>
                </a:solidFill>
                <a:latin typeface="Arial"/>
                <a:ea typeface="Arial"/>
                <a:cs typeface="Arial"/>
              </a:defRPr>
            </a:pPr>
            <a:r>
              <a:rPr sz="2100" b="1">
                <a:solidFill>
                  <a:srgbClr val="087F87"/>
                </a:solidFill>
                <a:latin typeface="Arial"/>
                <a:ea typeface="Arial"/>
                <a:cs typeface="Arial"/>
              </a:rPr>
              <a:t>Glinx’s opportunity</a:t>
            </a:r>
          </a:p>
        </p:txBody>
      </p:sp>
      <p:sp>
        <p:nvSpPr>
          <p:cNvPr id="13" name="Make company context, controls and outcome measurement usable in ">
            <a:extLst>
              <a:ext uri="{FF2B5EF4-FFF2-40B4-BE49-F238E27FC236}">
                <a16:creationId xmlns:a16="http://schemas.microsoft.com/office/drawing/2014/main" id="{2AF2662F-FF7E-419A-81B9-E687609FF974}"/>
              </a:ext>
            </a:extLst>
          </p:cNvPr>
          <p:cNvSpPr>
            <a:spLocks noGrp="1"/>
          </p:cNvSpPr>
          <p:nvPr/>
        </p:nvSpPr>
        <p:spPr>
          <a:xfrm>
            <a:off x="4324350" y="4629150"/>
            <a:ext cx="7258050" cy="1143000"/>
          </a:xfrm>
          <a:prstGeom prst="rect">
            <a:avLst/>
          </a:prstGeom>
          <a:noFill/>
          <a:ln w="0">
            <a:noFill/>
          </a:ln>
        </p:spPr>
        <p:txBody>
          <a:bodyPr wrap="square" lIns="0" tIns="0" rIns="0" bIns="0" anchor="t">
            <a:noAutofit/>
          </a:bodyPr>
          <a:lstStyle/>
          <a:p>
            <a:pPr algn="l">
              <a:defRPr sz="2250" b="1">
                <a:solidFill>
                  <a:srgbClr val="112A46"/>
                </a:solidFill>
                <a:latin typeface="Arial"/>
                <a:ea typeface="Arial"/>
                <a:cs typeface="Arial"/>
              </a:defRPr>
            </a:pPr>
            <a:r>
              <a:rPr sz="2250" b="1">
                <a:solidFill>
                  <a:srgbClr val="112A46"/>
                </a:solidFill>
                <a:latin typeface="Arial"/>
                <a:ea typeface="Arial"/>
                <a:cs typeface="Arial"/>
              </a:rPr>
              <a:t>Make company context, controls and outcome measurement usable in a focused operating workflow.</a:t>
            </a:r>
          </a:p>
        </p:txBody>
      </p:sp>
      <p:sp>
        <p:nvSpPr>
          <p:cNvPr id="14" name="Source: Stanford HAI, 2026 AI Index, Economy chapter. Opportunity">
            <a:extLst>
              <a:ext uri="{FF2B5EF4-FFF2-40B4-BE49-F238E27FC236}">
                <a16:creationId xmlns:a16="http://schemas.microsoft.com/office/drawing/2014/main" id="{C66C6ABF-782C-4F0C-A980-2AC3163A69C7}"/>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Source: Stanford HAI, 2026 AI Index, Economy chapter. Opportunity statement is the Glinx product thesis.</a:t>
            </a:r>
          </a:p>
        </p:txBody>
      </p:sp>
    </p:spTree>
    <p:extLst>
      <p:ext uri="{BB962C8B-B14F-4D97-AF65-F5344CB8AC3E}">
        <p14:creationId xmlns:p14="http://schemas.microsoft.com/office/powerpoint/2010/main" val="1714397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DBF510-7427-42D3-BA1E-5B2083F2D615}"/>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The Glinx operating architecture">
            <a:extLst>
              <a:ext uri="{FF2B5EF4-FFF2-40B4-BE49-F238E27FC236}">
                <a16:creationId xmlns:a16="http://schemas.microsoft.com/office/drawing/2014/main" id="{CB0E54F4-BE08-4CDE-A680-E1C29DCCF775}"/>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The Glinx operating architecture</a:t>
            </a:r>
          </a:p>
        </p:txBody>
      </p:sp>
      <p:sp>
        <p:nvSpPr>
          <p:cNvPr id="3" name="Rectangle 2">
            <a:extLst>
              <a:ext uri="{FF2B5EF4-FFF2-40B4-BE49-F238E27FC236}">
                <a16:creationId xmlns:a16="http://schemas.microsoft.com/office/drawing/2014/main" id="{B456CFEE-DCE1-44FA-8211-5941D9BB05AF}"/>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4" name="GLINX AI">
            <a:extLst>
              <a:ext uri="{FF2B5EF4-FFF2-40B4-BE49-F238E27FC236}">
                <a16:creationId xmlns:a16="http://schemas.microsoft.com/office/drawing/2014/main" id="{7FEB78F0-35C2-418B-AB09-58AA4D6910B2}"/>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5" name="06">
            <a:extLst>
              <a:ext uri="{FF2B5EF4-FFF2-40B4-BE49-F238E27FC236}">
                <a16:creationId xmlns:a16="http://schemas.microsoft.com/office/drawing/2014/main" id="{7F1F904A-F050-4417-AD9B-33EE35930645}"/>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06</a:t>
            </a:r>
          </a:p>
        </p:txBody>
      </p:sp>
      <p:pic>
        <p:nvPicPr>
          <p:cNvPr id="13" name="Picture 12"/>
          <p:cNvPicPr>
            <a:picLocks noChangeAspect="1"/>
          </p:cNvPicPr>
          <p:nvPr/>
        </p:nvPicPr>
        <p:blipFill>
          <a:blip r:embed="rId3"/>
          <a:stretch/>
        </p:blipFill>
        <p:spPr>
          <a:xfrm>
            <a:off x="1651000" y="1181100"/>
            <a:ext cx="8890000" cy="5000625"/>
          </a:xfrm>
          <a:prstGeom prst="rect">
            <a:avLst/>
          </a:prstGeom>
        </p:spPr>
      </p:pic>
      <p:sp>
        <p:nvSpPr>
          <p:cNvPr id="7" name="Full-platform design. Company Discovery begins the sensing and ev">
            <a:extLst>
              <a:ext uri="{FF2B5EF4-FFF2-40B4-BE49-F238E27FC236}">
                <a16:creationId xmlns:a16="http://schemas.microsoft.com/office/drawing/2014/main" id="{EADFA2F7-A168-4FF6-BB63-6B1AF70E4C6A}"/>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Full-platform design. Company Discovery begins the sensing and evidence layers.</a:t>
            </a:r>
          </a:p>
        </p:txBody>
      </p:sp>
    </p:spTree>
    <p:extLst>
      <p:ext uri="{BB962C8B-B14F-4D97-AF65-F5344CB8AC3E}">
        <p14:creationId xmlns:p14="http://schemas.microsoft.com/office/powerpoint/2010/main" val="1569350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18D3B16D-C80B-4810-9391-D3102EFF539F}"/>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The Company Connectome">
            <a:extLst>
              <a:ext uri="{FF2B5EF4-FFF2-40B4-BE49-F238E27FC236}">
                <a16:creationId xmlns:a16="http://schemas.microsoft.com/office/drawing/2014/main" id="{AECDBFE4-1D1E-431A-A3AA-E52C2771501A}"/>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The Company Connectome</a:t>
            </a:r>
          </a:p>
        </p:txBody>
      </p:sp>
      <p:sp>
        <p:nvSpPr>
          <p:cNvPr id="3" name="Illustrative future model for one order. Each relationship retain">
            <a:extLst>
              <a:ext uri="{FF2B5EF4-FFF2-40B4-BE49-F238E27FC236}">
                <a16:creationId xmlns:a16="http://schemas.microsoft.com/office/drawing/2014/main" id="{4FB9E94F-5326-4D30-870E-632206E6164E}"/>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Illustrative future model for one order. Each relationship retains a link to source evidence.</a:t>
            </a:r>
          </a:p>
        </p:txBody>
      </p:sp>
      <p:sp>
        <p:nvSpPr>
          <p:cNvPr id="4" name="Rectangle 3">
            <a:extLst>
              <a:ext uri="{FF2B5EF4-FFF2-40B4-BE49-F238E27FC236}">
                <a16:creationId xmlns:a16="http://schemas.microsoft.com/office/drawing/2014/main" id="{90E35AC7-92B0-4432-AA0F-656F09410A70}"/>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4B34CE24-5003-4E89-9540-9DE55EB51785}"/>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07">
            <a:extLst>
              <a:ext uri="{FF2B5EF4-FFF2-40B4-BE49-F238E27FC236}">
                <a16:creationId xmlns:a16="http://schemas.microsoft.com/office/drawing/2014/main" id="{A3B339E1-FAA7-4A13-A788-B60DA46D2FB7}"/>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07</a:t>
            </a:r>
          </a:p>
        </p:txBody>
      </p:sp>
      <p:sp>
        <p:nvSpPr>
          <p:cNvPr id="7" name="Rectangle 6">
            <a:extLst>
              <a:ext uri="{FF2B5EF4-FFF2-40B4-BE49-F238E27FC236}">
                <a16:creationId xmlns:a16="http://schemas.microsoft.com/office/drawing/2014/main" id="{16B0B5F5-1D47-4289-B3F5-8E782C55A0FE}"/>
              </a:ext>
            </a:extLst>
          </p:cNvPr>
          <p:cNvSpPr>
            <a:spLocks noGrp="1"/>
          </p:cNvSpPr>
          <p:nvPr/>
        </p:nvSpPr>
        <p:spPr>
          <a:xfrm>
            <a:off x="609600" y="2343150"/>
            <a:ext cx="2190750" cy="1028700"/>
          </a:xfrm>
          <a:prstGeom prst="rect">
            <a:avLst/>
          </a:prstGeom>
          <a:solidFill>
            <a:srgbClr val="F2F5F7"/>
          </a:solidFill>
          <a:ln w="9525">
            <a:solidFill>
              <a:srgbClr val="D8E0E6"/>
            </a:solidFill>
          </a:ln>
        </p:spPr>
        <p:txBody>
          <a:bodyPr/>
          <a:lstStyle/>
          <a:p>
            <a:endParaRPr lang="en-US"/>
          </a:p>
        </p:txBody>
      </p:sp>
      <p:sp>
        <p:nvSpPr>
          <p:cNvPr id="8" name="Customer">
            <a:extLst>
              <a:ext uri="{FF2B5EF4-FFF2-40B4-BE49-F238E27FC236}">
                <a16:creationId xmlns:a16="http://schemas.microsoft.com/office/drawing/2014/main" id="{5E0F3FF1-E201-457B-AC20-1F8C42740512}"/>
              </a:ext>
            </a:extLst>
          </p:cNvPr>
          <p:cNvSpPr>
            <a:spLocks noGrp="1"/>
          </p:cNvSpPr>
          <p:nvPr/>
        </p:nvSpPr>
        <p:spPr>
          <a:xfrm>
            <a:off x="762000" y="2486025"/>
            <a:ext cx="18859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Customer</a:t>
            </a:r>
          </a:p>
        </p:txBody>
      </p:sp>
      <p:sp>
        <p:nvSpPr>
          <p:cNvPr id="9" name="CRM account">
            <a:extLst>
              <a:ext uri="{FF2B5EF4-FFF2-40B4-BE49-F238E27FC236}">
                <a16:creationId xmlns:a16="http://schemas.microsoft.com/office/drawing/2014/main" id="{2E4669BC-7990-4CE2-ACA7-6614918D7A8A}"/>
              </a:ext>
            </a:extLst>
          </p:cNvPr>
          <p:cNvSpPr>
            <a:spLocks noGrp="1"/>
          </p:cNvSpPr>
          <p:nvPr/>
        </p:nvSpPr>
        <p:spPr>
          <a:xfrm>
            <a:off x="762000" y="2867025"/>
            <a:ext cx="1885950" cy="47625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CRM account</a:t>
            </a:r>
          </a:p>
        </p:txBody>
      </p:sp>
      <p:sp>
        <p:nvSpPr>
          <p:cNvPr id="10" name="Rectangle 9">
            <a:extLst>
              <a:ext uri="{FF2B5EF4-FFF2-40B4-BE49-F238E27FC236}">
                <a16:creationId xmlns:a16="http://schemas.microsoft.com/office/drawing/2014/main" id="{A3E40705-CD80-4B24-8ECF-7D24A183D190}"/>
              </a:ext>
            </a:extLst>
          </p:cNvPr>
          <p:cNvSpPr>
            <a:spLocks noGrp="1"/>
          </p:cNvSpPr>
          <p:nvPr/>
        </p:nvSpPr>
        <p:spPr>
          <a:xfrm>
            <a:off x="4619625" y="2343150"/>
            <a:ext cx="2667000" cy="1028700"/>
          </a:xfrm>
          <a:prstGeom prst="rect">
            <a:avLst/>
          </a:prstGeom>
          <a:solidFill>
            <a:srgbClr val="112A46"/>
          </a:solidFill>
          <a:ln w="9525">
            <a:solidFill>
              <a:srgbClr val="D8E0E6"/>
            </a:solidFill>
          </a:ln>
        </p:spPr>
        <p:txBody>
          <a:bodyPr/>
          <a:lstStyle/>
          <a:p>
            <a:endParaRPr lang="en-US"/>
          </a:p>
        </p:txBody>
      </p:sp>
      <p:sp>
        <p:nvSpPr>
          <p:cNvPr id="11" name="Sales order">
            <a:extLst>
              <a:ext uri="{FF2B5EF4-FFF2-40B4-BE49-F238E27FC236}">
                <a16:creationId xmlns:a16="http://schemas.microsoft.com/office/drawing/2014/main" id="{4724B721-5744-4336-9CEB-F560A9314138}"/>
              </a:ext>
            </a:extLst>
          </p:cNvPr>
          <p:cNvSpPr>
            <a:spLocks noGrp="1"/>
          </p:cNvSpPr>
          <p:nvPr/>
        </p:nvSpPr>
        <p:spPr>
          <a:xfrm>
            <a:off x="4772025" y="2486025"/>
            <a:ext cx="2362200" cy="361950"/>
          </a:xfrm>
          <a:prstGeom prst="rect">
            <a:avLst/>
          </a:prstGeom>
          <a:noFill/>
          <a:ln w="0">
            <a:noFill/>
          </a:ln>
        </p:spPr>
        <p:txBody>
          <a:bodyPr wrap="square" lIns="0" tIns="0" rIns="0" bIns="0" anchor="t">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Sales order</a:t>
            </a:r>
          </a:p>
        </p:txBody>
      </p:sp>
      <p:sp>
        <p:nvSpPr>
          <p:cNvPr id="12" name="ERP promise and price">
            <a:extLst>
              <a:ext uri="{FF2B5EF4-FFF2-40B4-BE49-F238E27FC236}">
                <a16:creationId xmlns:a16="http://schemas.microsoft.com/office/drawing/2014/main" id="{5570D5DD-5682-4A23-B5AC-C866CA107388}"/>
              </a:ext>
            </a:extLst>
          </p:cNvPr>
          <p:cNvSpPr>
            <a:spLocks noGrp="1"/>
          </p:cNvSpPr>
          <p:nvPr/>
        </p:nvSpPr>
        <p:spPr>
          <a:xfrm>
            <a:off x="4772025" y="2867025"/>
            <a:ext cx="2362200" cy="476250"/>
          </a:xfrm>
          <a:prstGeom prst="rect">
            <a:avLst/>
          </a:prstGeom>
          <a:noFill/>
          <a:ln w="0">
            <a:noFill/>
          </a:ln>
        </p:spPr>
        <p:txBody>
          <a:bodyPr wrap="square" lIns="0" tIns="0" rIns="0" bIns="0" anchor="t">
            <a:noAutofit/>
          </a:bodyPr>
          <a:lstStyle/>
          <a:p>
            <a:pPr algn="l">
              <a:defRPr sz="1500" b="0">
                <a:solidFill>
                  <a:srgbClr val="D4DEE7"/>
                </a:solidFill>
                <a:latin typeface="Arial"/>
                <a:ea typeface="Arial"/>
                <a:cs typeface="Arial"/>
              </a:defRPr>
            </a:pPr>
            <a:r>
              <a:rPr sz="1500" b="0">
                <a:solidFill>
                  <a:srgbClr val="D4DEE7"/>
                </a:solidFill>
                <a:latin typeface="Arial"/>
                <a:ea typeface="Arial"/>
                <a:cs typeface="Arial"/>
              </a:rPr>
              <a:t>ERP promise and price</a:t>
            </a:r>
          </a:p>
        </p:txBody>
      </p:sp>
      <p:sp>
        <p:nvSpPr>
          <p:cNvPr id="13" name="Rectangle 12">
            <a:extLst>
              <a:ext uri="{FF2B5EF4-FFF2-40B4-BE49-F238E27FC236}">
                <a16:creationId xmlns:a16="http://schemas.microsoft.com/office/drawing/2014/main" id="{7F5F75AD-BB6D-4C3F-B46F-7B68461DDA82}"/>
              </a:ext>
            </a:extLst>
          </p:cNvPr>
          <p:cNvSpPr>
            <a:spLocks noGrp="1"/>
          </p:cNvSpPr>
          <p:nvPr/>
        </p:nvSpPr>
        <p:spPr>
          <a:xfrm>
            <a:off x="9391650" y="2343150"/>
            <a:ext cx="2190750" cy="1028700"/>
          </a:xfrm>
          <a:prstGeom prst="rect">
            <a:avLst/>
          </a:prstGeom>
          <a:solidFill>
            <a:srgbClr val="F2F5F7"/>
          </a:solidFill>
          <a:ln w="9525">
            <a:solidFill>
              <a:srgbClr val="D8E0E6"/>
            </a:solidFill>
          </a:ln>
        </p:spPr>
        <p:txBody>
          <a:bodyPr/>
          <a:lstStyle/>
          <a:p>
            <a:endParaRPr lang="en-US"/>
          </a:p>
        </p:txBody>
      </p:sp>
      <p:sp>
        <p:nvSpPr>
          <p:cNvPr id="14" name="Product">
            <a:extLst>
              <a:ext uri="{FF2B5EF4-FFF2-40B4-BE49-F238E27FC236}">
                <a16:creationId xmlns:a16="http://schemas.microsoft.com/office/drawing/2014/main" id="{3DE4160D-D363-40E7-BA71-079DC53190E4}"/>
              </a:ext>
            </a:extLst>
          </p:cNvPr>
          <p:cNvSpPr>
            <a:spLocks noGrp="1"/>
          </p:cNvSpPr>
          <p:nvPr/>
        </p:nvSpPr>
        <p:spPr>
          <a:xfrm>
            <a:off x="9544050" y="2486025"/>
            <a:ext cx="18859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Product</a:t>
            </a:r>
          </a:p>
        </p:txBody>
      </p:sp>
      <p:sp>
        <p:nvSpPr>
          <p:cNvPr id="15" name="Item and specification">
            <a:extLst>
              <a:ext uri="{FF2B5EF4-FFF2-40B4-BE49-F238E27FC236}">
                <a16:creationId xmlns:a16="http://schemas.microsoft.com/office/drawing/2014/main" id="{3F874BF8-C923-4E11-9AB8-6A6ED2D58EA8}"/>
              </a:ext>
            </a:extLst>
          </p:cNvPr>
          <p:cNvSpPr>
            <a:spLocks noGrp="1"/>
          </p:cNvSpPr>
          <p:nvPr/>
        </p:nvSpPr>
        <p:spPr>
          <a:xfrm>
            <a:off x="9544050" y="2867025"/>
            <a:ext cx="1885950" cy="47625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Item and specification</a:t>
            </a:r>
          </a:p>
        </p:txBody>
      </p:sp>
      <p:sp>
        <p:nvSpPr>
          <p:cNvPr id="16" name="Rectangle 15">
            <a:extLst>
              <a:ext uri="{FF2B5EF4-FFF2-40B4-BE49-F238E27FC236}">
                <a16:creationId xmlns:a16="http://schemas.microsoft.com/office/drawing/2014/main" id="{DCD3F4DE-4419-4619-8063-398A7DE403F4}"/>
              </a:ext>
            </a:extLst>
          </p:cNvPr>
          <p:cNvSpPr>
            <a:spLocks noGrp="1"/>
          </p:cNvSpPr>
          <p:nvPr/>
        </p:nvSpPr>
        <p:spPr>
          <a:xfrm>
            <a:off x="609600" y="4543425"/>
            <a:ext cx="2190750" cy="1028700"/>
          </a:xfrm>
          <a:prstGeom prst="rect">
            <a:avLst/>
          </a:prstGeom>
          <a:solidFill>
            <a:srgbClr val="F2F5F7"/>
          </a:solidFill>
          <a:ln w="9525">
            <a:solidFill>
              <a:srgbClr val="D8E0E6"/>
            </a:solidFill>
          </a:ln>
        </p:spPr>
        <p:txBody>
          <a:bodyPr/>
          <a:lstStyle/>
          <a:p>
            <a:endParaRPr lang="en-US"/>
          </a:p>
        </p:txBody>
      </p:sp>
      <p:sp>
        <p:nvSpPr>
          <p:cNvPr id="17" name="Supplier">
            <a:extLst>
              <a:ext uri="{FF2B5EF4-FFF2-40B4-BE49-F238E27FC236}">
                <a16:creationId xmlns:a16="http://schemas.microsoft.com/office/drawing/2014/main" id="{98EAE882-D972-465F-B1F8-3642670A480C}"/>
              </a:ext>
            </a:extLst>
          </p:cNvPr>
          <p:cNvSpPr>
            <a:spLocks noGrp="1"/>
          </p:cNvSpPr>
          <p:nvPr/>
        </p:nvSpPr>
        <p:spPr>
          <a:xfrm>
            <a:off x="762000" y="4686300"/>
            <a:ext cx="18859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Supplier</a:t>
            </a:r>
          </a:p>
        </p:txBody>
      </p:sp>
      <p:sp>
        <p:nvSpPr>
          <p:cNvPr id="18" name="Purchase order and receipt">
            <a:extLst>
              <a:ext uri="{FF2B5EF4-FFF2-40B4-BE49-F238E27FC236}">
                <a16:creationId xmlns:a16="http://schemas.microsoft.com/office/drawing/2014/main" id="{E287C80C-1D65-46A9-8CA2-239C58492928}"/>
              </a:ext>
            </a:extLst>
          </p:cNvPr>
          <p:cNvSpPr>
            <a:spLocks noGrp="1"/>
          </p:cNvSpPr>
          <p:nvPr/>
        </p:nvSpPr>
        <p:spPr>
          <a:xfrm>
            <a:off x="762000" y="5067300"/>
            <a:ext cx="1885950" cy="47625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Purchase order and receipt</a:t>
            </a:r>
          </a:p>
        </p:txBody>
      </p:sp>
      <p:sp>
        <p:nvSpPr>
          <p:cNvPr id="19" name="Rectangle 18">
            <a:extLst>
              <a:ext uri="{FF2B5EF4-FFF2-40B4-BE49-F238E27FC236}">
                <a16:creationId xmlns:a16="http://schemas.microsoft.com/office/drawing/2014/main" id="{3F9678F9-6AAF-46E8-824E-3745B74EDB6D}"/>
              </a:ext>
            </a:extLst>
          </p:cNvPr>
          <p:cNvSpPr>
            <a:spLocks noGrp="1"/>
          </p:cNvSpPr>
          <p:nvPr/>
        </p:nvSpPr>
        <p:spPr>
          <a:xfrm>
            <a:off x="4619625" y="4543425"/>
            <a:ext cx="2667000" cy="1028700"/>
          </a:xfrm>
          <a:prstGeom prst="rect">
            <a:avLst/>
          </a:prstGeom>
          <a:solidFill>
            <a:srgbClr val="F2F5F7"/>
          </a:solidFill>
          <a:ln w="9525">
            <a:solidFill>
              <a:srgbClr val="D8E0E6"/>
            </a:solidFill>
          </a:ln>
        </p:spPr>
        <p:txBody>
          <a:bodyPr/>
          <a:lstStyle/>
          <a:p>
            <a:endParaRPr lang="en-US"/>
          </a:p>
        </p:txBody>
      </p:sp>
      <p:sp>
        <p:nvSpPr>
          <p:cNvPr id="20" name="Work order">
            <a:extLst>
              <a:ext uri="{FF2B5EF4-FFF2-40B4-BE49-F238E27FC236}">
                <a16:creationId xmlns:a16="http://schemas.microsoft.com/office/drawing/2014/main" id="{9F626BEA-2E52-4004-A238-AB461D2D0AC4}"/>
              </a:ext>
            </a:extLst>
          </p:cNvPr>
          <p:cNvSpPr>
            <a:spLocks noGrp="1"/>
          </p:cNvSpPr>
          <p:nvPr/>
        </p:nvSpPr>
        <p:spPr>
          <a:xfrm>
            <a:off x="4772025" y="4686300"/>
            <a:ext cx="236220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Work order</a:t>
            </a:r>
          </a:p>
        </p:txBody>
      </p:sp>
      <p:sp>
        <p:nvSpPr>
          <p:cNvPr id="21" name="Routing and actual cost">
            <a:extLst>
              <a:ext uri="{FF2B5EF4-FFF2-40B4-BE49-F238E27FC236}">
                <a16:creationId xmlns:a16="http://schemas.microsoft.com/office/drawing/2014/main" id="{BE3A9003-4399-4A3F-95E3-359B726B93D9}"/>
              </a:ext>
            </a:extLst>
          </p:cNvPr>
          <p:cNvSpPr>
            <a:spLocks noGrp="1"/>
          </p:cNvSpPr>
          <p:nvPr/>
        </p:nvSpPr>
        <p:spPr>
          <a:xfrm>
            <a:off x="4772025" y="5067300"/>
            <a:ext cx="2362200" cy="47625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Routing and actual cost</a:t>
            </a:r>
          </a:p>
        </p:txBody>
      </p:sp>
      <p:sp>
        <p:nvSpPr>
          <p:cNvPr id="22" name="Rectangle 21">
            <a:extLst>
              <a:ext uri="{FF2B5EF4-FFF2-40B4-BE49-F238E27FC236}">
                <a16:creationId xmlns:a16="http://schemas.microsoft.com/office/drawing/2014/main" id="{72F2E5E5-8112-42F2-B92D-CB4F7A929255}"/>
              </a:ext>
            </a:extLst>
          </p:cNvPr>
          <p:cNvSpPr>
            <a:spLocks noGrp="1"/>
          </p:cNvSpPr>
          <p:nvPr/>
        </p:nvSpPr>
        <p:spPr>
          <a:xfrm>
            <a:off x="9391650" y="4543425"/>
            <a:ext cx="2190750" cy="1028700"/>
          </a:xfrm>
          <a:prstGeom prst="rect">
            <a:avLst/>
          </a:prstGeom>
          <a:solidFill>
            <a:srgbClr val="F2F5F7"/>
          </a:solidFill>
          <a:ln w="9525">
            <a:solidFill>
              <a:srgbClr val="D8E0E6"/>
            </a:solidFill>
          </a:ln>
        </p:spPr>
        <p:txBody>
          <a:bodyPr/>
          <a:lstStyle/>
          <a:p>
            <a:endParaRPr lang="en-US"/>
          </a:p>
        </p:txBody>
      </p:sp>
      <p:sp>
        <p:nvSpPr>
          <p:cNvPr id="23" name="Capacity">
            <a:extLst>
              <a:ext uri="{FF2B5EF4-FFF2-40B4-BE49-F238E27FC236}">
                <a16:creationId xmlns:a16="http://schemas.microsoft.com/office/drawing/2014/main" id="{03ABB59B-7115-4CA0-B0C4-E300BF153CA1}"/>
              </a:ext>
            </a:extLst>
          </p:cNvPr>
          <p:cNvSpPr>
            <a:spLocks noGrp="1"/>
          </p:cNvSpPr>
          <p:nvPr/>
        </p:nvSpPr>
        <p:spPr>
          <a:xfrm>
            <a:off x="9544050" y="4686300"/>
            <a:ext cx="18859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Capacity</a:t>
            </a:r>
          </a:p>
        </p:txBody>
      </p:sp>
      <p:sp>
        <p:nvSpPr>
          <p:cNvPr id="24" name="Machine and schedule">
            <a:extLst>
              <a:ext uri="{FF2B5EF4-FFF2-40B4-BE49-F238E27FC236}">
                <a16:creationId xmlns:a16="http://schemas.microsoft.com/office/drawing/2014/main" id="{58C6E1CB-E7BC-48A6-9493-8BF9DB529BCB}"/>
              </a:ext>
            </a:extLst>
          </p:cNvPr>
          <p:cNvSpPr>
            <a:spLocks noGrp="1"/>
          </p:cNvSpPr>
          <p:nvPr/>
        </p:nvSpPr>
        <p:spPr>
          <a:xfrm>
            <a:off x="9544050" y="5067300"/>
            <a:ext cx="1885950" cy="47625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Machine and schedule</a:t>
            </a:r>
          </a:p>
        </p:txBody>
      </p:sp>
      <p:cxnSp>
        <p:nvCxnSpPr>
          <p:cNvPr id="60" name="Straight Arrow Connector 59"/>
          <p:cNvCxnSpPr>
            <a:stCxn id="7" idx="3"/>
            <a:endCxn id="10" idx="1"/>
          </p:cNvCxnSpPr>
          <p:nvPr/>
        </p:nvCxnSpPr>
        <p:spPr>
          <a:xfrm>
            <a:off x="2800350" y="2857500"/>
            <a:ext cx="1819275" cy="0"/>
          </a:xfrm>
          <a:prstGeom prst="straightConnector1">
            <a:avLst/>
          </a:prstGeom>
          <a:ln w="19050">
            <a:solidFill>
              <a:srgbClr val="087F87"/>
            </a:solidFill>
            <a:tailEnd type="triangle" w="med" len="med"/>
          </a:ln>
        </p:spPr>
      </p:cxnSp>
      <p:cxnSp>
        <p:nvCxnSpPr>
          <p:cNvPr id="61" name="Straight Arrow Connector 60"/>
          <p:cNvCxnSpPr>
            <a:stCxn id="10" idx="3"/>
            <a:endCxn id="13" idx="1"/>
          </p:cNvCxnSpPr>
          <p:nvPr/>
        </p:nvCxnSpPr>
        <p:spPr>
          <a:xfrm>
            <a:off x="7286625" y="2857500"/>
            <a:ext cx="2105025" cy="0"/>
          </a:xfrm>
          <a:prstGeom prst="straightConnector1">
            <a:avLst/>
          </a:prstGeom>
          <a:ln w="19050">
            <a:solidFill>
              <a:srgbClr val="087F87"/>
            </a:solidFill>
            <a:tailEnd type="triangle" w="med" len="med"/>
          </a:ln>
        </p:spPr>
      </p:cxnSp>
      <p:cxnSp>
        <p:nvCxnSpPr>
          <p:cNvPr id="62" name="Straight Arrow Connector 61"/>
          <p:cNvCxnSpPr>
            <a:stCxn id="10" idx="2"/>
            <a:endCxn id="19" idx="0"/>
          </p:cNvCxnSpPr>
          <p:nvPr/>
        </p:nvCxnSpPr>
        <p:spPr>
          <a:xfrm>
            <a:off x="5953125" y="3371850"/>
            <a:ext cx="0" cy="1171575"/>
          </a:xfrm>
          <a:prstGeom prst="straightConnector1">
            <a:avLst/>
          </a:prstGeom>
          <a:ln w="19050">
            <a:solidFill>
              <a:srgbClr val="087F87"/>
            </a:solidFill>
            <a:tailEnd type="triangle" w="med" len="med"/>
          </a:ln>
        </p:spPr>
      </p:cxnSp>
      <p:cxnSp>
        <p:nvCxnSpPr>
          <p:cNvPr id="63" name="Straight Arrow Connector 62"/>
          <p:cNvCxnSpPr>
            <a:stCxn id="16" idx="3"/>
            <a:endCxn id="19" idx="1"/>
          </p:cNvCxnSpPr>
          <p:nvPr/>
        </p:nvCxnSpPr>
        <p:spPr>
          <a:xfrm>
            <a:off x="2800350" y="5057775"/>
            <a:ext cx="1819275" cy="0"/>
          </a:xfrm>
          <a:prstGeom prst="straightConnector1">
            <a:avLst/>
          </a:prstGeom>
          <a:ln w="19050">
            <a:solidFill>
              <a:srgbClr val="087F87"/>
            </a:solidFill>
            <a:tailEnd type="triangle" w="med" len="med"/>
          </a:ln>
        </p:spPr>
      </p:cxnSp>
      <p:cxnSp>
        <p:nvCxnSpPr>
          <p:cNvPr id="64" name="Straight Arrow Connector 63"/>
          <p:cNvCxnSpPr>
            <a:stCxn id="19" idx="3"/>
            <a:endCxn id="22" idx="1"/>
          </p:cNvCxnSpPr>
          <p:nvPr/>
        </p:nvCxnSpPr>
        <p:spPr>
          <a:xfrm>
            <a:off x="7286625" y="5057775"/>
            <a:ext cx="2105025" cy="0"/>
          </a:xfrm>
          <a:prstGeom prst="straightConnector1">
            <a:avLst/>
          </a:prstGeom>
          <a:ln w="19050">
            <a:solidFill>
              <a:srgbClr val="087F87"/>
            </a:solidFill>
            <a:tailEnd type="triangle" w="med" len="med"/>
          </a:ln>
        </p:spPr>
      </p:cxnSp>
      <p:sp>
        <p:nvSpPr>
          <p:cNvPr id="30" name="places">
            <a:extLst>
              <a:ext uri="{FF2B5EF4-FFF2-40B4-BE49-F238E27FC236}">
                <a16:creationId xmlns:a16="http://schemas.microsoft.com/office/drawing/2014/main" id="{8F70DBF9-E99F-4C35-BDE3-43573F6C61D2}"/>
              </a:ext>
            </a:extLst>
          </p:cNvPr>
          <p:cNvSpPr>
            <a:spLocks noGrp="1"/>
          </p:cNvSpPr>
          <p:nvPr/>
        </p:nvSpPr>
        <p:spPr>
          <a:xfrm>
            <a:off x="3095625" y="2495550"/>
            <a:ext cx="1190625" cy="266700"/>
          </a:xfrm>
          <a:prstGeom prst="rect">
            <a:avLst/>
          </a:prstGeom>
          <a:noFill/>
          <a:ln w="0">
            <a:noFill/>
          </a:ln>
        </p:spPr>
        <p:txBody>
          <a:bodyPr wrap="square" lIns="0" tIns="0" rIns="0" bIns="0" anchor="t">
            <a:noAutofit/>
          </a:bodyPr>
          <a:lstStyle/>
          <a:p>
            <a:pPr algn="ctr">
              <a:defRPr sz="1500" b="0">
                <a:solidFill>
                  <a:srgbClr val="536274"/>
                </a:solidFill>
                <a:latin typeface="Arial"/>
                <a:ea typeface="Arial"/>
                <a:cs typeface="Arial"/>
              </a:defRPr>
            </a:pPr>
            <a:r>
              <a:rPr sz="1500" b="0">
                <a:solidFill>
                  <a:srgbClr val="536274"/>
                </a:solidFill>
                <a:latin typeface="Arial"/>
                <a:ea typeface="Arial"/>
                <a:cs typeface="Arial"/>
              </a:rPr>
              <a:t>places</a:t>
            </a:r>
          </a:p>
        </p:txBody>
      </p:sp>
      <p:sp>
        <p:nvSpPr>
          <p:cNvPr id="31" name="requests">
            <a:extLst>
              <a:ext uri="{FF2B5EF4-FFF2-40B4-BE49-F238E27FC236}">
                <a16:creationId xmlns:a16="http://schemas.microsoft.com/office/drawing/2014/main" id="{E4BB1D96-0B3B-4AC5-8AD9-02A2C77E495A}"/>
              </a:ext>
            </a:extLst>
          </p:cNvPr>
          <p:cNvSpPr>
            <a:spLocks noGrp="1"/>
          </p:cNvSpPr>
          <p:nvPr/>
        </p:nvSpPr>
        <p:spPr>
          <a:xfrm>
            <a:off x="7800975" y="2495550"/>
            <a:ext cx="1257300" cy="266700"/>
          </a:xfrm>
          <a:prstGeom prst="rect">
            <a:avLst/>
          </a:prstGeom>
          <a:noFill/>
          <a:ln w="0">
            <a:noFill/>
          </a:ln>
        </p:spPr>
        <p:txBody>
          <a:bodyPr wrap="square" lIns="0" tIns="0" rIns="0" bIns="0" anchor="t">
            <a:noAutofit/>
          </a:bodyPr>
          <a:lstStyle/>
          <a:p>
            <a:pPr algn="ctr">
              <a:defRPr sz="1500" b="0">
                <a:solidFill>
                  <a:srgbClr val="536274"/>
                </a:solidFill>
                <a:latin typeface="Arial"/>
                <a:ea typeface="Arial"/>
                <a:cs typeface="Arial"/>
              </a:defRPr>
            </a:pPr>
            <a:r>
              <a:rPr sz="1500" b="0">
                <a:solidFill>
                  <a:srgbClr val="536274"/>
                </a:solidFill>
                <a:latin typeface="Arial"/>
                <a:ea typeface="Arial"/>
                <a:cs typeface="Arial"/>
              </a:rPr>
              <a:t>requests</a:t>
            </a:r>
          </a:p>
        </p:txBody>
      </p:sp>
      <p:sp>
        <p:nvSpPr>
          <p:cNvPr id="32" name="fulfilled by">
            <a:extLst>
              <a:ext uri="{FF2B5EF4-FFF2-40B4-BE49-F238E27FC236}">
                <a16:creationId xmlns:a16="http://schemas.microsoft.com/office/drawing/2014/main" id="{D1C7AC89-63C7-4969-8488-A0C868F863E3}"/>
              </a:ext>
            </a:extLst>
          </p:cNvPr>
          <p:cNvSpPr>
            <a:spLocks noGrp="1"/>
          </p:cNvSpPr>
          <p:nvPr/>
        </p:nvSpPr>
        <p:spPr>
          <a:xfrm>
            <a:off x="6153150" y="3800475"/>
            <a:ext cx="1571625" cy="26670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fulfilled by</a:t>
            </a:r>
          </a:p>
        </p:txBody>
      </p:sp>
      <p:sp>
        <p:nvSpPr>
          <p:cNvPr id="33" name="supplies">
            <a:extLst>
              <a:ext uri="{FF2B5EF4-FFF2-40B4-BE49-F238E27FC236}">
                <a16:creationId xmlns:a16="http://schemas.microsoft.com/office/drawing/2014/main" id="{C3C0E0C2-6D97-4974-B5DF-B24D3AF85C25}"/>
              </a:ext>
            </a:extLst>
          </p:cNvPr>
          <p:cNvSpPr>
            <a:spLocks noGrp="1"/>
          </p:cNvSpPr>
          <p:nvPr/>
        </p:nvSpPr>
        <p:spPr>
          <a:xfrm>
            <a:off x="3095625" y="4695825"/>
            <a:ext cx="1190625" cy="266700"/>
          </a:xfrm>
          <a:prstGeom prst="rect">
            <a:avLst/>
          </a:prstGeom>
          <a:noFill/>
          <a:ln w="0">
            <a:noFill/>
          </a:ln>
        </p:spPr>
        <p:txBody>
          <a:bodyPr wrap="square" lIns="0" tIns="0" rIns="0" bIns="0" anchor="t">
            <a:noAutofit/>
          </a:bodyPr>
          <a:lstStyle/>
          <a:p>
            <a:pPr algn="ctr">
              <a:defRPr sz="1500" b="0">
                <a:solidFill>
                  <a:srgbClr val="536274"/>
                </a:solidFill>
                <a:latin typeface="Arial"/>
                <a:ea typeface="Arial"/>
                <a:cs typeface="Arial"/>
              </a:defRPr>
            </a:pPr>
            <a:r>
              <a:rPr sz="1500" b="0">
                <a:solidFill>
                  <a:srgbClr val="536274"/>
                </a:solidFill>
                <a:latin typeface="Arial"/>
                <a:ea typeface="Arial"/>
                <a:cs typeface="Arial"/>
              </a:rPr>
              <a:t>supplies</a:t>
            </a:r>
          </a:p>
        </p:txBody>
      </p:sp>
      <p:sp>
        <p:nvSpPr>
          <p:cNvPr id="34" name="uses">
            <a:extLst>
              <a:ext uri="{FF2B5EF4-FFF2-40B4-BE49-F238E27FC236}">
                <a16:creationId xmlns:a16="http://schemas.microsoft.com/office/drawing/2014/main" id="{17B51FDC-A8C0-4B9B-9108-2F408D1E245E}"/>
              </a:ext>
            </a:extLst>
          </p:cNvPr>
          <p:cNvSpPr>
            <a:spLocks noGrp="1"/>
          </p:cNvSpPr>
          <p:nvPr/>
        </p:nvSpPr>
        <p:spPr>
          <a:xfrm>
            <a:off x="7800975" y="4695825"/>
            <a:ext cx="1257300" cy="266700"/>
          </a:xfrm>
          <a:prstGeom prst="rect">
            <a:avLst/>
          </a:prstGeom>
          <a:noFill/>
          <a:ln w="0">
            <a:noFill/>
          </a:ln>
        </p:spPr>
        <p:txBody>
          <a:bodyPr wrap="square" lIns="0" tIns="0" rIns="0" bIns="0" anchor="t">
            <a:noAutofit/>
          </a:bodyPr>
          <a:lstStyle/>
          <a:p>
            <a:pPr algn="ctr">
              <a:defRPr sz="1500" b="0">
                <a:solidFill>
                  <a:srgbClr val="536274"/>
                </a:solidFill>
                <a:latin typeface="Arial"/>
                <a:ea typeface="Arial"/>
                <a:cs typeface="Arial"/>
              </a:defRPr>
            </a:pPr>
            <a:r>
              <a:rPr sz="1500" b="0">
                <a:solidFill>
                  <a:srgbClr val="536274"/>
                </a:solidFill>
                <a:latin typeface="Arial"/>
                <a:ea typeface="Arial"/>
                <a:cs typeface="Arial"/>
              </a:rPr>
              <a:t>uses</a:t>
            </a:r>
          </a:p>
        </p:txBody>
      </p:sp>
      <p:sp>
        <p:nvSpPr>
          <p:cNvPr id="35" name="Entity matching and relationships require validation. A connectio">
            <a:extLst>
              <a:ext uri="{FF2B5EF4-FFF2-40B4-BE49-F238E27FC236}">
                <a16:creationId xmlns:a16="http://schemas.microsoft.com/office/drawing/2014/main" id="{237B79AD-48D6-4CA7-96A3-743FDDAE675D}"/>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Entity matching and relationships require validation. A connection in the model does not prove causation.</a:t>
            </a:r>
          </a:p>
        </p:txBody>
      </p:sp>
    </p:spTree>
    <p:extLst>
      <p:ext uri="{BB962C8B-B14F-4D97-AF65-F5344CB8AC3E}">
        <p14:creationId xmlns:p14="http://schemas.microsoft.com/office/powerpoint/2010/main" val="1828659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EB5C9516-956D-4DF2-B0B5-24E4581EC27F}"/>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The recursive self-improvement loop">
            <a:extLst>
              <a:ext uri="{FF2B5EF4-FFF2-40B4-BE49-F238E27FC236}">
                <a16:creationId xmlns:a16="http://schemas.microsoft.com/office/drawing/2014/main" id="{07C3813F-E25A-4E4F-BDBC-FCFD6528B1BF}"/>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The recursive self-improvement loop</a:t>
            </a:r>
          </a:p>
        </p:txBody>
      </p:sp>
      <p:sp>
        <p:nvSpPr>
          <p:cNvPr id="3" name="Proposed behavior: each evaluated outcome updates the company mod">
            <a:extLst>
              <a:ext uri="{FF2B5EF4-FFF2-40B4-BE49-F238E27FC236}">
                <a16:creationId xmlns:a16="http://schemas.microsoft.com/office/drawing/2014/main" id="{3C2D1ECA-A0FD-4C1E-8087-8F81EE59D839}"/>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Proposed behavior: each evaluated outcome updates the company model and the next decision.</a:t>
            </a:r>
          </a:p>
        </p:txBody>
      </p:sp>
      <p:sp>
        <p:nvSpPr>
          <p:cNvPr id="4" name="Rectangle 3">
            <a:extLst>
              <a:ext uri="{FF2B5EF4-FFF2-40B4-BE49-F238E27FC236}">
                <a16:creationId xmlns:a16="http://schemas.microsoft.com/office/drawing/2014/main" id="{0AC24BA4-4A0F-40AC-877B-33013977EC04}"/>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77413DA8-9575-4222-A99F-515B488F6B07}"/>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08">
            <a:extLst>
              <a:ext uri="{FF2B5EF4-FFF2-40B4-BE49-F238E27FC236}">
                <a16:creationId xmlns:a16="http://schemas.microsoft.com/office/drawing/2014/main" id="{EE49DEFF-5F7C-4674-A8D9-035FD6EDCED1}"/>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08</a:t>
            </a:r>
          </a:p>
        </p:txBody>
      </p:sp>
      <p:sp>
        <p:nvSpPr>
          <p:cNvPr id="7" name="Rectangle 6">
            <a:extLst>
              <a:ext uri="{FF2B5EF4-FFF2-40B4-BE49-F238E27FC236}">
                <a16:creationId xmlns:a16="http://schemas.microsoft.com/office/drawing/2014/main" id="{94DAB685-BC68-49DE-82A1-CFF818D946DD}"/>
              </a:ext>
            </a:extLst>
          </p:cNvPr>
          <p:cNvSpPr>
            <a:spLocks noGrp="1"/>
          </p:cNvSpPr>
          <p:nvPr/>
        </p:nvSpPr>
        <p:spPr>
          <a:xfrm>
            <a:off x="609600" y="2190750"/>
            <a:ext cx="2876550" cy="1009650"/>
          </a:xfrm>
          <a:prstGeom prst="rect">
            <a:avLst/>
          </a:prstGeom>
          <a:solidFill>
            <a:srgbClr val="F2F5F7"/>
          </a:solidFill>
          <a:ln w="9525">
            <a:solidFill>
              <a:srgbClr val="D8E0E6"/>
            </a:solidFill>
          </a:ln>
        </p:spPr>
        <p:txBody>
          <a:bodyPr/>
          <a:lstStyle/>
          <a:p>
            <a:endParaRPr lang="en-US"/>
          </a:p>
        </p:txBody>
      </p:sp>
      <p:sp>
        <p:nvSpPr>
          <p:cNvPr id="8" name="1  Sense">
            <a:extLst>
              <a:ext uri="{FF2B5EF4-FFF2-40B4-BE49-F238E27FC236}">
                <a16:creationId xmlns:a16="http://schemas.microsoft.com/office/drawing/2014/main" id="{35D58D60-4DA2-4255-8DED-AB7D9439CFB2}"/>
              </a:ext>
            </a:extLst>
          </p:cNvPr>
          <p:cNvSpPr>
            <a:spLocks noGrp="1"/>
          </p:cNvSpPr>
          <p:nvPr/>
        </p:nvSpPr>
        <p:spPr>
          <a:xfrm>
            <a:off x="762000" y="2333625"/>
            <a:ext cx="25717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1  Sense</a:t>
            </a:r>
          </a:p>
        </p:txBody>
      </p:sp>
      <p:sp>
        <p:nvSpPr>
          <p:cNvPr id="9" name="Refresh permitted evidence">
            <a:extLst>
              <a:ext uri="{FF2B5EF4-FFF2-40B4-BE49-F238E27FC236}">
                <a16:creationId xmlns:a16="http://schemas.microsoft.com/office/drawing/2014/main" id="{C8EC1685-624E-4BB3-A607-19896FA033A9}"/>
              </a:ext>
            </a:extLst>
          </p:cNvPr>
          <p:cNvSpPr>
            <a:spLocks noGrp="1"/>
          </p:cNvSpPr>
          <p:nvPr/>
        </p:nvSpPr>
        <p:spPr>
          <a:xfrm>
            <a:off x="762000" y="2714625"/>
            <a:ext cx="2571750" cy="45720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Refresh permitted evidence</a:t>
            </a:r>
          </a:p>
        </p:txBody>
      </p:sp>
      <p:sp>
        <p:nvSpPr>
          <p:cNvPr id="10" name="Rectangle 9">
            <a:extLst>
              <a:ext uri="{FF2B5EF4-FFF2-40B4-BE49-F238E27FC236}">
                <a16:creationId xmlns:a16="http://schemas.microsoft.com/office/drawing/2014/main" id="{A85C2CE8-B927-413C-A7D4-8BF8CE3C610B}"/>
              </a:ext>
            </a:extLst>
          </p:cNvPr>
          <p:cNvSpPr>
            <a:spLocks noGrp="1"/>
          </p:cNvSpPr>
          <p:nvPr/>
        </p:nvSpPr>
        <p:spPr>
          <a:xfrm>
            <a:off x="4657725" y="2190750"/>
            <a:ext cx="2876550" cy="1009650"/>
          </a:xfrm>
          <a:prstGeom prst="rect">
            <a:avLst/>
          </a:prstGeom>
          <a:solidFill>
            <a:srgbClr val="F2F5F7"/>
          </a:solidFill>
          <a:ln w="9525">
            <a:solidFill>
              <a:srgbClr val="D8E0E6"/>
            </a:solidFill>
          </a:ln>
        </p:spPr>
        <p:txBody>
          <a:bodyPr/>
          <a:lstStyle/>
          <a:p>
            <a:endParaRPr lang="en-US"/>
          </a:p>
        </p:txBody>
      </p:sp>
      <p:sp>
        <p:nvSpPr>
          <p:cNvPr id="11" name="2  Understand">
            <a:extLst>
              <a:ext uri="{FF2B5EF4-FFF2-40B4-BE49-F238E27FC236}">
                <a16:creationId xmlns:a16="http://schemas.microsoft.com/office/drawing/2014/main" id="{58B0321A-BFC8-465D-BA64-64D5CCE7CA9D}"/>
              </a:ext>
            </a:extLst>
          </p:cNvPr>
          <p:cNvSpPr>
            <a:spLocks noGrp="1"/>
          </p:cNvSpPr>
          <p:nvPr/>
        </p:nvSpPr>
        <p:spPr>
          <a:xfrm>
            <a:off x="4810125" y="2333625"/>
            <a:ext cx="25717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2  Understand</a:t>
            </a:r>
          </a:p>
        </p:txBody>
      </p:sp>
      <p:sp>
        <p:nvSpPr>
          <p:cNvPr id="12" name="Explain gaps and uncertainty">
            <a:extLst>
              <a:ext uri="{FF2B5EF4-FFF2-40B4-BE49-F238E27FC236}">
                <a16:creationId xmlns:a16="http://schemas.microsoft.com/office/drawing/2014/main" id="{84337398-CD14-4364-9404-B89EB340E3AB}"/>
              </a:ext>
            </a:extLst>
          </p:cNvPr>
          <p:cNvSpPr>
            <a:spLocks noGrp="1"/>
          </p:cNvSpPr>
          <p:nvPr/>
        </p:nvSpPr>
        <p:spPr>
          <a:xfrm>
            <a:off x="4810125" y="2714625"/>
            <a:ext cx="2571750" cy="45720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Explain gaps and uncertainty</a:t>
            </a:r>
          </a:p>
        </p:txBody>
      </p:sp>
      <p:sp>
        <p:nvSpPr>
          <p:cNvPr id="13" name="Rectangle 12">
            <a:extLst>
              <a:ext uri="{FF2B5EF4-FFF2-40B4-BE49-F238E27FC236}">
                <a16:creationId xmlns:a16="http://schemas.microsoft.com/office/drawing/2014/main" id="{0D16D91D-346C-477C-ABF2-8A4FA6DCD3AC}"/>
              </a:ext>
            </a:extLst>
          </p:cNvPr>
          <p:cNvSpPr>
            <a:spLocks noGrp="1"/>
          </p:cNvSpPr>
          <p:nvPr/>
        </p:nvSpPr>
        <p:spPr>
          <a:xfrm>
            <a:off x="8705850" y="2190750"/>
            <a:ext cx="2876550" cy="1009650"/>
          </a:xfrm>
          <a:prstGeom prst="rect">
            <a:avLst/>
          </a:prstGeom>
          <a:solidFill>
            <a:srgbClr val="F2F5F7"/>
          </a:solidFill>
          <a:ln w="9525">
            <a:solidFill>
              <a:srgbClr val="D8E0E6"/>
            </a:solidFill>
          </a:ln>
        </p:spPr>
        <p:txBody>
          <a:bodyPr/>
          <a:lstStyle/>
          <a:p>
            <a:endParaRPr lang="en-US"/>
          </a:p>
        </p:txBody>
      </p:sp>
      <p:sp>
        <p:nvSpPr>
          <p:cNvPr id="14" name="3  Decide">
            <a:extLst>
              <a:ext uri="{FF2B5EF4-FFF2-40B4-BE49-F238E27FC236}">
                <a16:creationId xmlns:a16="http://schemas.microsoft.com/office/drawing/2014/main" id="{3F1AD3A0-ECBA-4829-8EF3-043AD5AF7B36}"/>
              </a:ext>
            </a:extLst>
          </p:cNvPr>
          <p:cNvSpPr>
            <a:spLocks noGrp="1"/>
          </p:cNvSpPr>
          <p:nvPr/>
        </p:nvSpPr>
        <p:spPr>
          <a:xfrm>
            <a:off x="8858250" y="2333625"/>
            <a:ext cx="25717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3  Decide</a:t>
            </a:r>
          </a:p>
        </p:txBody>
      </p:sp>
      <p:sp>
        <p:nvSpPr>
          <p:cNvPr id="15" name="Compare bounded options">
            <a:extLst>
              <a:ext uri="{FF2B5EF4-FFF2-40B4-BE49-F238E27FC236}">
                <a16:creationId xmlns:a16="http://schemas.microsoft.com/office/drawing/2014/main" id="{66A22EDD-094B-42B9-8154-4F2EB01EBDE4}"/>
              </a:ext>
            </a:extLst>
          </p:cNvPr>
          <p:cNvSpPr>
            <a:spLocks noGrp="1"/>
          </p:cNvSpPr>
          <p:nvPr/>
        </p:nvSpPr>
        <p:spPr>
          <a:xfrm>
            <a:off x="8858250" y="2714625"/>
            <a:ext cx="2571750" cy="45720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Compare bounded options</a:t>
            </a:r>
          </a:p>
        </p:txBody>
      </p:sp>
      <p:sp>
        <p:nvSpPr>
          <p:cNvPr id="16" name="Rectangle 15">
            <a:extLst>
              <a:ext uri="{FF2B5EF4-FFF2-40B4-BE49-F238E27FC236}">
                <a16:creationId xmlns:a16="http://schemas.microsoft.com/office/drawing/2014/main" id="{5A40978F-2B9C-44FD-B2C4-C18D86A4163C}"/>
              </a:ext>
            </a:extLst>
          </p:cNvPr>
          <p:cNvSpPr>
            <a:spLocks noGrp="1"/>
          </p:cNvSpPr>
          <p:nvPr/>
        </p:nvSpPr>
        <p:spPr>
          <a:xfrm>
            <a:off x="8705850" y="4733925"/>
            <a:ext cx="2876550" cy="1009650"/>
          </a:xfrm>
          <a:prstGeom prst="rect">
            <a:avLst/>
          </a:prstGeom>
          <a:solidFill>
            <a:srgbClr val="112A46"/>
          </a:solidFill>
          <a:ln w="9525">
            <a:solidFill>
              <a:srgbClr val="D8E0E6"/>
            </a:solidFill>
          </a:ln>
        </p:spPr>
        <p:txBody>
          <a:bodyPr/>
          <a:lstStyle/>
          <a:p>
            <a:endParaRPr lang="en-US"/>
          </a:p>
        </p:txBody>
      </p:sp>
      <p:sp>
        <p:nvSpPr>
          <p:cNvPr id="17" name="4  Act">
            <a:extLst>
              <a:ext uri="{FF2B5EF4-FFF2-40B4-BE49-F238E27FC236}">
                <a16:creationId xmlns:a16="http://schemas.microsoft.com/office/drawing/2014/main" id="{8CC61092-6EBB-4B60-BBD8-502233F6145F}"/>
              </a:ext>
            </a:extLst>
          </p:cNvPr>
          <p:cNvSpPr>
            <a:spLocks noGrp="1"/>
          </p:cNvSpPr>
          <p:nvPr/>
        </p:nvSpPr>
        <p:spPr>
          <a:xfrm>
            <a:off x="8858250" y="4876800"/>
            <a:ext cx="2571750" cy="361950"/>
          </a:xfrm>
          <a:prstGeom prst="rect">
            <a:avLst/>
          </a:prstGeom>
          <a:noFill/>
          <a:ln w="0">
            <a:noFill/>
          </a:ln>
        </p:spPr>
        <p:txBody>
          <a:bodyPr wrap="square" lIns="0" tIns="0" rIns="0" bIns="0" anchor="t">
            <a:noAutofit/>
          </a:bodyPr>
          <a:lstStyle/>
          <a:p>
            <a:pPr algn="l">
              <a:defRPr sz="1875" b="1">
                <a:solidFill>
                  <a:srgbClr val="FFFFFF"/>
                </a:solidFill>
                <a:latin typeface="Arial"/>
                <a:ea typeface="Arial"/>
                <a:cs typeface="Arial"/>
              </a:defRPr>
            </a:pPr>
            <a:r>
              <a:rPr sz="1875" b="1">
                <a:solidFill>
                  <a:srgbClr val="FFFFFF"/>
                </a:solidFill>
                <a:latin typeface="Arial"/>
                <a:ea typeface="Arial"/>
                <a:cs typeface="Arial"/>
              </a:rPr>
              <a:t>4  Act</a:t>
            </a:r>
          </a:p>
        </p:txBody>
      </p:sp>
      <p:sp>
        <p:nvSpPr>
          <p:cNvPr id="18" name="Execute an approved change">
            <a:extLst>
              <a:ext uri="{FF2B5EF4-FFF2-40B4-BE49-F238E27FC236}">
                <a16:creationId xmlns:a16="http://schemas.microsoft.com/office/drawing/2014/main" id="{CC8FA05A-BBC7-454C-BF38-D15D552B1542}"/>
              </a:ext>
            </a:extLst>
          </p:cNvPr>
          <p:cNvSpPr>
            <a:spLocks noGrp="1"/>
          </p:cNvSpPr>
          <p:nvPr/>
        </p:nvSpPr>
        <p:spPr>
          <a:xfrm>
            <a:off x="8858250" y="5257800"/>
            <a:ext cx="2571750" cy="457200"/>
          </a:xfrm>
          <a:prstGeom prst="rect">
            <a:avLst/>
          </a:prstGeom>
          <a:noFill/>
          <a:ln w="0">
            <a:noFill/>
          </a:ln>
        </p:spPr>
        <p:txBody>
          <a:bodyPr wrap="square" lIns="0" tIns="0" rIns="0" bIns="0" anchor="t">
            <a:noAutofit/>
          </a:bodyPr>
          <a:lstStyle/>
          <a:p>
            <a:pPr algn="l">
              <a:defRPr sz="1500" b="0">
                <a:solidFill>
                  <a:srgbClr val="D4DEE7"/>
                </a:solidFill>
                <a:latin typeface="Arial"/>
                <a:ea typeface="Arial"/>
                <a:cs typeface="Arial"/>
              </a:defRPr>
            </a:pPr>
            <a:r>
              <a:rPr sz="1500" b="0">
                <a:solidFill>
                  <a:srgbClr val="D4DEE7"/>
                </a:solidFill>
                <a:latin typeface="Arial"/>
                <a:ea typeface="Arial"/>
                <a:cs typeface="Arial"/>
              </a:rPr>
              <a:t>Execute an approved change</a:t>
            </a:r>
          </a:p>
        </p:txBody>
      </p:sp>
      <p:sp>
        <p:nvSpPr>
          <p:cNvPr id="19" name="Rectangle 18">
            <a:extLst>
              <a:ext uri="{FF2B5EF4-FFF2-40B4-BE49-F238E27FC236}">
                <a16:creationId xmlns:a16="http://schemas.microsoft.com/office/drawing/2014/main" id="{3636BCF1-F4B9-4163-8AC1-F23F0F99B5CA}"/>
              </a:ext>
            </a:extLst>
          </p:cNvPr>
          <p:cNvSpPr>
            <a:spLocks noGrp="1"/>
          </p:cNvSpPr>
          <p:nvPr/>
        </p:nvSpPr>
        <p:spPr>
          <a:xfrm>
            <a:off x="4657725" y="4733925"/>
            <a:ext cx="2876550" cy="1009650"/>
          </a:xfrm>
          <a:prstGeom prst="rect">
            <a:avLst/>
          </a:prstGeom>
          <a:solidFill>
            <a:srgbClr val="F2F5F7"/>
          </a:solidFill>
          <a:ln w="9525">
            <a:solidFill>
              <a:srgbClr val="D8E0E6"/>
            </a:solidFill>
          </a:ln>
        </p:spPr>
        <p:txBody>
          <a:bodyPr/>
          <a:lstStyle/>
          <a:p>
            <a:endParaRPr lang="en-US"/>
          </a:p>
        </p:txBody>
      </p:sp>
      <p:sp>
        <p:nvSpPr>
          <p:cNvPr id="20" name="5  Measure">
            <a:extLst>
              <a:ext uri="{FF2B5EF4-FFF2-40B4-BE49-F238E27FC236}">
                <a16:creationId xmlns:a16="http://schemas.microsoft.com/office/drawing/2014/main" id="{E71A54E6-338E-4AFF-862F-E2EF1A4CA210}"/>
              </a:ext>
            </a:extLst>
          </p:cNvPr>
          <p:cNvSpPr>
            <a:spLocks noGrp="1"/>
          </p:cNvSpPr>
          <p:nvPr/>
        </p:nvSpPr>
        <p:spPr>
          <a:xfrm>
            <a:off x="4810125" y="4876800"/>
            <a:ext cx="25717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5  Measure</a:t>
            </a:r>
          </a:p>
        </p:txBody>
      </p:sp>
      <p:sp>
        <p:nvSpPr>
          <p:cNvPr id="21" name="Compare result with baseline">
            <a:extLst>
              <a:ext uri="{FF2B5EF4-FFF2-40B4-BE49-F238E27FC236}">
                <a16:creationId xmlns:a16="http://schemas.microsoft.com/office/drawing/2014/main" id="{885CCCE0-4E4B-49EB-9C2D-40D6FFA8B736}"/>
              </a:ext>
            </a:extLst>
          </p:cNvPr>
          <p:cNvSpPr>
            <a:spLocks noGrp="1"/>
          </p:cNvSpPr>
          <p:nvPr/>
        </p:nvSpPr>
        <p:spPr>
          <a:xfrm>
            <a:off x="4810125" y="5257800"/>
            <a:ext cx="2571750" cy="45720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Compare result with baseline</a:t>
            </a:r>
          </a:p>
        </p:txBody>
      </p:sp>
      <p:sp>
        <p:nvSpPr>
          <p:cNvPr id="22" name="Rectangle 21">
            <a:extLst>
              <a:ext uri="{FF2B5EF4-FFF2-40B4-BE49-F238E27FC236}">
                <a16:creationId xmlns:a16="http://schemas.microsoft.com/office/drawing/2014/main" id="{75CD4A96-C553-4415-9547-1FDB61419773}"/>
              </a:ext>
            </a:extLst>
          </p:cNvPr>
          <p:cNvSpPr>
            <a:spLocks noGrp="1"/>
          </p:cNvSpPr>
          <p:nvPr/>
        </p:nvSpPr>
        <p:spPr>
          <a:xfrm>
            <a:off x="609600" y="4733925"/>
            <a:ext cx="2876550" cy="1009650"/>
          </a:xfrm>
          <a:prstGeom prst="rect">
            <a:avLst/>
          </a:prstGeom>
          <a:solidFill>
            <a:srgbClr val="F2F5F7"/>
          </a:solidFill>
          <a:ln w="9525">
            <a:solidFill>
              <a:srgbClr val="D8E0E6"/>
            </a:solidFill>
          </a:ln>
        </p:spPr>
        <p:txBody>
          <a:bodyPr/>
          <a:lstStyle/>
          <a:p>
            <a:endParaRPr lang="en-US"/>
          </a:p>
        </p:txBody>
      </p:sp>
      <p:sp>
        <p:nvSpPr>
          <p:cNvPr id="23" name="6  Learn">
            <a:extLst>
              <a:ext uri="{FF2B5EF4-FFF2-40B4-BE49-F238E27FC236}">
                <a16:creationId xmlns:a16="http://schemas.microsoft.com/office/drawing/2014/main" id="{E3CECEF8-2116-4D1A-B1E4-13025AAEECCD}"/>
              </a:ext>
            </a:extLst>
          </p:cNvPr>
          <p:cNvSpPr>
            <a:spLocks noGrp="1"/>
          </p:cNvSpPr>
          <p:nvPr/>
        </p:nvSpPr>
        <p:spPr>
          <a:xfrm>
            <a:off x="762000" y="4876800"/>
            <a:ext cx="2571750" cy="361950"/>
          </a:xfrm>
          <a:prstGeom prst="rect">
            <a:avLst/>
          </a:prstGeom>
          <a:noFill/>
          <a:ln w="0">
            <a:noFill/>
          </a:ln>
        </p:spPr>
        <p:txBody>
          <a:bodyPr wrap="square" lIns="0" tIns="0" rIns="0" bIns="0" anchor="t">
            <a:noAutofit/>
          </a:bodyPr>
          <a:lstStyle/>
          <a:p>
            <a:pPr algn="l">
              <a:defRPr sz="1875" b="1">
                <a:solidFill>
                  <a:srgbClr val="112A46"/>
                </a:solidFill>
                <a:latin typeface="Arial"/>
                <a:ea typeface="Arial"/>
                <a:cs typeface="Arial"/>
              </a:defRPr>
            </a:pPr>
            <a:r>
              <a:rPr sz="1875" b="1">
                <a:solidFill>
                  <a:srgbClr val="112A46"/>
                </a:solidFill>
                <a:latin typeface="Arial"/>
                <a:ea typeface="Arial"/>
                <a:cs typeface="Arial"/>
              </a:rPr>
              <a:t>6  Learn</a:t>
            </a:r>
          </a:p>
        </p:txBody>
      </p:sp>
      <p:sp>
        <p:nvSpPr>
          <p:cNvPr id="24" name="Retain or reject the change">
            <a:extLst>
              <a:ext uri="{FF2B5EF4-FFF2-40B4-BE49-F238E27FC236}">
                <a16:creationId xmlns:a16="http://schemas.microsoft.com/office/drawing/2014/main" id="{632F9F4C-7A4B-4E74-BB47-68B1A9D9B353}"/>
              </a:ext>
            </a:extLst>
          </p:cNvPr>
          <p:cNvSpPr>
            <a:spLocks noGrp="1"/>
          </p:cNvSpPr>
          <p:nvPr/>
        </p:nvSpPr>
        <p:spPr>
          <a:xfrm>
            <a:off x="762000" y="5257800"/>
            <a:ext cx="2571750" cy="457200"/>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Retain or reject the change</a:t>
            </a:r>
          </a:p>
        </p:txBody>
      </p:sp>
      <p:cxnSp>
        <p:nvCxnSpPr>
          <p:cNvPr id="57" name="Straight Arrow Connector 56"/>
          <p:cNvCxnSpPr>
            <a:stCxn id="7" idx="3"/>
            <a:endCxn id="10" idx="1"/>
          </p:cNvCxnSpPr>
          <p:nvPr/>
        </p:nvCxnSpPr>
        <p:spPr>
          <a:xfrm>
            <a:off x="3486150" y="2695575"/>
            <a:ext cx="1171575" cy="0"/>
          </a:xfrm>
          <a:prstGeom prst="straightConnector1">
            <a:avLst/>
          </a:prstGeom>
          <a:ln w="19050">
            <a:solidFill>
              <a:srgbClr val="087F87"/>
            </a:solidFill>
            <a:tailEnd type="triangle" w="med" len="med"/>
          </a:ln>
        </p:spPr>
      </p:cxnSp>
      <p:cxnSp>
        <p:nvCxnSpPr>
          <p:cNvPr id="58" name="Straight Arrow Connector 57"/>
          <p:cNvCxnSpPr>
            <a:stCxn id="10" idx="3"/>
            <a:endCxn id="13" idx="1"/>
          </p:cNvCxnSpPr>
          <p:nvPr/>
        </p:nvCxnSpPr>
        <p:spPr>
          <a:xfrm>
            <a:off x="7534275" y="2695575"/>
            <a:ext cx="1171575" cy="0"/>
          </a:xfrm>
          <a:prstGeom prst="straightConnector1">
            <a:avLst/>
          </a:prstGeom>
          <a:ln w="19050">
            <a:solidFill>
              <a:srgbClr val="087F87"/>
            </a:solidFill>
            <a:tailEnd type="triangle" w="med" len="med"/>
          </a:ln>
        </p:spPr>
      </p:cxnSp>
      <p:cxnSp>
        <p:nvCxnSpPr>
          <p:cNvPr id="59" name="Straight Arrow Connector 58"/>
          <p:cNvCxnSpPr>
            <a:stCxn id="13" idx="2"/>
            <a:endCxn id="16" idx="0"/>
          </p:cNvCxnSpPr>
          <p:nvPr/>
        </p:nvCxnSpPr>
        <p:spPr>
          <a:xfrm>
            <a:off x="10144125" y="3200400"/>
            <a:ext cx="0" cy="1533525"/>
          </a:xfrm>
          <a:prstGeom prst="straightConnector1">
            <a:avLst/>
          </a:prstGeom>
          <a:ln w="19050">
            <a:solidFill>
              <a:srgbClr val="087F87"/>
            </a:solidFill>
            <a:tailEnd type="triangle" w="med" len="med"/>
          </a:ln>
        </p:spPr>
      </p:cxnSp>
      <p:cxnSp>
        <p:nvCxnSpPr>
          <p:cNvPr id="60" name="Straight Arrow Connector 59"/>
          <p:cNvCxnSpPr>
            <a:stCxn id="16" idx="1"/>
            <a:endCxn id="19" idx="3"/>
          </p:cNvCxnSpPr>
          <p:nvPr/>
        </p:nvCxnSpPr>
        <p:spPr>
          <a:xfrm flipH="1">
            <a:off x="7534275" y="5238750"/>
            <a:ext cx="1171575" cy="0"/>
          </a:xfrm>
          <a:prstGeom prst="straightConnector1">
            <a:avLst/>
          </a:prstGeom>
          <a:ln w="19050">
            <a:solidFill>
              <a:srgbClr val="087F87"/>
            </a:solidFill>
            <a:tailEnd type="triangle" w="med" len="med"/>
          </a:ln>
        </p:spPr>
      </p:cxnSp>
      <p:cxnSp>
        <p:nvCxnSpPr>
          <p:cNvPr id="61" name="Straight Arrow Connector 60"/>
          <p:cNvCxnSpPr>
            <a:stCxn id="19" idx="1"/>
            <a:endCxn id="22" idx="3"/>
          </p:cNvCxnSpPr>
          <p:nvPr/>
        </p:nvCxnSpPr>
        <p:spPr>
          <a:xfrm flipH="1">
            <a:off x="3486150" y="5238750"/>
            <a:ext cx="1171575" cy="0"/>
          </a:xfrm>
          <a:prstGeom prst="straightConnector1">
            <a:avLst/>
          </a:prstGeom>
          <a:ln w="19050">
            <a:solidFill>
              <a:srgbClr val="087F87"/>
            </a:solidFill>
            <a:tailEnd type="triangle" w="med" len="med"/>
          </a:ln>
        </p:spPr>
      </p:cxnSp>
      <p:cxnSp>
        <p:nvCxnSpPr>
          <p:cNvPr id="62" name="Straight Arrow Connector 61"/>
          <p:cNvCxnSpPr>
            <a:stCxn id="22" idx="0"/>
            <a:endCxn id="7" idx="2"/>
          </p:cNvCxnSpPr>
          <p:nvPr/>
        </p:nvCxnSpPr>
        <p:spPr>
          <a:xfrm flipV="1">
            <a:off x="2047875" y="3200400"/>
            <a:ext cx="0" cy="1533525"/>
          </a:xfrm>
          <a:prstGeom prst="straightConnector1">
            <a:avLst/>
          </a:prstGeom>
          <a:ln w="19050">
            <a:solidFill>
              <a:srgbClr val="087F87"/>
            </a:solidFill>
            <a:tailEnd type="triangle" w="med" len="med"/>
          </a:ln>
        </p:spPr>
      </p:cxnSp>
      <p:sp>
        <p:nvSpPr>
          <p:cNvPr id="31" name="Human objectives, permissions&#10;and stop controls govern the loop">
            <a:extLst>
              <a:ext uri="{FF2B5EF4-FFF2-40B4-BE49-F238E27FC236}">
                <a16:creationId xmlns:a16="http://schemas.microsoft.com/office/drawing/2014/main" id="{21FB1F5A-30AA-4B8B-9792-3D349B4CCCFC}"/>
              </a:ext>
            </a:extLst>
          </p:cNvPr>
          <p:cNvSpPr>
            <a:spLocks noGrp="1"/>
          </p:cNvSpPr>
          <p:nvPr/>
        </p:nvSpPr>
        <p:spPr>
          <a:xfrm>
            <a:off x="3352800" y="3619500"/>
            <a:ext cx="5486400" cy="752475"/>
          </a:xfrm>
          <a:prstGeom prst="rect">
            <a:avLst/>
          </a:prstGeom>
          <a:noFill/>
          <a:ln w="0">
            <a:noFill/>
          </a:ln>
        </p:spPr>
        <p:txBody>
          <a:bodyPr wrap="square" lIns="0" tIns="0" rIns="0" bIns="0" anchor="t">
            <a:noAutofit/>
          </a:bodyPr>
          <a:lstStyle/>
          <a:p>
            <a:pPr algn="ctr">
              <a:defRPr sz="2100" b="1">
                <a:solidFill>
                  <a:srgbClr val="112A46"/>
                </a:solidFill>
                <a:latin typeface="Arial"/>
                <a:ea typeface="Arial"/>
                <a:cs typeface="Arial"/>
              </a:defRPr>
            </a:pPr>
            <a:r>
              <a:rPr sz="2100" b="1">
                <a:solidFill>
                  <a:srgbClr val="112A46"/>
                </a:solidFill>
                <a:latin typeface="Arial"/>
                <a:ea typeface="Arial"/>
                <a:cs typeface="Arial"/>
              </a:rPr>
              <a:t>Human objectives, permissions</a:t>
            </a:r>
          </a:p>
          <a:p>
            <a:pPr algn="ctr">
              <a:defRPr sz="2100" b="1">
                <a:solidFill>
                  <a:srgbClr val="112A46"/>
                </a:solidFill>
                <a:latin typeface="Arial"/>
                <a:ea typeface="Arial"/>
                <a:cs typeface="Arial"/>
              </a:defRPr>
            </a:pPr>
            <a:r>
              <a:rPr sz="2100" b="1">
                <a:solidFill>
                  <a:srgbClr val="112A46"/>
                </a:solidFill>
                <a:latin typeface="Arial"/>
                <a:ea typeface="Arial"/>
                <a:cs typeface="Arial"/>
              </a:rPr>
              <a:t>and stop controls govern the loop</a:t>
            </a:r>
          </a:p>
        </p:txBody>
      </p:sp>
      <p:sp>
        <p:nvSpPr>
          <p:cNvPr id="32" name="A measured failure is useful evidence. Glinx should stop or revis">
            <a:extLst>
              <a:ext uri="{FF2B5EF4-FFF2-40B4-BE49-F238E27FC236}">
                <a16:creationId xmlns:a16="http://schemas.microsoft.com/office/drawing/2014/main" id="{274BF343-4E9F-4FED-852B-674900EF21AF}"/>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A measured failure is useful evidence. Glinx should stop or revise a workflow when results or guardrails deteriorate.</a:t>
            </a:r>
          </a:p>
        </p:txBody>
      </p:sp>
    </p:spTree>
    <p:extLst>
      <p:ext uri="{BB962C8B-B14F-4D97-AF65-F5344CB8AC3E}">
        <p14:creationId xmlns:p14="http://schemas.microsoft.com/office/powerpoint/2010/main" val="332137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C36DBC3-5DA4-487F-80A5-8ABA1B021D70}"/>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One late-order problem can become a learning cycle">
            <a:extLst>
              <a:ext uri="{FF2B5EF4-FFF2-40B4-BE49-F238E27FC236}">
                <a16:creationId xmlns:a16="http://schemas.microsoft.com/office/drawing/2014/main" id="{995C57EE-8482-49CB-ACEF-E6022FB7A120}"/>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One late-order problem can become a learning cycle</a:t>
            </a:r>
          </a:p>
        </p:txBody>
      </p:sp>
      <p:sp>
        <p:nvSpPr>
          <p:cNvPr id="3" name="Illustrative future workflow for a manufacturer. No customer resu">
            <a:extLst>
              <a:ext uri="{FF2B5EF4-FFF2-40B4-BE49-F238E27FC236}">
                <a16:creationId xmlns:a16="http://schemas.microsoft.com/office/drawing/2014/main" id="{0DF9F6CA-DC30-403E-878C-893B53936883}"/>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Illustrative future workflow for a manufacturer. No customer result or current capability claim.</a:t>
            </a:r>
          </a:p>
        </p:txBody>
      </p:sp>
      <p:sp>
        <p:nvSpPr>
          <p:cNvPr id="4" name="Rectangle 3">
            <a:extLst>
              <a:ext uri="{FF2B5EF4-FFF2-40B4-BE49-F238E27FC236}">
                <a16:creationId xmlns:a16="http://schemas.microsoft.com/office/drawing/2014/main" id="{3A0ADEF5-B5D3-4C2D-B93D-2B58F5807076}"/>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0A4A1999-56E7-4FA0-A8E6-2068198F086D}"/>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09">
            <a:extLst>
              <a:ext uri="{FF2B5EF4-FFF2-40B4-BE49-F238E27FC236}">
                <a16:creationId xmlns:a16="http://schemas.microsoft.com/office/drawing/2014/main" id="{ED8E06E8-66E4-42BF-9FF4-8503EA29420E}"/>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09</a:t>
            </a:r>
          </a:p>
        </p:txBody>
      </p:sp>
      <p:sp>
        <p:nvSpPr>
          <p:cNvPr id="7" name="“Why are shipments&#10;slipping while&#10;overtime rises?”">
            <a:extLst>
              <a:ext uri="{FF2B5EF4-FFF2-40B4-BE49-F238E27FC236}">
                <a16:creationId xmlns:a16="http://schemas.microsoft.com/office/drawing/2014/main" id="{9F31FBC0-62E7-4F51-BE1D-4CE76F421710}"/>
              </a:ext>
            </a:extLst>
          </p:cNvPr>
          <p:cNvSpPr>
            <a:spLocks noGrp="1"/>
          </p:cNvSpPr>
          <p:nvPr/>
        </p:nvSpPr>
        <p:spPr>
          <a:xfrm>
            <a:off x="609600" y="2343150"/>
            <a:ext cx="4524375" cy="1695450"/>
          </a:xfrm>
          <a:prstGeom prst="rect">
            <a:avLst/>
          </a:prstGeom>
          <a:noFill/>
          <a:ln w="0">
            <a:noFill/>
          </a:ln>
        </p:spPr>
        <p:txBody>
          <a:bodyPr wrap="square" lIns="0" tIns="0" rIns="0" bIns="0" anchor="t">
            <a:noAutofit/>
          </a:bodyPr>
          <a:lstStyle/>
          <a:p>
            <a:pPr algn="l">
              <a:defRPr sz="2775" b="1">
                <a:solidFill>
                  <a:srgbClr val="112A46"/>
                </a:solidFill>
                <a:latin typeface="Arial"/>
                <a:ea typeface="Arial"/>
                <a:cs typeface="Arial"/>
              </a:defRPr>
            </a:pPr>
            <a:r>
              <a:rPr sz="2775" b="1">
                <a:solidFill>
                  <a:srgbClr val="112A46"/>
                </a:solidFill>
                <a:latin typeface="Arial"/>
                <a:ea typeface="Arial"/>
                <a:cs typeface="Arial"/>
              </a:rPr>
              <a:t>“Why are shipments</a:t>
            </a:r>
          </a:p>
          <a:p>
            <a:pPr algn="l">
              <a:defRPr sz="2775" b="1">
                <a:solidFill>
                  <a:srgbClr val="112A46"/>
                </a:solidFill>
                <a:latin typeface="Arial"/>
                <a:ea typeface="Arial"/>
                <a:cs typeface="Arial"/>
              </a:defRPr>
            </a:pPr>
            <a:r>
              <a:rPr sz="2775" b="1">
                <a:solidFill>
                  <a:srgbClr val="112A46"/>
                </a:solidFill>
                <a:latin typeface="Arial"/>
                <a:ea typeface="Arial"/>
                <a:cs typeface="Arial"/>
              </a:rPr>
              <a:t>slipping while</a:t>
            </a:r>
          </a:p>
          <a:p>
            <a:pPr algn="l">
              <a:defRPr sz="2775" b="1">
                <a:solidFill>
                  <a:srgbClr val="112A46"/>
                </a:solidFill>
                <a:latin typeface="Arial"/>
                <a:ea typeface="Arial"/>
                <a:cs typeface="Arial"/>
              </a:defRPr>
            </a:pPr>
            <a:r>
              <a:rPr sz="2775" b="1">
                <a:solidFill>
                  <a:srgbClr val="112A46"/>
                </a:solidFill>
                <a:latin typeface="Arial"/>
                <a:ea typeface="Arial"/>
                <a:cs typeface="Arial"/>
              </a:rPr>
              <a:t>overtime rises?”</a:t>
            </a:r>
          </a:p>
        </p:txBody>
      </p:sp>
      <p:sp>
        <p:nvSpPr>
          <p:cNvPr id="8" name="The owner sets the goal:&#10;improve delivery while&#10;protecting margin">
            <a:extLst>
              <a:ext uri="{FF2B5EF4-FFF2-40B4-BE49-F238E27FC236}">
                <a16:creationId xmlns:a16="http://schemas.microsoft.com/office/drawing/2014/main" id="{E9AC5EF6-44F8-476B-AAC6-D189179DD4CD}"/>
              </a:ext>
            </a:extLst>
          </p:cNvPr>
          <p:cNvSpPr>
            <a:spLocks noGrp="1"/>
          </p:cNvSpPr>
          <p:nvPr/>
        </p:nvSpPr>
        <p:spPr>
          <a:xfrm>
            <a:off x="609600" y="4295775"/>
            <a:ext cx="4438650" cy="1200150"/>
          </a:xfrm>
          <a:prstGeom prst="rect">
            <a:avLst/>
          </a:prstGeom>
          <a:noFill/>
          <a:ln w="0">
            <a:noFill/>
          </a:ln>
        </p:spPr>
        <p:txBody>
          <a:bodyPr wrap="square" lIns="0" tIns="0" rIns="0" bIns="0" anchor="t">
            <a:noAutofit/>
          </a:bodyPr>
          <a:lstStyle/>
          <a:p>
            <a:pPr algn="l">
              <a:defRPr sz="1950" b="0">
                <a:solidFill>
                  <a:srgbClr val="536274"/>
                </a:solidFill>
                <a:latin typeface="Arial"/>
                <a:ea typeface="Arial"/>
                <a:cs typeface="Arial"/>
              </a:defRPr>
            </a:pPr>
            <a:r>
              <a:rPr sz="1950" b="0">
                <a:solidFill>
                  <a:srgbClr val="536274"/>
                </a:solidFill>
                <a:latin typeface="Arial"/>
                <a:ea typeface="Arial"/>
                <a:cs typeface="Arial"/>
              </a:rPr>
              <a:t>The owner sets the goal:</a:t>
            </a:r>
          </a:p>
          <a:p>
            <a:pPr algn="l">
              <a:defRPr sz="1950" b="0">
                <a:solidFill>
                  <a:srgbClr val="536274"/>
                </a:solidFill>
                <a:latin typeface="Arial"/>
                <a:ea typeface="Arial"/>
                <a:cs typeface="Arial"/>
              </a:defRPr>
            </a:pPr>
            <a:r>
              <a:rPr sz="1950" b="0">
                <a:solidFill>
                  <a:srgbClr val="536274"/>
                </a:solidFill>
                <a:latin typeface="Arial"/>
                <a:ea typeface="Arial"/>
                <a:cs typeface="Arial"/>
              </a:rPr>
              <a:t>improve delivery while</a:t>
            </a:r>
          </a:p>
          <a:p>
            <a:pPr algn="l">
              <a:defRPr sz="1950" b="0">
                <a:solidFill>
                  <a:srgbClr val="536274"/>
                </a:solidFill>
                <a:latin typeface="Arial"/>
                <a:ea typeface="Arial"/>
                <a:cs typeface="Arial"/>
              </a:defRPr>
            </a:pPr>
            <a:r>
              <a:rPr sz="1950" b="0">
                <a:solidFill>
                  <a:srgbClr val="536274"/>
                </a:solidFill>
                <a:latin typeface="Arial"/>
                <a:ea typeface="Arial"/>
                <a:cs typeface="Arial"/>
              </a:rPr>
              <a:t>protecting margin and quality.</a:t>
            </a:r>
          </a:p>
        </p:txBody>
      </p:sp>
      <p:sp>
        <p:nvSpPr>
          <p:cNvPr id="9" name="Evidence">
            <a:extLst>
              <a:ext uri="{FF2B5EF4-FFF2-40B4-BE49-F238E27FC236}">
                <a16:creationId xmlns:a16="http://schemas.microsoft.com/office/drawing/2014/main" id="{3549C6FD-E176-424B-A4B9-E2110AB8868A}"/>
              </a:ext>
            </a:extLst>
          </p:cNvPr>
          <p:cNvSpPr>
            <a:spLocks noGrp="1"/>
          </p:cNvSpPr>
          <p:nvPr/>
        </p:nvSpPr>
        <p:spPr>
          <a:xfrm>
            <a:off x="5686425" y="2238375"/>
            <a:ext cx="1714500" cy="333375"/>
          </a:xfrm>
          <a:prstGeom prst="rect">
            <a:avLst/>
          </a:prstGeom>
          <a:noFill/>
          <a:ln w="0">
            <a:noFill/>
          </a:ln>
        </p:spPr>
        <p:txBody>
          <a:bodyPr wrap="square" lIns="0" tIns="0" rIns="0" bIns="0" anchor="t">
            <a:noAutofit/>
          </a:bodyPr>
          <a:lstStyle/>
          <a:p>
            <a:pPr algn="l">
              <a:defRPr sz="1800" b="1">
                <a:solidFill>
                  <a:srgbClr val="087F87"/>
                </a:solidFill>
                <a:latin typeface="Arial"/>
                <a:ea typeface="Arial"/>
                <a:cs typeface="Arial"/>
              </a:defRPr>
            </a:pPr>
            <a:r>
              <a:rPr sz="1800" b="1">
                <a:solidFill>
                  <a:srgbClr val="087F87"/>
                </a:solidFill>
                <a:latin typeface="Arial"/>
                <a:ea typeface="Arial"/>
                <a:cs typeface="Arial"/>
              </a:rPr>
              <a:t>Evidence</a:t>
            </a:r>
          </a:p>
        </p:txBody>
      </p:sp>
      <p:sp>
        <p:nvSpPr>
          <p:cNvPr id="10" name="Order dates, material arrivals, routing times and overtime.">
            <a:extLst>
              <a:ext uri="{FF2B5EF4-FFF2-40B4-BE49-F238E27FC236}">
                <a16:creationId xmlns:a16="http://schemas.microsoft.com/office/drawing/2014/main" id="{A2707931-B811-4E39-8B79-1166CF2499E5}"/>
              </a:ext>
            </a:extLst>
          </p:cNvPr>
          <p:cNvSpPr>
            <a:spLocks noGrp="1"/>
          </p:cNvSpPr>
          <p:nvPr/>
        </p:nvSpPr>
        <p:spPr>
          <a:xfrm>
            <a:off x="7524750" y="2238375"/>
            <a:ext cx="4057650" cy="790575"/>
          </a:xfrm>
          <a:prstGeom prst="rect">
            <a:avLst/>
          </a:prstGeom>
          <a:noFill/>
          <a:ln w="0">
            <a:noFill/>
          </a:ln>
        </p:spPr>
        <p:txBody>
          <a:bodyPr wrap="square" lIns="0" tIns="0" rIns="0" bIns="0" anchor="t">
            <a:noAutofit/>
          </a:bodyPr>
          <a:lstStyle/>
          <a:p>
            <a:pPr algn="l">
              <a:defRPr sz="1725" b="0">
                <a:solidFill>
                  <a:srgbClr val="536274"/>
                </a:solidFill>
                <a:latin typeface="Arial"/>
                <a:ea typeface="Arial"/>
                <a:cs typeface="Arial"/>
              </a:defRPr>
            </a:pPr>
            <a:r>
              <a:rPr sz="1725" b="0">
                <a:solidFill>
                  <a:srgbClr val="536274"/>
                </a:solidFill>
                <a:latin typeface="Arial"/>
                <a:ea typeface="Arial"/>
                <a:cs typeface="Arial"/>
              </a:rPr>
              <a:t>Order dates, material arrivals, routing times and overtime.</a:t>
            </a:r>
          </a:p>
        </p:txBody>
      </p:sp>
      <p:sp>
        <p:nvSpPr>
          <p:cNvPr id="11" name="Rectangle 10">
            <a:extLst>
              <a:ext uri="{FF2B5EF4-FFF2-40B4-BE49-F238E27FC236}">
                <a16:creationId xmlns:a16="http://schemas.microsoft.com/office/drawing/2014/main" id="{DBD9717C-266F-4F52-834A-2D5C7F39DBCD}"/>
              </a:ext>
            </a:extLst>
          </p:cNvPr>
          <p:cNvSpPr>
            <a:spLocks noGrp="1"/>
          </p:cNvSpPr>
          <p:nvPr/>
        </p:nvSpPr>
        <p:spPr>
          <a:xfrm>
            <a:off x="5686425" y="3038475"/>
            <a:ext cx="5895975" cy="9525"/>
          </a:xfrm>
          <a:prstGeom prst="rect">
            <a:avLst/>
          </a:prstGeom>
          <a:solidFill>
            <a:srgbClr val="D8E0E6"/>
          </a:solidFill>
          <a:ln w="0">
            <a:noFill/>
          </a:ln>
        </p:spPr>
        <p:txBody>
          <a:bodyPr/>
          <a:lstStyle/>
          <a:p>
            <a:endParaRPr lang="en-US"/>
          </a:p>
        </p:txBody>
      </p:sp>
      <p:sp>
        <p:nvSpPr>
          <p:cNvPr id="12" name="Diagnosis">
            <a:extLst>
              <a:ext uri="{FF2B5EF4-FFF2-40B4-BE49-F238E27FC236}">
                <a16:creationId xmlns:a16="http://schemas.microsoft.com/office/drawing/2014/main" id="{01EA4B00-C435-4444-823F-E350A3D62800}"/>
              </a:ext>
            </a:extLst>
          </p:cNvPr>
          <p:cNvSpPr>
            <a:spLocks noGrp="1"/>
          </p:cNvSpPr>
          <p:nvPr/>
        </p:nvSpPr>
        <p:spPr>
          <a:xfrm>
            <a:off x="5686425" y="3181350"/>
            <a:ext cx="1714500" cy="333375"/>
          </a:xfrm>
          <a:prstGeom prst="rect">
            <a:avLst/>
          </a:prstGeom>
          <a:noFill/>
          <a:ln w="0">
            <a:noFill/>
          </a:ln>
        </p:spPr>
        <p:txBody>
          <a:bodyPr wrap="square" lIns="0" tIns="0" rIns="0" bIns="0" anchor="t">
            <a:noAutofit/>
          </a:bodyPr>
          <a:lstStyle/>
          <a:p>
            <a:pPr algn="l">
              <a:defRPr sz="1800" b="1">
                <a:solidFill>
                  <a:srgbClr val="087F87"/>
                </a:solidFill>
                <a:latin typeface="Arial"/>
                <a:ea typeface="Arial"/>
                <a:cs typeface="Arial"/>
              </a:defRPr>
            </a:pPr>
            <a:r>
              <a:rPr sz="1800" b="1">
                <a:solidFill>
                  <a:srgbClr val="087F87"/>
                </a:solidFill>
                <a:latin typeface="Arial"/>
                <a:ea typeface="Arial"/>
                <a:cs typeface="Arial"/>
              </a:rPr>
              <a:t>Diagnosis</a:t>
            </a:r>
          </a:p>
        </p:txBody>
      </p:sp>
      <p:sp>
        <p:nvSpPr>
          <p:cNvPr id="13" name="Test whether shortages, rework or a bottleneck explains the delay">
            <a:extLst>
              <a:ext uri="{FF2B5EF4-FFF2-40B4-BE49-F238E27FC236}">
                <a16:creationId xmlns:a16="http://schemas.microsoft.com/office/drawing/2014/main" id="{4B4AB64E-7209-4E39-ADB3-26F481018533}"/>
              </a:ext>
            </a:extLst>
          </p:cNvPr>
          <p:cNvSpPr>
            <a:spLocks noGrp="1"/>
          </p:cNvSpPr>
          <p:nvPr/>
        </p:nvSpPr>
        <p:spPr>
          <a:xfrm>
            <a:off x="7524750" y="3181350"/>
            <a:ext cx="4057650" cy="790575"/>
          </a:xfrm>
          <a:prstGeom prst="rect">
            <a:avLst/>
          </a:prstGeom>
          <a:noFill/>
          <a:ln w="0">
            <a:noFill/>
          </a:ln>
        </p:spPr>
        <p:txBody>
          <a:bodyPr wrap="square" lIns="0" tIns="0" rIns="0" bIns="0" anchor="t">
            <a:noAutofit/>
          </a:bodyPr>
          <a:lstStyle/>
          <a:p>
            <a:pPr algn="l">
              <a:defRPr sz="1725" b="0">
                <a:solidFill>
                  <a:srgbClr val="536274"/>
                </a:solidFill>
                <a:latin typeface="Arial"/>
                <a:ea typeface="Arial"/>
                <a:cs typeface="Arial"/>
              </a:defRPr>
            </a:pPr>
            <a:r>
              <a:rPr sz="1725" b="0">
                <a:solidFill>
                  <a:srgbClr val="536274"/>
                </a:solidFill>
                <a:latin typeface="Arial"/>
                <a:ea typeface="Arial"/>
                <a:cs typeface="Arial"/>
              </a:rPr>
              <a:t>Test whether shortages, rework or a bottleneck explains the delay.</a:t>
            </a:r>
          </a:p>
        </p:txBody>
      </p:sp>
      <p:sp>
        <p:nvSpPr>
          <p:cNvPr id="14" name="Rectangle 13">
            <a:extLst>
              <a:ext uri="{FF2B5EF4-FFF2-40B4-BE49-F238E27FC236}">
                <a16:creationId xmlns:a16="http://schemas.microsoft.com/office/drawing/2014/main" id="{83DA8D32-DE5C-46BB-AF47-E527001C48AD}"/>
              </a:ext>
            </a:extLst>
          </p:cNvPr>
          <p:cNvSpPr>
            <a:spLocks noGrp="1"/>
          </p:cNvSpPr>
          <p:nvPr/>
        </p:nvSpPr>
        <p:spPr>
          <a:xfrm>
            <a:off x="5686425" y="3981450"/>
            <a:ext cx="5895975" cy="9525"/>
          </a:xfrm>
          <a:prstGeom prst="rect">
            <a:avLst/>
          </a:prstGeom>
          <a:solidFill>
            <a:srgbClr val="D8E0E6"/>
          </a:solidFill>
          <a:ln w="0">
            <a:noFill/>
          </a:ln>
        </p:spPr>
        <p:txBody>
          <a:bodyPr/>
          <a:lstStyle/>
          <a:p>
            <a:endParaRPr lang="en-US"/>
          </a:p>
        </p:txBody>
      </p:sp>
      <p:sp>
        <p:nvSpPr>
          <p:cNvPr id="15" name="Action">
            <a:extLst>
              <a:ext uri="{FF2B5EF4-FFF2-40B4-BE49-F238E27FC236}">
                <a16:creationId xmlns:a16="http://schemas.microsoft.com/office/drawing/2014/main" id="{BA8C741F-7BD1-4A35-9ADD-B3FB92DED0A1}"/>
              </a:ext>
            </a:extLst>
          </p:cNvPr>
          <p:cNvSpPr>
            <a:spLocks noGrp="1"/>
          </p:cNvSpPr>
          <p:nvPr/>
        </p:nvSpPr>
        <p:spPr>
          <a:xfrm>
            <a:off x="5686425" y="4124325"/>
            <a:ext cx="1714500" cy="333375"/>
          </a:xfrm>
          <a:prstGeom prst="rect">
            <a:avLst/>
          </a:prstGeom>
          <a:noFill/>
          <a:ln w="0">
            <a:noFill/>
          </a:ln>
        </p:spPr>
        <p:txBody>
          <a:bodyPr wrap="square" lIns="0" tIns="0" rIns="0" bIns="0" anchor="t">
            <a:noAutofit/>
          </a:bodyPr>
          <a:lstStyle/>
          <a:p>
            <a:pPr algn="l">
              <a:defRPr sz="1800" b="1">
                <a:solidFill>
                  <a:srgbClr val="087F87"/>
                </a:solidFill>
                <a:latin typeface="Arial"/>
                <a:ea typeface="Arial"/>
                <a:cs typeface="Arial"/>
              </a:defRPr>
            </a:pPr>
            <a:r>
              <a:rPr sz="1800" b="1">
                <a:solidFill>
                  <a:srgbClr val="087F87"/>
                </a:solidFill>
                <a:latin typeface="Arial"/>
                <a:ea typeface="Arial"/>
                <a:cs typeface="Arial"/>
              </a:rPr>
              <a:t>Action</a:t>
            </a:r>
          </a:p>
        </p:txBody>
      </p:sp>
      <p:sp>
        <p:nvSpPr>
          <p:cNvPr id="16" name="Propose a limited schedule or purchasing change for owner approva">
            <a:extLst>
              <a:ext uri="{FF2B5EF4-FFF2-40B4-BE49-F238E27FC236}">
                <a16:creationId xmlns:a16="http://schemas.microsoft.com/office/drawing/2014/main" id="{6330244E-A3A9-4E22-BA86-F5C71AF564ED}"/>
              </a:ext>
            </a:extLst>
          </p:cNvPr>
          <p:cNvSpPr>
            <a:spLocks noGrp="1"/>
          </p:cNvSpPr>
          <p:nvPr/>
        </p:nvSpPr>
        <p:spPr>
          <a:xfrm>
            <a:off x="7524750" y="4124325"/>
            <a:ext cx="4057650" cy="790575"/>
          </a:xfrm>
          <a:prstGeom prst="rect">
            <a:avLst/>
          </a:prstGeom>
          <a:noFill/>
          <a:ln w="0">
            <a:noFill/>
          </a:ln>
        </p:spPr>
        <p:txBody>
          <a:bodyPr wrap="square" lIns="0" tIns="0" rIns="0" bIns="0" anchor="t">
            <a:noAutofit/>
          </a:bodyPr>
          <a:lstStyle/>
          <a:p>
            <a:pPr algn="l">
              <a:defRPr sz="1725" b="0">
                <a:solidFill>
                  <a:srgbClr val="536274"/>
                </a:solidFill>
                <a:latin typeface="Arial"/>
                <a:ea typeface="Arial"/>
                <a:cs typeface="Arial"/>
              </a:defRPr>
            </a:pPr>
            <a:r>
              <a:rPr sz="1725" b="0">
                <a:solidFill>
                  <a:srgbClr val="536274"/>
                </a:solidFill>
                <a:latin typeface="Arial"/>
                <a:ea typeface="Arial"/>
                <a:cs typeface="Arial"/>
              </a:rPr>
              <a:t>Propose a limited schedule or purchasing change for owner approval.</a:t>
            </a:r>
          </a:p>
        </p:txBody>
      </p:sp>
      <p:sp>
        <p:nvSpPr>
          <p:cNvPr id="17" name="Rectangle 16">
            <a:extLst>
              <a:ext uri="{FF2B5EF4-FFF2-40B4-BE49-F238E27FC236}">
                <a16:creationId xmlns:a16="http://schemas.microsoft.com/office/drawing/2014/main" id="{5EA9FFC5-354D-4211-B421-09F6A0B9446B}"/>
              </a:ext>
            </a:extLst>
          </p:cNvPr>
          <p:cNvSpPr>
            <a:spLocks noGrp="1"/>
          </p:cNvSpPr>
          <p:nvPr/>
        </p:nvSpPr>
        <p:spPr>
          <a:xfrm>
            <a:off x="5686425" y="4924425"/>
            <a:ext cx="5895975" cy="9525"/>
          </a:xfrm>
          <a:prstGeom prst="rect">
            <a:avLst/>
          </a:prstGeom>
          <a:solidFill>
            <a:srgbClr val="D8E0E6"/>
          </a:solidFill>
          <a:ln w="0">
            <a:noFill/>
          </a:ln>
        </p:spPr>
        <p:txBody>
          <a:bodyPr/>
          <a:lstStyle/>
          <a:p>
            <a:endParaRPr lang="en-US"/>
          </a:p>
        </p:txBody>
      </p:sp>
      <p:sp>
        <p:nvSpPr>
          <p:cNvPr id="18" name="Learning">
            <a:extLst>
              <a:ext uri="{FF2B5EF4-FFF2-40B4-BE49-F238E27FC236}">
                <a16:creationId xmlns:a16="http://schemas.microsoft.com/office/drawing/2014/main" id="{E18F0623-ACD3-4A3F-8E78-49A4B5BB08E1}"/>
              </a:ext>
            </a:extLst>
          </p:cNvPr>
          <p:cNvSpPr>
            <a:spLocks noGrp="1"/>
          </p:cNvSpPr>
          <p:nvPr/>
        </p:nvSpPr>
        <p:spPr>
          <a:xfrm>
            <a:off x="5686425" y="5067300"/>
            <a:ext cx="1714500" cy="333375"/>
          </a:xfrm>
          <a:prstGeom prst="rect">
            <a:avLst/>
          </a:prstGeom>
          <a:noFill/>
          <a:ln w="0">
            <a:noFill/>
          </a:ln>
        </p:spPr>
        <p:txBody>
          <a:bodyPr wrap="square" lIns="0" tIns="0" rIns="0" bIns="0" anchor="t">
            <a:noAutofit/>
          </a:bodyPr>
          <a:lstStyle/>
          <a:p>
            <a:pPr algn="l">
              <a:defRPr sz="1800" b="1">
                <a:solidFill>
                  <a:srgbClr val="087F87"/>
                </a:solidFill>
                <a:latin typeface="Arial"/>
                <a:ea typeface="Arial"/>
                <a:cs typeface="Arial"/>
              </a:defRPr>
            </a:pPr>
            <a:r>
              <a:rPr sz="1800" b="1">
                <a:solidFill>
                  <a:srgbClr val="087F87"/>
                </a:solidFill>
                <a:latin typeface="Arial"/>
                <a:ea typeface="Arial"/>
                <a:cs typeface="Arial"/>
              </a:rPr>
              <a:t>Learning</a:t>
            </a:r>
          </a:p>
        </p:txBody>
      </p:sp>
      <p:sp>
        <p:nvSpPr>
          <p:cNvPr id="19" name="Measure delivery and cost. Update the next review using the resul">
            <a:extLst>
              <a:ext uri="{FF2B5EF4-FFF2-40B4-BE49-F238E27FC236}">
                <a16:creationId xmlns:a16="http://schemas.microsoft.com/office/drawing/2014/main" id="{07B60C96-7729-46D3-ACA7-53B189A000D7}"/>
              </a:ext>
            </a:extLst>
          </p:cNvPr>
          <p:cNvSpPr>
            <a:spLocks noGrp="1"/>
          </p:cNvSpPr>
          <p:nvPr/>
        </p:nvSpPr>
        <p:spPr>
          <a:xfrm>
            <a:off x="7524750" y="5067300"/>
            <a:ext cx="4057650" cy="790575"/>
          </a:xfrm>
          <a:prstGeom prst="rect">
            <a:avLst/>
          </a:prstGeom>
          <a:noFill/>
          <a:ln w="0">
            <a:noFill/>
          </a:ln>
        </p:spPr>
        <p:txBody>
          <a:bodyPr wrap="square" lIns="0" tIns="0" rIns="0" bIns="0" anchor="t">
            <a:noAutofit/>
          </a:bodyPr>
          <a:lstStyle/>
          <a:p>
            <a:pPr algn="l">
              <a:defRPr sz="1725" b="0">
                <a:solidFill>
                  <a:srgbClr val="536274"/>
                </a:solidFill>
                <a:latin typeface="Arial"/>
                <a:ea typeface="Arial"/>
                <a:cs typeface="Arial"/>
              </a:defRPr>
            </a:pPr>
            <a:r>
              <a:rPr sz="1725" b="0">
                <a:solidFill>
                  <a:srgbClr val="536274"/>
                </a:solidFill>
                <a:latin typeface="Arial"/>
                <a:ea typeface="Arial"/>
                <a:cs typeface="Arial"/>
              </a:rPr>
              <a:t>Measure delivery and cost. Update the next review using the result.</a:t>
            </a:r>
          </a:p>
        </p:txBody>
      </p:sp>
      <p:sp>
        <p:nvSpPr>
          <p:cNvPr id="20" name="Rectangle 19">
            <a:extLst>
              <a:ext uri="{FF2B5EF4-FFF2-40B4-BE49-F238E27FC236}">
                <a16:creationId xmlns:a16="http://schemas.microsoft.com/office/drawing/2014/main" id="{F5A8552F-A295-416C-BB78-DD82BF4FCBD9}"/>
              </a:ext>
            </a:extLst>
          </p:cNvPr>
          <p:cNvSpPr>
            <a:spLocks noGrp="1"/>
          </p:cNvSpPr>
          <p:nvPr/>
        </p:nvSpPr>
        <p:spPr>
          <a:xfrm>
            <a:off x="5686425" y="5867400"/>
            <a:ext cx="5895975" cy="9525"/>
          </a:xfrm>
          <a:prstGeom prst="rect">
            <a:avLst/>
          </a:prstGeom>
          <a:solidFill>
            <a:srgbClr val="D8E0E6"/>
          </a:solidFill>
          <a:ln w="0">
            <a:noFill/>
          </a:ln>
        </p:spPr>
        <p:txBody>
          <a:bodyPr/>
          <a:lstStyle/>
          <a:p>
            <a:endParaRPr lang="en-US"/>
          </a:p>
        </p:txBody>
      </p:sp>
    </p:spTree>
    <p:extLst>
      <p:ext uri="{BB962C8B-B14F-4D97-AF65-F5344CB8AC3E}">
        <p14:creationId xmlns:p14="http://schemas.microsoft.com/office/powerpoint/2010/main" val="1348131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BD6717F-D362-4A7E-96BF-84FAE2F09CC0}"/>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Who would use Glinx">
            <a:extLst>
              <a:ext uri="{FF2B5EF4-FFF2-40B4-BE49-F238E27FC236}">
                <a16:creationId xmlns:a16="http://schemas.microsoft.com/office/drawing/2014/main" id="{E7913E6A-29BE-4676-8276-6509EC6F1D31}"/>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Who would use Glinx</a:t>
            </a:r>
          </a:p>
        </p:txBody>
      </p:sp>
      <p:sp>
        <p:nvSpPr>
          <p:cNvPr id="3" name="Proposed first customer: a manufacturer with 100–499 employees, s">
            <a:extLst>
              <a:ext uri="{FF2B5EF4-FFF2-40B4-BE49-F238E27FC236}">
                <a16:creationId xmlns:a16="http://schemas.microsoft.com/office/drawing/2014/main" id="{015AE040-7BE4-4CFD-A551-E7F5CA7E2BD9}"/>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Proposed first customer: a manufacturer with 100–499 employees, several systems and a costly recurring problem.</a:t>
            </a:r>
          </a:p>
        </p:txBody>
      </p:sp>
      <p:sp>
        <p:nvSpPr>
          <p:cNvPr id="4" name="Rectangle 3">
            <a:extLst>
              <a:ext uri="{FF2B5EF4-FFF2-40B4-BE49-F238E27FC236}">
                <a16:creationId xmlns:a16="http://schemas.microsoft.com/office/drawing/2014/main" id="{6274E091-1B45-4D18-A352-A0D2EAF9FD15}"/>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8DB68E3A-6B73-4176-9EBD-32C42E474D18}"/>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0">
            <a:extLst>
              <a:ext uri="{FF2B5EF4-FFF2-40B4-BE49-F238E27FC236}">
                <a16:creationId xmlns:a16="http://schemas.microsoft.com/office/drawing/2014/main" id="{CF7BECC6-6F3B-469C-B886-E4C87C765ADC}"/>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10</a:t>
            </a:r>
          </a:p>
        </p:txBody>
      </p:sp>
      <p:graphicFrame>
        <p:nvGraphicFramePr>
          <p:cNvPr id="15" name="Table 14"/>
          <p:cNvGraphicFramePr/>
          <p:nvPr/>
        </p:nvGraphicFramePr>
        <p:xfrm>
          <a:off x="609600" y="2238375"/>
          <a:ext cx="10972800" cy="3600450"/>
        </p:xfrm>
        <a:graphic>
          <a:graphicData uri="http://schemas.openxmlformats.org/drawingml/2006/table">
            <a:tbl>
              <a:tblPr/>
              <a:tblGrid>
                <a:gridCol w="3238500">
                  <a:extLst>
                    <a:ext uri="{9D8B030D-6E8A-4147-A177-3AD203B41FA5}">
                      <a16:colId xmlns:a16="http://schemas.microsoft.com/office/drawing/2014/main" val="20000"/>
                    </a:ext>
                  </a:extLst>
                </a:gridCol>
                <a:gridCol w="39243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Role in the customer</a:t>
                      </a:r>
                    </a:p>
                  </a:txBody>
                  <a:tcPr anchor="ctr">
                    <a:solidFill>
                      <a:srgbClr val="112A46"/>
                    </a:solidFill>
                  </a:tcPr>
                </a:tc>
                <a:tc>
                  <a:txBody>
                    <a:bodyPr/>
                    <a:lstStyle/>
                    <a:p>
                      <a:r>
                        <a:rPr sz="1500" b="1">
                          <a:solidFill>
                            <a:srgbClr val="FFFFFF"/>
                          </a:solidFill>
                          <a:latin typeface="Arial"/>
                          <a:ea typeface="Arial"/>
                          <a:cs typeface="Arial"/>
                        </a:rPr>
                        <a:t>Why they would use it</a:t>
                      </a:r>
                    </a:p>
                  </a:txBody>
                  <a:tcPr anchor="ctr">
                    <a:solidFill>
                      <a:srgbClr val="112A46"/>
                    </a:solidFill>
                  </a:tcPr>
                </a:tc>
                <a:tc>
                  <a:txBody>
                    <a:bodyPr/>
                    <a:lstStyle/>
                    <a:p>
                      <a:r>
                        <a:rPr sz="1500" b="1">
                          <a:solidFill>
                            <a:srgbClr val="FFFFFF"/>
                          </a:solidFill>
                          <a:latin typeface="Arial"/>
                          <a:ea typeface="Arial"/>
                          <a:cs typeface="Arial"/>
                        </a:rPr>
                        <a:t>What they would decide</a:t>
                      </a:r>
                    </a:p>
                  </a:txBody>
                  <a:tcPr anchor="ctr">
                    <a:solidFill>
                      <a:srgbClr val="112A46"/>
                    </a:solidFill>
                  </a:tcPr>
                </a:tc>
                <a:extLst>
                  <a:ext uri="{0D108BD9-81ED-4DB2-BD59-A6C34878D82A}">
                    <a16:rowId xmlns:a16="http://schemas.microsoft.com/office/drawing/2014/main" val="10000"/>
                  </a:ext>
                </a:extLst>
              </a:tr>
              <a:tr h="776288">
                <a:tc>
                  <a:txBody>
                    <a:bodyPr/>
                    <a:lstStyle/>
                    <a:p>
                      <a:r>
                        <a:rPr sz="1725" b="1">
                          <a:solidFill>
                            <a:srgbClr val="112A46"/>
                          </a:solidFill>
                          <a:latin typeface="Arial"/>
                          <a:ea typeface="Arial"/>
                          <a:cs typeface="Arial"/>
                        </a:rPr>
                        <a:t>Owner or CEO</a:t>
                      </a:r>
                    </a:p>
                    <a:p>
                      <a:r>
                        <a:rPr sz="1725" b="1">
                          <a:solidFill>
                            <a:srgbClr val="112A46"/>
                          </a:solidFill>
                          <a:latin typeface="Arial"/>
                          <a:ea typeface="Arial"/>
                          <a:cs typeface="Arial"/>
                        </a:rPr>
                        <a:t>Economic buyer</a:t>
                      </a:r>
                    </a:p>
                  </a:txBody>
                  <a:tcPr anchor="ctr">
                    <a:solidFill>
                      <a:srgbClr val="FFFFFF"/>
                    </a:solidFill>
                  </a:tcPr>
                </a:tc>
                <a:tc>
                  <a:txBody>
                    <a:bodyPr/>
                    <a:lstStyle/>
                    <a:p>
                      <a:r>
                        <a:rPr sz="1725" b="0">
                          <a:solidFill>
                            <a:srgbClr val="112A46"/>
                          </a:solidFill>
                          <a:latin typeface="Arial"/>
                          <a:ea typeface="Arial"/>
                          <a:cs typeface="Arial"/>
                        </a:rPr>
                        <a:t>See the condition of the business</a:t>
                      </a:r>
                    </a:p>
                  </a:txBody>
                  <a:tcPr anchor="ctr">
                    <a:solidFill>
                      <a:srgbClr val="FFFFFF"/>
                    </a:solidFill>
                  </a:tcPr>
                </a:tc>
                <a:tc>
                  <a:txBody>
                    <a:bodyPr/>
                    <a:lstStyle/>
                    <a:p>
                      <a:r>
                        <a:rPr sz="1725" b="0">
                          <a:solidFill>
                            <a:srgbClr val="112A46"/>
                          </a:solidFill>
                          <a:latin typeface="Arial"/>
                          <a:ea typeface="Arial"/>
                          <a:cs typeface="Arial"/>
                        </a:rPr>
                        <a:t>Objectives, budget and priorities</a:t>
                      </a:r>
                    </a:p>
                  </a:txBody>
                  <a:tcPr anchor="ctr">
                    <a:solidFill>
                      <a:srgbClr val="FFFFFF"/>
                    </a:solidFill>
                  </a:tcPr>
                </a:tc>
                <a:extLst>
                  <a:ext uri="{0D108BD9-81ED-4DB2-BD59-A6C34878D82A}">
                    <a16:rowId xmlns:a16="http://schemas.microsoft.com/office/drawing/2014/main" val="10001"/>
                  </a:ext>
                </a:extLst>
              </a:tr>
              <a:tr h="776288">
                <a:tc>
                  <a:txBody>
                    <a:bodyPr/>
                    <a:lstStyle/>
                    <a:p>
                      <a:r>
                        <a:rPr sz="1725" b="1">
                          <a:solidFill>
                            <a:srgbClr val="112A46"/>
                          </a:solidFill>
                          <a:latin typeface="Arial"/>
                          <a:ea typeface="Arial"/>
                          <a:cs typeface="Arial"/>
                        </a:rPr>
                        <a:t>COO or plant leader</a:t>
                      </a:r>
                    </a:p>
                    <a:p>
                      <a:r>
                        <a:rPr sz="1725" b="1">
                          <a:solidFill>
                            <a:srgbClr val="112A46"/>
                          </a:solidFill>
                          <a:latin typeface="Arial"/>
                          <a:ea typeface="Arial"/>
                          <a:cs typeface="Arial"/>
                        </a:rPr>
                        <a:t>Operating champion</a:t>
                      </a:r>
                    </a:p>
                  </a:txBody>
                  <a:tcPr anchor="ctr">
                    <a:solidFill>
                      <a:srgbClr val="F2F5F7"/>
                    </a:solidFill>
                  </a:tcPr>
                </a:tc>
                <a:tc>
                  <a:txBody>
                    <a:bodyPr/>
                    <a:lstStyle/>
                    <a:p>
                      <a:r>
                        <a:rPr sz="1725" b="0">
                          <a:solidFill>
                            <a:srgbClr val="112A46"/>
                          </a:solidFill>
                          <a:latin typeface="Arial"/>
                          <a:ea typeface="Arial"/>
                          <a:cs typeface="Arial"/>
                        </a:rPr>
                        <a:t>Investigate gaps across functions</a:t>
                      </a:r>
                    </a:p>
                  </a:txBody>
                  <a:tcPr anchor="ctr">
                    <a:solidFill>
                      <a:srgbClr val="F2F5F7"/>
                    </a:solidFill>
                  </a:tcPr>
                </a:tc>
                <a:tc>
                  <a:txBody>
                    <a:bodyPr/>
                    <a:lstStyle/>
                    <a:p>
                      <a:r>
                        <a:rPr sz="1725" b="0">
                          <a:solidFill>
                            <a:srgbClr val="112A46"/>
                          </a:solidFill>
                          <a:latin typeface="Arial"/>
                          <a:ea typeface="Arial"/>
                          <a:cs typeface="Arial"/>
                        </a:rPr>
                        <a:t>Which improvement to test</a:t>
                      </a:r>
                    </a:p>
                  </a:txBody>
                  <a:tcPr anchor="ctr">
                    <a:solidFill>
                      <a:srgbClr val="F2F5F7"/>
                    </a:solidFill>
                  </a:tcPr>
                </a:tc>
                <a:extLst>
                  <a:ext uri="{0D108BD9-81ED-4DB2-BD59-A6C34878D82A}">
                    <a16:rowId xmlns:a16="http://schemas.microsoft.com/office/drawing/2014/main" val="10002"/>
                  </a:ext>
                </a:extLst>
              </a:tr>
              <a:tr h="776288">
                <a:tc>
                  <a:txBody>
                    <a:bodyPr/>
                    <a:lstStyle/>
                    <a:p>
                      <a:r>
                        <a:rPr sz="1725" b="1">
                          <a:solidFill>
                            <a:srgbClr val="112A46"/>
                          </a:solidFill>
                          <a:latin typeface="Arial"/>
                          <a:ea typeface="Arial"/>
                          <a:cs typeface="Arial"/>
                        </a:rPr>
                        <a:t>Finance and process owners</a:t>
                      </a:r>
                    </a:p>
                    <a:p>
                      <a:r>
                        <a:rPr sz="1725" b="1">
                          <a:solidFill>
                            <a:srgbClr val="112A46"/>
                          </a:solidFill>
                          <a:latin typeface="Arial"/>
                          <a:ea typeface="Arial"/>
                          <a:cs typeface="Arial"/>
                        </a:rPr>
                        <a:t>Daily users</a:t>
                      </a:r>
                    </a:p>
                  </a:txBody>
                  <a:tcPr anchor="ctr">
                    <a:solidFill>
                      <a:srgbClr val="FFFFFF"/>
                    </a:solidFill>
                  </a:tcPr>
                </a:tc>
                <a:tc>
                  <a:txBody>
                    <a:bodyPr/>
                    <a:lstStyle/>
                    <a:p>
                      <a:r>
                        <a:rPr sz="1725" b="0">
                          <a:solidFill>
                            <a:srgbClr val="112A46"/>
                          </a:solidFill>
                          <a:latin typeface="Arial"/>
                          <a:ea typeface="Arial"/>
                          <a:cs typeface="Arial"/>
                        </a:rPr>
                        <a:t>Validate evidence and track outcomes</a:t>
                      </a:r>
                    </a:p>
                  </a:txBody>
                  <a:tcPr anchor="ctr">
                    <a:solidFill>
                      <a:srgbClr val="FFFFFF"/>
                    </a:solidFill>
                  </a:tcPr>
                </a:tc>
                <a:tc>
                  <a:txBody>
                    <a:bodyPr/>
                    <a:lstStyle/>
                    <a:p>
                      <a:r>
                        <a:rPr sz="1725" b="0">
                          <a:solidFill>
                            <a:srgbClr val="112A46"/>
                          </a:solidFill>
                          <a:latin typeface="Arial"/>
                          <a:ea typeface="Arial"/>
                          <a:cs typeface="Arial"/>
                        </a:rPr>
                        <a:t>Whether the change created value</a:t>
                      </a:r>
                    </a:p>
                  </a:txBody>
                  <a:tcPr anchor="ctr">
                    <a:solidFill>
                      <a:srgbClr val="FFFFFF"/>
                    </a:solidFill>
                  </a:tcPr>
                </a:tc>
                <a:extLst>
                  <a:ext uri="{0D108BD9-81ED-4DB2-BD59-A6C34878D82A}">
                    <a16:rowId xmlns:a16="http://schemas.microsoft.com/office/drawing/2014/main" val="10003"/>
                  </a:ext>
                </a:extLst>
              </a:tr>
              <a:tr h="776288">
                <a:tc>
                  <a:txBody>
                    <a:bodyPr/>
                    <a:lstStyle/>
                    <a:p>
                      <a:r>
                        <a:rPr sz="1725" b="1">
                          <a:solidFill>
                            <a:srgbClr val="112A46"/>
                          </a:solidFill>
                          <a:latin typeface="Arial"/>
                          <a:ea typeface="Arial"/>
                          <a:cs typeface="Arial"/>
                        </a:rPr>
                        <a:t>IT and security</a:t>
                      </a:r>
                    </a:p>
                    <a:p>
                      <a:r>
                        <a:rPr sz="1725" b="1">
                          <a:solidFill>
                            <a:srgbClr val="112A46"/>
                          </a:solidFill>
                          <a:latin typeface="Arial"/>
                          <a:ea typeface="Arial"/>
                          <a:cs typeface="Arial"/>
                        </a:rPr>
                        <a:t>Access gatekeeper</a:t>
                      </a:r>
                    </a:p>
                  </a:txBody>
                  <a:tcPr anchor="ctr">
                    <a:solidFill>
                      <a:srgbClr val="F2F5F7"/>
                    </a:solidFill>
                  </a:tcPr>
                </a:tc>
                <a:tc>
                  <a:txBody>
                    <a:bodyPr/>
                    <a:lstStyle/>
                    <a:p>
                      <a:r>
                        <a:rPr sz="1725" b="0">
                          <a:solidFill>
                            <a:srgbClr val="112A46"/>
                          </a:solidFill>
                          <a:latin typeface="Arial"/>
                          <a:ea typeface="Arial"/>
                          <a:cs typeface="Arial"/>
                        </a:rPr>
                        <a:t>Control connections and permissions</a:t>
                      </a:r>
                    </a:p>
                  </a:txBody>
                  <a:tcPr anchor="ctr">
                    <a:solidFill>
                      <a:srgbClr val="F2F5F7"/>
                    </a:solidFill>
                  </a:tcPr>
                </a:tc>
                <a:tc>
                  <a:txBody>
                    <a:bodyPr/>
                    <a:lstStyle/>
                    <a:p>
                      <a:r>
                        <a:rPr sz="1725" b="0">
                          <a:solidFill>
                            <a:srgbClr val="112A46"/>
                          </a:solidFill>
                          <a:latin typeface="Arial"/>
                          <a:ea typeface="Arial"/>
                          <a:cs typeface="Arial"/>
                        </a:rPr>
                        <a:t>Which data and actions are allowed</a:t>
                      </a:r>
                    </a:p>
                  </a:txBody>
                  <a:tcPr anchor="ctr">
                    <a:solidFill>
                      <a:srgbClr val="F2F5F7"/>
                    </a:solidFill>
                  </a:tcPr>
                </a:tc>
                <a:extLst>
                  <a:ext uri="{0D108BD9-81ED-4DB2-BD59-A6C34878D82A}">
                    <a16:rowId xmlns:a16="http://schemas.microsoft.com/office/drawing/2014/main" val="10004"/>
                  </a:ext>
                </a:extLst>
              </a:tr>
            </a:tbl>
          </a:graphicData>
        </a:graphic>
      </p:graphicFrame>
      <p:sp>
        <p:nvSpPr>
          <p:cNvPr id="8" name="Initial customer profile is a hypothesis. Adjacent manufacturers ">
            <a:extLst>
              <a:ext uri="{FF2B5EF4-FFF2-40B4-BE49-F238E27FC236}">
                <a16:creationId xmlns:a16="http://schemas.microsoft.com/office/drawing/2014/main" id="{24C2320F-00A2-4B73-8946-97238DAD2B58}"/>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Initial customer profile is a hypothesis. Adjacent manufacturers and other sectors may qualify by workflow complexity.</a:t>
            </a:r>
          </a:p>
        </p:txBody>
      </p:sp>
    </p:spTree>
    <p:extLst>
      <p:ext uri="{BB962C8B-B14F-4D97-AF65-F5344CB8AC3E}">
        <p14:creationId xmlns:p14="http://schemas.microsoft.com/office/powerpoint/2010/main" val="2055040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6E3775C-3B03-4529-844E-5B3EA4093179}"/>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One company model can support several use cases">
            <a:extLst>
              <a:ext uri="{FF2B5EF4-FFF2-40B4-BE49-F238E27FC236}">
                <a16:creationId xmlns:a16="http://schemas.microsoft.com/office/drawing/2014/main" id="{8472A440-F778-4D43-B58E-94539F6F406B}"/>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One company model can support several use cases</a:t>
            </a:r>
          </a:p>
        </p:txBody>
      </p:sp>
      <p:sp>
        <p:nvSpPr>
          <p:cNvPr id="3" name="Expansion follows verified value in the first workflow.">
            <a:extLst>
              <a:ext uri="{FF2B5EF4-FFF2-40B4-BE49-F238E27FC236}">
                <a16:creationId xmlns:a16="http://schemas.microsoft.com/office/drawing/2014/main" id="{165D5ED1-AF09-47AF-B098-A33E2B80BE1B}"/>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Expansion follows verified value in the first workflow.</a:t>
            </a:r>
          </a:p>
        </p:txBody>
      </p:sp>
      <p:sp>
        <p:nvSpPr>
          <p:cNvPr id="4" name="Rectangle 3">
            <a:extLst>
              <a:ext uri="{FF2B5EF4-FFF2-40B4-BE49-F238E27FC236}">
                <a16:creationId xmlns:a16="http://schemas.microsoft.com/office/drawing/2014/main" id="{5FFE42A1-6DD1-4CE1-A57C-2358B29439A5}"/>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71EF3594-032B-47CF-989E-75F35CF72912}"/>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1">
            <a:extLst>
              <a:ext uri="{FF2B5EF4-FFF2-40B4-BE49-F238E27FC236}">
                <a16:creationId xmlns:a16="http://schemas.microsoft.com/office/drawing/2014/main" id="{61A15BA7-0770-45BC-9900-C3EB489D41CB}"/>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11</a:t>
            </a:r>
          </a:p>
        </p:txBody>
      </p:sp>
      <p:graphicFrame>
        <p:nvGraphicFramePr>
          <p:cNvPr id="16" name="Table 15"/>
          <p:cNvGraphicFramePr/>
          <p:nvPr/>
        </p:nvGraphicFramePr>
        <p:xfrm>
          <a:off x="609600" y="2247900"/>
          <a:ext cx="10972800" cy="3352800"/>
        </p:xfrm>
        <a:graphic>
          <a:graphicData uri="http://schemas.openxmlformats.org/drawingml/2006/table">
            <a:tbl>
              <a:tblPr/>
              <a:tblGrid>
                <a:gridCol w="2924175">
                  <a:extLst>
                    <a:ext uri="{9D8B030D-6E8A-4147-A177-3AD203B41FA5}">
                      <a16:colId xmlns:a16="http://schemas.microsoft.com/office/drawing/2014/main" val="20000"/>
                    </a:ext>
                  </a:extLst>
                </a:gridCol>
                <a:gridCol w="4933950">
                  <a:extLst>
                    <a:ext uri="{9D8B030D-6E8A-4147-A177-3AD203B41FA5}">
                      <a16:colId xmlns:a16="http://schemas.microsoft.com/office/drawing/2014/main" val="20001"/>
                    </a:ext>
                  </a:extLst>
                </a:gridCol>
                <a:gridCol w="3114675">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Business use case</a:t>
                      </a:r>
                    </a:p>
                  </a:txBody>
                  <a:tcPr anchor="ctr">
                    <a:solidFill>
                      <a:srgbClr val="112A46"/>
                    </a:solidFill>
                  </a:tcPr>
                </a:tc>
                <a:tc>
                  <a:txBody>
                    <a:bodyPr/>
                    <a:lstStyle/>
                    <a:p>
                      <a:r>
                        <a:rPr sz="1500" b="1">
                          <a:solidFill>
                            <a:srgbClr val="FFFFFF"/>
                          </a:solidFill>
                          <a:latin typeface="Arial"/>
                          <a:ea typeface="Arial"/>
                          <a:cs typeface="Arial"/>
                        </a:rPr>
                        <a:t>Question Glinx would help answer</a:t>
                      </a:r>
                    </a:p>
                  </a:txBody>
                  <a:tcPr anchor="ctr">
                    <a:solidFill>
                      <a:srgbClr val="112A46"/>
                    </a:solidFill>
                  </a:tcPr>
                </a:tc>
                <a:tc>
                  <a:txBody>
                    <a:bodyPr/>
                    <a:lstStyle/>
                    <a:p>
                      <a:r>
                        <a:rPr sz="1500" b="1">
                          <a:solidFill>
                            <a:srgbClr val="FFFFFF"/>
                          </a:solidFill>
                          <a:latin typeface="Arial"/>
                          <a:ea typeface="Arial"/>
                          <a:cs typeface="Arial"/>
                        </a:rPr>
                        <a:t>Outcome to measure</a:t>
                      </a:r>
                    </a:p>
                  </a:txBody>
                  <a:tcPr anchor="ctr">
                    <a:solidFill>
                      <a:srgbClr val="112A46"/>
                    </a:solidFill>
                  </a:tcPr>
                </a:tc>
                <a:extLst>
                  <a:ext uri="{0D108BD9-81ED-4DB2-BD59-A6C34878D82A}">
                    <a16:rowId xmlns:a16="http://schemas.microsoft.com/office/drawing/2014/main" val="10000"/>
                  </a:ext>
                </a:extLst>
              </a:tr>
              <a:tr h="714375">
                <a:tc>
                  <a:txBody>
                    <a:bodyPr/>
                    <a:lstStyle/>
                    <a:p>
                      <a:r>
                        <a:rPr sz="1725" b="1">
                          <a:solidFill>
                            <a:srgbClr val="112A46"/>
                          </a:solidFill>
                          <a:latin typeface="Arial"/>
                          <a:ea typeface="Arial"/>
                          <a:cs typeface="Arial"/>
                        </a:rPr>
                        <a:t>Delivery reliability</a:t>
                      </a:r>
                    </a:p>
                  </a:txBody>
                  <a:tcPr anchor="ctr">
                    <a:solidFill>
                      <a:srgbClr val="FFFFFF"/>
                    </a:solidFill>
                  </a:tcPr>
                </a:tc>
                <a:tc>
                  <a:txBody>
                    <a:bodyPr/>
                    <a:lstStyle/>
                    <a:p>
                      <a:r>
                        <a:rPr sz="1725" b="0">
                          <a:solidFill>
                            <a:srgbClr val="112A46"/>
                          </a:solidFill>
                          <a:latin typeface="Arial"/>
                          <a:ea typeface="Arial"/>
                          <a:cs typeface="Arial"/>
                        </a:rPr>
                        <a:t>Which constraint threatens the customer promise?</a:t>
                      </a:r>
                    </a:p>
                  </a:txBody>
                  <a:tcPr anchor="ctr">
                    <a:solidFill>
                      <a:srgbClr val="FFFFFF"/>
                    </a:solidFill>
                  </a:tcPr>
                </a:tc>
                <a:tc>
                  <a:txBody>
                    <a:bodyPr/>
                    <a:lstStyle/>
                    <a:p>
                      <a:r>
                        <a:rPr sz="1725" b="0">
                          <a:solidFill>
                            <a:srgbClr val="112A46"/>
                          </a:solidFill>
                          <a:latin typeface="Arial"/>
                          <a:ea typeface="Arial"/>
                          <a:cs typeface="Arial"/>
                        </a:rPr>
                        <a:t>On-time delivery and expediting cost</a:t>
                      </a:r>
                    </a:p>
                  </a:txBody>
                  <a:tcPr anchor="ctr">
                    <a:solidFill>
                      <a:srgbClr val="FFFFFF"/>
                    </a:solidFill>
                  </a:tcPr>
                </a:tc>
                <a:extLst>
                  <a:ext uri="{0D108BD9-81ED-4DB2-BD59-A6C34878D82A}">
                    <a16:rowId xmlns:a16="http://schemas.microsoft.com/office/drawing/2014/main" val="10001"/>
                  </a:ext>
                </a:extLst>
              </a:tr>
              <a:tr h="714375">
                <a:tc>
                  <a:txBody>
                    <a:bodyPr/>
                    <a:lstStyle/>
                    <a:p>
                      <a:r>
                        <a:rPr sz="1725" b="1">
                          <a:solidFill>
                            <a:srgbClr val="112A46"/>
                          </a:solidFill>
                          <a:latin typeface="Arial"/>
                          <a:ea typeface="Arial"/>
                          <a:cs typeface="Arial"/>
                        </a:rPr>
                        <a:t>Margin protection</a:t>
                      </a:r>
                    </a:p>
                  </a:txBody>
                  <a:tcPr anchor="ctr">
                    <a:solidFill>
                      <a:srgbClr val="F2F5F7"/>
                    </a:solidFill>
                  </a:tcPr>
                </a:tc>
                <a:tc>
                  <a:txBody>
                    <a:bodyPr/>
                    <a:lstStyle/>
                    <a:p>
                      <a:r>
                        <a:rPr sz="1725" b="0">
                          <a:solidFill>
                            <a:srgbClr val="112A46"/>
                          </a:solidFill>
                          <a:latin typeface="Arial"/>
                          <a:ea typeface="Arial"/>
                          <a:cs typeface="Arial"/>
                        </a:rPr>
                        <a:t>Where does actual cost diverge from the quote?</a:t>
                      </a:r>
                    </a:p>
                  </a:txBody>
                  <a:tcPr anchor="ctr">
                    <a:solidFill>
                      <a:srgbClr val="F2F5F7"/>
                    </a:solidFill>
                  </a:tcPr>
                </a:tc>
                <a:tc>
                  <a:txBody>
                    <a:bodyPr/>
                    <a:lstStyle/>
                    <a:p>
                      <a:r>
                        <a:rPr sz="1725" b="0">
                          <a:solidFill>
                            <a:srgbClr val="112A46"/>
                          </a:solidFill>
                          <a:latin typeface="Arial"/>
                          <a:ea typeface="Arial"/>
                          <a:cs typeface="Arial"/>
                        </a:rPr>
                        <a:t>Contribution margin and rework</a:t>
                      </a:r>
                    </a:p>
                  </a:txBody>
                  <a:tcPr anchor="ctr">
                    <a:solidFill>
                      <a:srgbClr val="F2F5F7"/>
                    </a:solidFill>
                  </a:tcPr>
                </a:tc>
                <a:extLst>
                  <a:ext uri="{0D108BD9-81ED-4DB2-BD59-A6C34878D82A}">
                    <a16:rowId xmlns:a16="http://schemas.microsoft.com/office/drawing/2014/main" val="10002"/>
                  </a:ext>
                </a:extLst>
              </a:tr>
              <a:tr h="714375">
                <a:tc>
                  <a:txBody>
                    <a:bodyPr/>
                    <a:lstStyle/>
                    <a:p>
                      <a:r>
                        <a:rPr sz="1725" b="1">
                          <a:solidFill>
                            <a:srgbClr val="112A46"/>
                          </a:solidFill>
                          <a:latin typeface="Arial"/>
                          <a:ea typeface="Arial"/>
                          <a:cs typeface="Arial"/>
                        </a:rPr>
                        <a:t>Working capital</a:t>
                      </a:r>
                    </a:p>
                  </a:txBody>
                  <a:tcPr anchor="ctr">
                    <a:solidFill>
                      <a:srgbClr val="FFFFFF"/>
                    </a:solidFill>
                  </a:tcPr>
                </a:tc>
                <a:tc>
                  <a:txBody>
                    <a:bodyPr/>
                    <a:lstStyle/>
                    <a:p>
                      <a:r>
                        <a:rPr sz="1725" b="0">
                          <a:solidFill>
                            <a:srgbClr val="112A46"/>
                          </a:solidFill>
                          <a:latin typeface="Arial"/>
                          <a:ea typeface="Arial"/>
                          <a:cs typeface="Arial"/>
                        </a:rPr>
                        <a:t>Which inventory or receivable needs intervention?</a:t>
                      </a:r>
                    </a:p>
                  </a:txBody>
                  <a:tcPr anchor="ctr">
                    <a:solidFill>
                      <a:srgbClr val="FFFFFF"/>
                    </a:solidFill>
                  </a:tcPr>
                </a:tc>
                <a:tc>
                  <a:txBody>
                    <a:bodyPr/>
                    <a:lstStyle/>
                    <a:p>
                      <a:r>
                        <a:rPr sz="1725" b="0">
                          <a:solidFill>
                            <a:srgbClr val="112A46"/>
                          </a:solidFill>
                          <a:latin typeface="Arial"/>
                          <a:ea typeface="Arial"/>
                          <a:cs typeface="Arial"/>
                        </a:rPr>
                        <a:t>Cash released and service level</a:t>
                      </a:r>
                    </a:p>
                  </a:txBody>
                  <a:tcPr anchor="ctr">
                    <a:solidFill>
                      <a:srgbClr val="FFFFFF"/>
                    </a:solidFill>
                  </a:tcPr>
                </a:tc>
                <a:extLst>
                  <a:ext uri="{0D108BD9-81ED-4DB2-BD59-A6C34878D82A}">
                    <a16:rowId xmlns:a16="http://schemas.microsoft.com/office/drawing/2014/main" val="10003"/>
                  </a:ext>
                </a:extLst>
              </a:tr>
              <a:tr h="714375">
                <a:tc>
                  <a:txBody>
                    <a:bodyPr/>
                    <a:lstStyle/>
                    <a:p>
                      <a:r>
                        <a:rPr sz="1725" b="1">
                          <a:solidFill>
                            <a:srgbClr val="112A46"/>
                          </a:solidFill>
                          <a:latin typeface="Arial"/>
                          <a:ea typeface="Arial"/>
                          <a:cs typeface="Arial"/>
                        </a:rPr>
                        <a:t>Operational change</a:t>
                      </a:r>
                    </a:p>
                  </a:txBody>
                  <a:tcPr anchor="ctr">
                    <a:solidFill>
                      <a:srgbClr val="F2F5F7"/>
                    </a:solidFill>
                  </a:tcPr>
                </a:tc>
                <a:tc>
                  <a:txBody>
                    <a:bodyPr/>
                    <a:lstStyle/>
                    <a:p>
                      <a:r>
                        <a:rPr sz="1725" b="0">
                          <a:solidFill>
                            <a:srgbClr val="112A46"/>
                          </a:solidFill>
                          <a:latin typeface="Arial"/>
                          <a:ea typeface="Arial"/>
                          <a:cs typeface="Arial"/>
                        </a:rPr>
                        <a:t>Did a process or system change improve performance?</a:t>
                      </a:r>
                    </a:p>
                  </a:txBody>
                  <a:tcPr anchor="ctr">
                    <a:solidFill>
                      <a:srgbClr val="F2F5F7"/>
                    </a:solidFill>
                  </a:tcPr>
                </a:tc>
                <a:tc>
                  <a:txBody>
                    <a:bodyPr/>
                    <a:lstStyle/>
                    <a:p>
                      <a:r>
                        <a:rPr sz="1725" b="0">
                          <a:solidFill>
                            <a:srgbClr val="112A46"/>
                          </a:solidFill>
                          <a:latin typeface="Arial"/>
                          <a:ea typeface="Arial"/>
                          <a:cs typeface="Arial"/>
                        </a:rPr>
                        <a:t>Adoption, cycle time and quality</a:t>
                      </a:r>
                    </a:p>
                  </a:txBody>
                  <a:tcPr anchor="ctr">
                    <a:solidFill>
                      <a:srgbClr val="F2F5F7"/>
                    </a:solidFill>
                  </a:tcP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77BA124F-8CD4-4198-BC92-315AEBB25F9F}"/>
              </a:ext>
            </a:extLst>
          </p:cNvPr>
          <p:cNvSpPr>
            <a:spLocks noGrp="1"/>
          </p:cNvSpPr>
          <p:nvPr/>
        </p:nvSpPr>
        <p:spPr>
          <a:xfrm>
            <a:off x="609600" y="5781675"/>
            <a:ext cx="47625" cy="428625"/>
          </a:xfrm>
          <a:prstGeom prst="rect">
            <a:avLst/>
          </a:prstGeom>
          <a:solidFill>
            <a:srgbClr val="087F87"/>
          </a:solidFill>
          <a:ln w="0">
            <a:noFill/>
          </a:ln>
        </p:spPr>
        <p:txBody>
          <a:bodyPr/>
          <a:lstStyle/>
          <a:p>
            <a:endParaRPr lang="en-US"/>
          </a:p>
        </p:txBody>
      </p:sp>
      <p:sp>
        <p:nvSpPr>
          <p:cNvPr id="9" name="Longer-term users include distribution and service businesses">
            <a:extLst>
              <a:ext uri="{FF2B5EF4-FFF2-40B4-BE49-F238E27FC236}">
                <a16:creationId xmlns:a16="http://schemas.microsoft.com/office/drawing/2014/main" id="{AB973404-F8B9-48A6-8F50-20FB7305C3F2}"/>
              </a:ext>
            </a:extLst>
          </p:cNvPr>
          <p:cNvSpPr>
            <a:spLocks noGrp="1"/>
          </p:cNvSpPr>
          <p:nvPr/>
        </p:nvSpPr>
        <p:spPr>
          <a:xfrm>
            <a:off x="800100" y="5810250"/>
            <a:ext cx="10782300" cy="533400"/>
          </a:xfrm>
          <a:prstGeom prst="rect">
            <a:avLst/>
          </a:prstGeom>
          <a:noFill/>
          <a:ln w="0">
            <a:noFill/>
          </a:ln>
        </p:spPr>
        <p:txBody>
          <a:bodyPr wrap="square" lIns="0" tIns="0" rIns="0" bIns="0" anchor="t">
            <a:noAutofit/>
          </a:bodyPr>
          <a:lstStyle/>
          <a:p>
            <a:pPr algn="l">
              <a:defRPr sz="1950" b="1">
                <a:solidFill>
                  <a:srgbClr val="112A46"/>
                </a:solidFill>
                <a:latin typeface="Arial"/>
                <a:ea typeface="Arial"/>
                <a:cs typeface="Arial"/>
              </a:defRPr>
            </a:pPr>
            <a:r>
              <a:rPr sz="1950" b="1">
                <a:solidFill>
                  <a:srgbClr val="112A46"/>
                </a:solidFill>
                <a:latin typeface="Arial"/>
                <a:ea typeface="Arial"/>
                <a:cs typeface="Arial"/>
              </a:rPr>
              <a:t>Longer-term users include distribution and service businesses</a:t>
            </a:r>
          </a:p>
        </p:txBody>
      </p:sp>
    </p:spTree>
    <p:extLst>
      <p:ext uri="{BB962C8B-B14F-4D97-AF65-F5344CB8AC3E}">
        <p14:creationId xmlns:p14="http://schemas.microsoft.com/office/powerpoint/2010/main" val="1004055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580A897-E9DD-4864-AB7D-D4859D67EF20}"/>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The Glinx product portfolio">
            <a:extLst>
              <a:ext uri="{FF2B5EF4-FFF2-40B4-BE49-F238E27FC236}">
                <a16:creationId xmlns:a16="http://schemas.microsoft.com/office/drawing/2014/main" id="{3B801045-F4EF-49D1-9A94-7816F09587C1}"/>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The Glinx product portfolio</a:t>
            </a:r>
          </a:p>
        </p:txBody>
      </p:sp>
      <p:sp>
        <p:nvSpPr>
          <p:cNvPr id="3" name="Discovery creates the starting inventory. Subsequent products wou">
            <a:extLst>
              <a:ext uri="{FF2B5EF4-FFF2-40B4-BE49-F238E27FC236}">
                <a16:creationId xmlns:a16="http://schemas.microsoft.com/office/drawing/2014/main" id="{F2CDD1D8-2EA3-4E8E-B109-81AFB1096A6F}"/>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Discovery creates the starting inventory. Subsequent products would turn evidence into evaluated action.</a:t>
            </a:r>
          </a:p>
        </p:txBody>
      </p:sp>
      <p:sp>
        <p:nvSpPr>
          <p:cNvPr id="4" name="Rectangle 3">
            <a:extLst>
              <a:ext uri="{FF2B5EF4-FFF2-40B4-BE49-F238E27FC236}">
                <a16:creationId xmlns:a16="http://schemas.microsoft.com/office/drawing/2014/main" id="{9DB5C182-F3AC-41F4-B1E6-EB3DD3498844}"/>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B7DA3E62-21AC-4AB8-994B-7FDC59DCD0C5}"/>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2">
            <a:extLst>
              <a:ext uri="{FF2B5EF4-FFF2-40B4-BE49-F238E27FC236}">
                <a16:creationId xmlns:a16="http://schemas.microsoft.com/office/drawing/2014/main" id="{1D892E3D-18A8-4D46-963B-B44D5CE46F88}"/>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12</a:t>
            </a:r>
          </a:p>
        </p:txBody>
      </p:sp>
      <p:graphicFrame>
        <p:nvGraphicFramePr>
          <p:cNvPr id="15" name="Table 14"/>
          <p:cNvGraphicFramePr/>
          <p:nvPr/>
        </p:nvGraphicFramePr>
        <p:xfrm>
          <a:off x="609600" y="2209800"/>
          <a:ext cx="10972800" cy="3743325"/>
        </p:xfrm>
        <a:graphic>
          <a:graphicData uri="http://schemas.openxmlformats.org/drawingml/2006/table">
            <a:tbl>
              <a:tblPr/>
              <a:tblGrid>
                <a:gridCol w="2266950">
                  <a:extLst>
                    <a:ext uri="{9D8B030D-6E8A-4147-A177-3AD203B41FA5}">
                      <a16:colId xmlns:a16="http://schemas.microsoft.com/office/drawing/2014/main" val="20000"/>
                    </a:ext>
                  </a:extLst>
                </a:gridCol>
                <a:gridCol w="5362575">
                  <a:extLst>
                    <a:ext uri="{9D8B030D-6E8A-4147-A177-3AD203B41FA5}">
                      <a16:colId xmlns:a16="http://schemas.microsoft.com/office/drawing/2014/main" val="20001"/>
                    </a:ext>
                  </a:extLst>
                </a:gridCol>
                <a:gridCol w="3343275">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Capability</a:t>
                      </a:r>
                    </a:p>
                  </a:txBody>
                  <a:tcPr anchor="ctr">
                    <a:solidFill>
                      <a:srgbClr val="112A46"/>
                    </a:solidFill>
                  </a:tcPr>
                </a:tc>
                <a:tc>
                  <a:txBody>
                    <a:bodyPr/>
                    <a:lstStyle/>
                    <a:p>
                      <a:r>
                        <a:rPr sz="1500" b="1">
                          <a:solidFill>
                            <a:srgbClr val="FFFFFF"/>
                          </a:solidFill>
                          <a:latin typeface="Arial"/>
                          <a:ea typeface="Arial"/>
                          <a:cs typeface="Arial"/>
                        </a:rPr>
                        <a:t>Customer-facing output</a:t>
                      </a:r>
                    </a:p>
                  </a:txBody>
                  <a:tcPr anchor="ctr">
                    <a:solidFill>
                      <a:srgbClr val="112A46"/>
                    </a:solidFill>
                  </a:tcPr>
                </a:tc>
                <a:tc>
                  <a:txBody>
                    <a:bodyPr/>
                    <a:lstStyle/>
                    <a:p>
                      <a:r>
                        <a:rPr sz="1500" b="1">
                          <a:solidFill>
                            <a:srgbClr val="FFFFFF"/>
                          </a:solidFill>
                          <a:latin typeface="Arial"/>
                          <a:ea typeface="Arial"/>
                          <a:cs typeface="Arial"/>
                        </a:rPr>
                        <a:t>Development stage</a:t>
                      </a:r>
                    </a:p>
                  </a:txBody>
                  <a:tcPr anchor="ctr">
                    <a:solidFill>
                      <a:srgbClr val="112A46"/>
                    </a:solidFill>
                  </a:tcPr>
                </a:tc>
                <a:extLst>
                  <a:ext uri="{0D108BD9-81ED-4DB2-BD59-A6C34878D82A}">
                    <a16:rowId xmlns:a16="http://schemas.microsoft.com/office/drawing/2014/main" val="10000"/>
                  </a:ext>
                </a:extLst>
              </a:tr>
              <a:tr h="649605">
                <a:tc>
                  <a:txBody>
                    <a:bodyPr/>
                    <a:lstStyle/>
                    <a:p>
                      <a:r>
                        <a:rPr sz="1725" b="1">
                          <a:solidFill>
                            <a:srgbClr val="112A46"/>
                          </a:solidFill>
                          <a:latin typeface="Arial"/>
                          <a:ea typeface="Arial"/>
                          <a:cs typeface="Arial"/>
                        </a:rPr>
                        <a:t>Know</a:t>
                      </a:r>
                    </a:p>
                  </a:txBody>
                  <a:tcPr anchor="ctr">
                    <a:solidFill>
                      <a:srgbClr val="FFFFFF"/>
                    </a:solidFill>
                  </a:tcPr>
                </a:tc>
                <a:tc>
                  <a:txBody>
                    <a:bodyPr/>
                    <a:lstStyle/>
                    <a:p>
                      <a:r>
                        <a:rPr sz="1725" b="0">
                          <a:solidFill>
                            <a:srgbClr val="112A46"/>
                          </a:solidFill>
                          <a:latin typeface="Arial"/>
                          <a:ea typeface="Arial"/>
                          <a:cs typeface="Arial"/>
                        </a:rPr>
                        <a:t>System inventory and a persistent company model</a:t>
                      </a:r>
                    </a:p>
                  </a:txBody>
                  <a:tcPr anchor="ctr">
                    <a:solidFill>
                      <a:srgbClr val="FFFFFF"/>
                    </a:solidFill>
                  </a:tcPr>
                </a:tc>
                <a:tc>
                  <a:txBody>
                    <a:bodyPr/>
                    <a:lstStyle/>
                    <a:p>
                      <a:r>
                        <a:rPr sz="1725" b="0">
                          <a:solidFill>
                            <a:srgbClr val="112A46"/>
                          </a:solidFill>
                          <a:latin typeface="Arial"/>
                          <a:ea typeface="Arial"/>
                          <a:cs typeface="Arial"/>
                        </a:rPr>
                        <a:t>Discovery prototype</a:t>
                      </a:r>
                    </a:p>
                    <a:p>
                      <a:r>
                        <a:rPr sz="1725" b="0">
                          <a:solidFill>
                            <a:srgbClr val="112A46"/>
                          </a:solidFill>
                          <a:latin typeface="Arial"/>
                          <a:ea typeface="Arial"/>
                          <a:cs typeface="Arial"/>
                        </a:rPr>
                        <a:t>Model planned</a:t>
                      </a:r>
                    </a:p>
                  </a:txBody>
                  <a:tcPr anchor="ctr">
                    <a:solidFill>
                      <a:srgbClr val="FFFFFF"/>
                    </a:solidFill>
                  </a:tcPr>
                </a:tc>
                <a:extLst>
                  <a:ext uri="{0D108BD9-81ED-4DB2-BD59-A6C34878D82A}">
                    <a16:rowId xmlns:a16="http://schemas.microsoft.com/office/drawing/2014/main" val="10001"/>
                  </a:ext>
                </a:extLst>
              </a:tr>
              <a:tr h="649605">
                <a:tc>
                  <a:txBody>
                    <a:bodyPr/>
                    <a:lstStyle/>
                    <a:p>
                      <a:r>
                        <a:rPr sz="1725" b="1">
                          <a:solidFill>
                            <a:srgbClr val="112A46"/>
                          </a:solidFill>
                          <a:latin typeface="Arial"/>
                          <a:ea typeface="Arial"/>
                          <a:cs typeface="Arial"/>
                        </a:rPr>
                        <a:t>Diagnose</a:t>
                      </a:r>
                    </a:p>
                  </a:txBody>
                  <a:tcPr anchor="ctr">
                    <a:solidFill>
                      <a:srgbClr val="F2F5F7"/>
                    </a:solidFill>
                  </a:tcPr>
                </a:tc>
                <a:tc>
                  <a:txBody>
                    <a:bodyPr/>
                    <a:lstStyle/>
                    <a:p>
                      <a:r>
                        <a:rPr sz="1725" b="0">
                          <a:solidFill>
                            <a:srgbClr val="112A46"/>
                          </a:solidFill>
                          <a:latin typeface="Arial"/>
                          <a:ea typeface="Arial"/>
                          <a:cs typeface="Arial"/>
                        </a:rPr>
                        <a:t>Evidence-backed explanations and open questions</a:t>
                      </a:r>
                    </a:p>
                  </a:txBody>
                  <a:tcPr anchor="ctr">
                    <a:solidFill>
                      <a:srgbClr val="F2F5F7"/>
                    </a:solidFill>
                  </a:tcPr>
                </a:tc>
                <a:tc>
                  <a:txBody>
                    <a:bodyPr/>
                    <a:lstStyle/>
                    <a:p>
                      <a:r>
                        <a:rPr sz="1725" b="0">
                          <a:solidFill>
                            <a:srgbClr val="112A46"/>
                          </a:solidFill>
                          <a:latin typeface="Arial"/>
                          <a:ea typeface="Arial"/>
                          <a:cs typeface="Arial"/>
                        </a:rPr>
                        <a:t>Planned</a:t>
                      </a:r>
                    </a:p>
                  </a:txBody>
                  <a:tcPr anchor="ctr">
                    <a:solidFill>
                      <a:srgbClr val="F2F5F7"/>
                    </a:solidFill>
                  </a:tcPr>
                </a:tc>
                <a:extLst>
                  <a:ext uri="{0D108BD9-81ED-4DB2-BD59-A6C34878D82A}">
                    <a16:rowId xmlns:a16="http://schemas.microsoft.com/office/drawing/2014/main" val="10002"/>
                  </a:ext>
                </a:extLst>
              </a:tr>
              <a:tr h="649605">
                <a:tc>
                  <a:txBody>
                    <a:bodyPr/>
                    <a:lstStyle/>
                    <a:p>
                      <a:r>
                        <a:rPr sz="1725" b="1">
                          <a:solidFill>
                            <a:srgbClr val="112A46"/>
                          </a:solidFill>
                          <a:latin typeface="Arial"/>
                          <a:ea typeface="Arial"/>
                          <a:cs typeface="Arial"/>
                        </a:rPr>
                        <a:t>Prioritize</a:t>
                      </a:r>
                    </a:p>
                  </a:txBody>
                  <a:tcPr anchor="ctr">
                    <a:solidFill>
                      <a:srgbClr val="FFFFFF"/>
                    </a:solidFill>
                  </a:tcPr>
                </a:tc>
                <a:tc>
                  <a:txBody>
                    <a:bodyPr/>
                    <a:lstStyle/>
                    <a:p>
                      <a:r>
                        <a:rPr sz="1725" b="0">
                          <a:solidFill>
                            <a:srgbClr val="112A46"/>
                          </a:solidFill>
                          <a:latin typeface="Arial"/>
                          <a:ea typeface="Arial"/>
                          <a:cs typeface="Arial"/>
                        </a:rPr>
                        <a:t>Opportunities ranked by impact and risk</a:t>
                      </a:r>
                    </a:p>
                  </a:txBody>
                  <a:tcPr anchor="ctr">
                    <a:solidFill>
                      <a:srgbClr val="FFFFFF"/>
                    </a:solidFill>
                  </a:tcPr>
                </a:tc>
                <a:tc>
                  <a:txBody>
                    <a:bodyPr/>
                    <a:lstStyle/>
                    <a:p>
                      <a:r>
                        <a:rPr sz="1725" b="0">
                          <a:solidFill>
                            <a:srgbClr val="112A46"/>
                          </a:solidFill>
                          <a:latin typeface="Arial"/>
                          <a:ea typeface="Arial"/>
                          <a:cs typeface="Arial"/>
                        </a:rPr>
                        <a:t>Planned</a:t>
                      </a:r>
                    </a:p>
                  </a:txBody>
                  <a:tcPr anchor="ctr">
                    <a:solidFill>
                      <a:srgbClr val="FFFFFF"/>
                    </a:solidFill>
                  </a:tcPr>
                </a:tc>
                <a:extLst>
                  <a:ext uri="{0D108BD9-81ED-4DB2-BD59-A6C34878D82A}">
                    <a16:rowId xmlns:a16="http://schemas.microsoft.com/office/drawing/2014/main" val="10003"/>
                  </a:ext>
                </a:extLst>
              </a:tr>
              <a:tr h="649605">
                <a:tc>
                  <a:txBody>
                    <a:bodyPr/>
                    <a:lstStyle/>
                    <a:p>
                      <a:r>
                        <a:rPr sz="1725" b="1">
                          <a:solidFill>
                            <a:srgbClr val="112A46"/>
                          </a:solidFill>
                          <a:latin typeface="Arial"/>
                          <a:ea typeface="Arial"/>
                          <a:cs typeface="Arial"/>
                        </a:rPr>
                        <a:t>Plan</a:t>
                      </a:r>
                    </a:p>
                  </a:txBody>
                  <a:tcPr anchor="ctr">
                    <a:solidFill>
                      <a:srgbClr val="F2F5F7"/>
                    </a:solidFill>
                  </a:tcPr>
                </a:tc>
                <a:tc>
                  <a:txBody>
                    <a:bodyPr/>
                    <a:lstStyle/>
                    <a:p>
                      <a:r>
                        <a:rPr sz="1725" b="0">
                          <a:solidFill>
                            <a:srgbClr val="112A46"/>
                          </a:solidFill>
                          <a:latin typeface="Arial"/>
                          <a:ea typeface="Arial"/>
                          <a:cs typeface="Arial"/>
                        </a:rPr>
                        <a:t>Roadmap with owners and approval gates</a:t>
                      </a:r>
                    </a:p>
                  </a:txBody>
                  <a:tcPr anchor="ctr">
                    <a:solidFill>
                      <a:srgbClr val="F2F5F7"/>
                    </a:solidFill>
                  </a:tcPr>
                </a:tc>
                <a:tc>
                  <a:txBody>
                    <a:bodyPr/>
                    <a:lstStyle/>
                    <a:p>
                      <a:r>
                        <a:rPr sz="1725" b="0">
                          <a:solidFill>
                            <a:srgbClr val="112A46"/>
                          </a:solidFill>
                          <a:latin typeface="Arial"/>
                          <a:ea typeface="Arial"/>
                          <a:cs typeface="Arial"/>
                        </a:rPr>
                        <a:t>Planned</a:t>
                      </a:r>
                    </a:p>
                  </a:txBody>
                  <a:tcPr anchor="ctr">
                    <a:solidFill>
                      <a:srgbClr val="F2F5F7"/>
                    </a:solidFill>
                  </a:tcPr>
                </a:tc>
                <a:extLst>
                  <a:ext uri="{0D108BD9-81ED-4DB2-BD59-A6C34878D82A}">
                    <a16:rowId xmlns:a16="http://schemas.microsoft.com/office/drawing/2014/main" val="10004"/>
                  </a:ext>
                </a:extLst>
              </a:tr>
              <a:tr h="649605">
                <a:tc>
                  <a:txBody>
                    <a:bodyPr/>
                    <a:lstStyle/>
                    <a:p>
                      <a:r>
                        <a:rPr sz="1725" b="1">
                          <a:solidFill>
                            <a:srgbClr val="112A46"/>
                          </a:solidFill>
                          <a:latin typeface="Arial"/>
                          <a:ea typeface="Arial"/>
                          <a:cs typeface="Arial"/>
                        </a:rPr>
                        <a:t>Operate and learn</a:t>
                      </a:r>
                    </a:p>
                  </a:txBody>
                  <a:tcPr anchor="ctr">
                    <a:solidFill>
                      <a:srgbClr val="FFFFFF"/>
                    </a:solidFill>
                  </a:tcPr>
                </a:tc>
                <a:tc>
                  <a:txBody>
                    <a:bodyPr/>
                    <a:lstStyle/>
                    <a:p>
                      <a:r>
                        <a:rPr sz="1725" b="0">
                          <a:solidFill>
                            <a:srgbClr val="112A46"/>
                          </a:solidFill>
                          <a:latin typeface="Arial"/>
                          <a:ea typeface="Arial"/>
                          <a:cs typeface="Arial"/>
                        </a:rPr>
                        <a:t>Scoped agents and evaluated outcomes</a:t>
                      </a:r>
                    </a:p>
                  </a:txBody>
                  <a:tcPr anchor="ctr">
                    <a:solidFill>
                      <a:srgbClr val="FFFFFF"/>
                    </a:solidFill>
                  </a:tcPr>
                </a:tc>
                <a:tc>
                  <a:txBody>
                    <a:bodyPr/>
                    <a:lstStyle/>
                    <a:p>
                      <a:r>
                        <a:rPr sz="1725" b="0">
                          <a:solidFill>
                            <a:srgbClr val="112A46"/>
                          </a:solidFill>
                          <a:latin typeface="Arial"/>
                          <a:ea typeface="Arial"/>
                          <a:cs typeface="Arial"/>
                        </a:rPr>
                        <a:t>Planned</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8" name="The planned capabilities describe product scope, not released fea">
            <a:extLst>
              <a:ext uri="{FF2B5EF4-FFF2-40B4-BE49-F238E27FC236}">
                <a16:creationId xmlns:a16="http://schemas.microsoft.com/office/drawing/2014/main" id="{E24AF447-E8D3-4E69-8186-9A2F26C702E8}"/>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The planned capabilities describe product scope, not released features or committed delivery dates.</a:t>
            </a:r>
          </a:p>
        </p:txBody>
      </p:sp>
    </p:spTree>
    <p:extLst>
      <p:ext uri="{BB962C8B-B14F-4D97-AF65-F5344CB8AC3E}">
        <p14:creationId xmlns:p14="http://schemas.microsoft.com/office/powerpoint/2010/main" val="205223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BB57AE6-46CE-4D48-B6D4-8B279032CFBB}"/>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Company Discovery is the first working product">
            <a:extLst>
              <a:ext uri="{FF2B5EF4-FFF2-40B4-BE49-F238E27FC236}">
                <a16:creationId xmlns:a16="http://schemas.microsoft.com/office/drawing/2014/main" id="{CDEA4A63-D154-4358-BA0A-71F562857821}"/>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Company Discovery is the first working product</a:t>
            </a:r>
          </a:p>
        </p:txBody>
      </p:sp>
      <p:sp>
        <p:nvSpPr>
          <p:cNvPr id="3" name="An installable agent and evidence viewer establish the initial se">
            <a:extLst>
              <a:ext uri="{FF2B5EF4-FFF2-40B4-BE49-F238E27FC236}">
                <a16:creationId xmlns:a16="http://schemas.microsoft.com/office/drawing/2014/main" id="{0EFBBC96-EEA4-4A81-85B4-45650194F9C4}"/>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An installable agent and evidence viewer establish the initial sensing layer.</a:t>
            </a:r>
          </a:p>
        </p:txBody>
      </p:sp>
      <p:sp>
        <p:nvSpPr>
          <p:cNvPr id="4" name="Rectangle 3">
            <a:extLst>
              <a:ext uri="{FF2B5EF4-FFF2-40B4-BE49-F238E27FC236}">
                <a16:creationId xmlns:a16="http://schemas.microsoft.com/office/drawing/2014/main" id="{9B62EB00-C576-408A-998F-116583AAA41A}"/>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F38F7C5C-803D-4FDD-8E78-762C61E7ABDD}"/>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3">
            <a:extLst>
              <a:ext uri="{FF2B5EF4-FFF2-40B4-BE49-F238E27FC236}">
                <a16:creationId xmlns:a16="http://schemas.microsoft.com/office/drawing/2014/main" id="{7F9BF8FB-4CC9-4056-95CB-5404A67D906C}"/>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13</a:t>
            </a:r>
          </a:p>
        </p:txBody>
      </p:sp>
      <p:sp>
        <p:nvSpPr>
          <p:cNvPr id="7" name="24">
            <a:extLst>
              <a:ext uri="{FF2B5EF4-FFF2-40B4-BE49-F238E27FC236}">
                <a16:creationId xmlns:a16="http://schemas.microsoft.com/office/drawing/2014/main" id="{12259A31-7C42-4CBB-A570-02DC142E5CF5}"/>
              </a:ext>
            </a:extLst>
          </p:cNvPr>
          <p:cNvSpPr>
            <a:spLocks noGrp="1"/>
          </p:cNvSpPr>
          <p:nvPr/>
        </p:nvSpPr>
        <p:spPr>
          <a:xfrm>
            <a:off x="609600" y="2286000"/>
            <a:ext cx="3400425" cy="971550"/>
          </a:xfrm>
          <a:prstGeom prst="rect">
            <a:avLst/>
          </a:prstGeom>
          <a:noFill/>
          <a:ln w="0">
            <a:noFill/>
          </a:ln>
        </p:spPr>
        <p:txBody>
          <a:bodyPr wrap="square" lIns="0" tIns="0" rIns="0" bIns="0" anchor="t">
            <a:noAutofit/>
          </a:bodyPr>
          <a:lstStyle/>
          <a:p>
            <a:pPr algn="l">
              <a:defRPr sz="6300" b="1">
                <a:solidFill>
                  <a:srgbClr val="087F87"/>
                </a:solidFill>
                <a:latin typeface="Arial"/>
                <a:ea typeface="Arial"/>
                <a:cs typeface="Arial"/>
              </a:defRPr>
            </a:pPr>
            <a:r>
              <a:rPr sz="6300" b="1">
                <a:solidFill>
                  <a:srgbClr val="087F87"/>
                </a:solidFill>
                <a:latin typeface="Arial"/>
                <a:ea typeface="Arial"/>
                <a:cs typeface="Arial"/>
              </a:rPr>
              <a:t>24</a:t>
            </a:r>
          </a:p>
        </p:txBody>
      </p:sp>
      <p:sp>
        <p:nvSpPr>
          <p:cNvPr id="8" name="automated tests passed">
            <a:extLst>
              <a:ext uri="{FF2B5EF4-FFF2-40B4-BE49-F238E27FC236}">
                <a16:creationId xmlns:a16="http://schemas.microsoft.com/office/drawing/2014/main" id="{F8DB47C9-3F5A-45FF-8CC0-7CF913BE5E7D}"/>
              </a:ext>
            </a:extLst>
          </p:cNvPr>
          <p:cNvSpPr>
            <a:spLocks noGrp="1"/>
          </p:cNvSpPr>
          <p:nvPr/>
        </p:nvSpPr>
        <p:spPr>
          <a:xfrm>
            <a:off x="609600" y="3371850"/>
            <a:ext cx="4476750" cy="400050"/>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automated tests passed</a:t>
            </a:r>
          </a:p>
        </p:txBody>
      </p:sp>
      <p:sp>
        <p:nvSpPr>
          <p:cNvPr id="9" name="17 agent tests&#10;7 dashboard model tests">
            <a:extLst>
              <a:ext uri="{FF2B5EF4-FFF2-40B4-BE49-F238E27FC236}">
                <a16:creationId xmlns:a16="http://schemas.microsoft.com/office/drawing/2014/main" id="{4385D3DD-CA32-4F36-92B6-3B1DA7C6464A}"/>
              </a:ext>
            </a:extLst>
          </p:cNvPr>
          <p:cNvSpPr>
            <a:spLocks noGrp="1"/>
          </p:cNvSpPr>
          <p:nvPr/>
        </p:nvSpPr>
        <p:spPr>
          <a:xfrm>
            <a:off x="609600" y="4048125"/>
            <a:ext cx="4000500" cy="781050"/>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17 agent tests</a:t>
            </a:r>
          </a:p>
          <a:p>
            <a:pPr algn="l">
              <a:defRPr sz="1875" b="0">
                <a:solidFill>
                  <a:srgbClr val="536274"/>
                </a:solidFill>
                <a:latin typeface="Arial"/>
                <a:ea typeface="Arial"/>
                <a:cs typeface="Arial"/>
              </a:defRPr>
            </a:pPr>
            <a:r>
              <a:rPr sz="1875" b="0">
                <a:solidFill>
                  <a:srgbClr val="536274"/>
                </a:solidFill>
                <a:latin typeface="Arial"/>
                <a:ea typeface="Arial"/>
                <a:cs typeface="Arial"/>
              </a:rPr>
              <a:t>7 dashboard model tests</a:t>
            </a:r>
          </a:p>
        </p:txBody>
      </p:sp>
      <p:sp>
        <p:nvSpPr>
          <p:cNvPr id="10" name="Working today">
            <a:extLst>
              <a:ext uri="{FF2B5EF4-FFF2-40B4-BE49-F238E27FC236}">
                <a16:creationId xmlns:a16="http://schemas.microsoft.com/office/drawing/2014/main" id="{5CDB2677-C0CF-420E-B9E3-53A631A68994}"/>
              </a:ext>
            </a:extLst>
          </p:cNvPr>
          <p:cNvSpPr>
            <a:spLocks noGrp="1"/>
          </p:cNvSpPr>
          <p:nvPr/>
        </p:nvSpPr>
        <p:spPr>
          <a:xfrm>
            <a:off x="5610225" y="2200275"/>
            <a:ext cx="5981700" cy="400050"/>
          </a:xfrm>
          <a:prstGeom prst="rect">
            <a:avLst/>
          </a:prstGeom>
          <a:noFill/>
          <a:ln w="0">
            <a:noFill/>
          </a:ln>
        </p:spPr>
        <p:txBody>
          <a:bodyPr wrap="square" lIns="0" tIns="0" rIns="0" bIns="0" anchor="t">
            <a:noAutofit/>
          </a:bodyPr>
          <a:lstStyle/>
          <a:p>
            <a:pPr algn="l">
              <a:defRPr sz="2250" b="1">
                <a:solidFill>
                  <a:srgbClr val="112A46"/>
                </a:solidFill>
                <a:latin typeface="Arial"/>
                <a:ea typeface="Arial"/>
                <a:cs typeface="Arial"/>
              </a:defRPr>
            </a:pPr>
            <a:r>
              <a:rPr sz="2250" b="1">
                <a:solidFill>
                  <a:srgbClr val="112A46"/>
                </a:solidFill>
                <a:latin typeface="Arial"/>
                <a:ea typeface="Arial"/>
                <a:cs typeface="Arial"/>
              </a:rPr>
              <a:t>Working today</a:t>
            </a:r>
          </a:p>
        </p:txBody>
      </p:sp>
      <p:sp>
        <p:nvSpPr>
          <p:cNvPr id="11" name="Approved system discovery&#10;Source evidence and coverage gaps&#10;Local">
            <a:extLst>
              <a:ext uri="{FF2B5EF4-FFF2-40B4-BE49-F238E27FC236}">
                <a16:creationId xmlns:a16="http://schemas.microsoft.com/office/drawing/2014/main" id="{1081244B-65D1-4475-9FE7-B2D8780A9BD6}"/>
              </a:ext>
            </a:extLst>
          </p:cNvPr>
          <p:cNvSpPr>
            <a:spLocks noGrp="1"/>
          </p:cNvSpPr>
          <p:nvPr/>
        </p:nvSpPr>
        <p:spPr>
          <a:xfrm>
            <a:off x="5610225" y="2800350"/>
            <a:ext cx="5972175" cy="1685925"/>
          </a:xfrm>
          <a:prstGeom prst="rect">
            <a:avLst/>
          </a:prstGeom>
          <a:noFill/>
          <a:ln w="0">
            <a:noFill/>
          </a:ln>
        </p:spPr>
        <p:txBody>
          <a:bodyPr wrap="square" lIns="0" tIns="0" rIns="0" bIns="0" anchor="t">
            <a:noAutofit/>
          </a:bodyPr>
          <a:lstStyle/>
          <a:p>
            <a:pPr algn="l">
              <a:defRPr sz="2025" b="0">
                <a:solidFill>
                  <a:srgbClr val="536274"/>
                </a:solidFill>
                <a:latin typeface="Arial"/>
                <a:ea typeface="Arial"/>
                <a:cs typeface="Arial"/>
              </a:defRPr>
            </a:pPr>
            <a:r>
              <a:rPr sz="2025" b="0">
                <a:solidFill>
                  <a:srgbClr val="536274"/>
                </a:solidFill>
                <a:latin typeface="Arial"/>
                <a:ea typeface="Arial"/>
                <a:cs typeface="Arial"/>
              </a:rPr>
              <a:t>Approved system discovery</a:t>
            </a:r>
          </a:p>
          <a:p>
            <a:pPr algn="l">
              <a:defRPr sz="2025" b="0">
                <a:solidFill>
                  <a:srgbClr val="536274"/>
                </a:solidFill>
                <a:latin typeface="Arial"/>
                <a:ea typeface="Arial"/>
                <a:cs typeface="Arial"/>
              </a:defRPr>
            </a:pPr>
            <a:r>
              <a:rPr sz="2025" b="0">
                <a:solidFill>
                  <a:srgbClr val="536274"/>
                </a:solidFill>
                <a:latin typeface="Arial"/>
                <a:ea typeface="Arial"/>
                <a:cs typeface="Arial"/>
              </a:rPr>
              <a:t>Source evidence and coverage gaps</a:t>
            </a:r>
          </a:p>
          <a:p>
            <a:pPr algn="l">
              <a:defRPr sz="2025" b="0">
                <a:solidFill>
                  <a:srgbClr val="536274"/>
                </a:solidFill>
                <a:latin typeface="Arial"/>
                <a:ea typeface="Arial"/>
                <a:cs typeface="Arial"/>
              </a:defRPr>
            </a:pPr>
            <a:r>
              <a:rPr sz="2025" b="0">
                <a:solidFill>
                  <a:srgbClr val="536274"/>
                </a:solidFill>
                <a:latin typeface="Arial"/>
                <a:ea typeface="Arial"/>
                <a:cs typeface="Arial"/>
              </a:rPr>
              <a:t>Local report import and export</a:t>
            </a:r>
          </a:p>
          <a:p>
            <a:pPr algn="l">
              <a:defRPr sz="2025" b="0">
                <a:solidFill>
                  <a:srgbClr val="536274"/>
                </a:solidFill>
                <a:latin typeface="Arial"/>
                <a:ea typeface="Arial"/>
                <a:cs typeface="Arial"/>
              </a:defRPr>
            </a:pPr>
            <a:r>
              <a:rPr sz="2025" b="0">
                <a:solidFill>
                  <a:srgbClr val="536274"/>
                </a:solidFill>
                <a:latin typeface="Arial"/>
                <a:ea typeface="Arial"/>
                <a:cs typeface="Arial"/>
              </a:rPr>
              <a:t>A fictional company demo</a:t>
            </a:r>
          </a:p>
        </p:txBody>
      </p:sp>
      <p:sp>
        <p:nvSpPr>
          <p:cNvPr id="12" name="Rectangle 11">
            <a:extLst>
              <a:ext uri="{FF2B5EF4-FFF2-40B4-BE49-F238E27FC236}">
                <a16:creationId xmlns:a16="http://schemas.microsoft.com/office/drawing/2014/main" id="{4FD4DEC4-A548-431D-B9BE-897FDDA990C0}"/>
              </a:ext>
            </a:extLst>
          </p:cNvPr>
          <p:cNvSpPr>
            <a:spLocks noGrp="1"/>
          </p:cNvSpPr>
          <p:nvPr/>
        </p:nvSpPr>
        <p:spPr>
          <a:xfrm>
            <a:off x="5610225" y="4752975"/>
            <a:ext cx="5972175" cy="9525"/>
          </a:xfrm>
          <a:prstGeom prst="rect">
            <a:avLst/>
          </a:prstGeom>
          <a:solidFill>
            <a:srgbClr val="D8E0E6"/>
          </a:solidFill>
          <a:ln w="0">
            <a:noFill/>
          </a:ln>
        </p:spPr>
        <p:txBody>
          <a:bodyPr/>
          <a:lstStyle/>
          <a:p>
            <a:endParaRPr lang="en-US"/>
          </a:p>
        </p:txBody>
      </p:sp>
      <p:sp>
        <p:nvSpPr>
          <p:cNvPr id="13" name="Next proof">
            <a:extLst>
              <a:ext uri="{FF2B5EF4-FFF2-40B4-BE49-F238E27FC236}">
                <a16:creationId xmlns:a16="http://schemas.microsoft.com/office/drawing/2014/main" id="{A1AADA25-C393-498C-9BFA-5A27569439DA}"/>
              </a:ext>
            </a:extLst>
          </p:cNvPr>
          <p:cNvSpPr>
            <a:spLocks noGrp="1"/>
          </p:cNvSpPr>
          <p:nvPr/>
        </p:nvSpPr>
        <p:spPr>
          <a:xfrm>
            <a:off x="5610225" y="4953000"/>
            <a:ext cx="5972175" cy="371475"/>
          </a:xfrm>
          <a:prstGeom prst="rect">
            <a:avLst/>
          </a:prstGeom>
          <a:noFill/>
          <a:ln w="0">
            <a:noFill/>
          </a:ln>
        </p:spPr>
        <p:txBody>
          <a:bodyPr wrap="square" lIns="0" tIns="0" rIns="0" bIns="0" anchor="t">
            <a:noAutofit/>
          </a:bodyPr>
          <a:lstStyle/>
          <a:p>
            <a:pPr algn="l">
              <a:defRPr sz="2025" b="1">
                <a:solidFill>
                  <a:srgbClr val="087F87"/>
                </a:solidFill>
                <a:latin typeface="Arial"/>
                <a:ea typeface="Arial"/>
                <a:cs typeface="Arial"/>
              </a:defRPr>
            </a:pPr>
            <a:r>
              <a:rPr sz="2025" b="1">
                <a:solidFill>
                  <a:srgbClr val="087F87"/>
                </a:solidFill>
                <a:latin typeface="Arial"/>
                <a:ea typeface="Arial"/>
                <a:cs typeface="Arial"/>
              </a:rPr>
              <a:t>Next proof</a:t>
            </a:r>
          </a:p>
        </p:txBody>
      </p:sp>
      <p:sp>
        <p:nvSpPr>
          <p:cNvPr id="14" name="A real company pilot&#10;A native ERP connection">
            <a:extLst>
              <a:ext uri="{FF2B5EF4-FFF2-40B4-BE49-F238E27FC236}">
                <a16:creationId xmlns:a16="http://schemas.microsoft.com/office/drawing/2014/main" id="{4DC297B1-77DA-486F-9960-B5F2E9F91DEB}"/>
              </a:ext>
            </a:extLst>
          </p:cNvPr>
          <p:cNvSpPr>
            <a:spLocks noGrp="1"/>
          </p:cNvSpPr>
          <p:nvPr/>
        </p:nvSpPr>
        <p:spPr>
          <a:xfrm>
            <a:off x="5610225" y="5372100"/>
            <a:ext cx="5972175" cy="61912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A real company pilot</a:t>
            </a:r>
          </a:p>
          <a:p>
            <a:pPr algn="l">
              <a:defRPr sz="2025" b="1">
                <a:solidFill>
                  <a:srgbClr val="112A46"/>
                </a:solidFill>
                <a:latin typeface="Arial"/>
                <a:ea typeface="Arial"/>
                <a:cs typeface="Arial"/>
              </a:defRPr>
            </a:pPr>
            <a:r>
              <a:rPr sz="2025" b="1">
                <a:solidFill>
                  <a:srgbClr val="112A46"/>
                </a:solidFill>
                <a:latin typeface="Arial"/>
                <a:ea typeface="Arial"/>
                <a:cs typeface="Arial"/>
              </a:rPr>
              <a:t>A native ERP connection</a:t>
            </a:r>
          </a:p>
        </p:txBody>
      </p:sp>
      <p:sp>
        <p:nvSpPr>
          <p:cNvPr id="15" name="Validation is local engineering evidence. It does not establish c">
            <a:extLst>
              <a:ext uri="{FF2B5EF4-FFF2-40B4-BE49-F238E27FC236}">
                <a16:creationId xmlns:a16="http://schemas.microsoft.com/office/drawing/2014/main" id="{AD139C2D-8AAB-478A-95F5-580D2BBC4C71}"/>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Validation is local engineering evidence. It does not establish customer traction or a complete self-improvement loop.</a:t>
            </a:r>
          </a:p>
        </p:txBody>
      </p:sp>
    </p:spTree>
    <p:extLst>
      <p:ext uri="{BB962C8B-B14F-4D97-AF65-F5344CB8AC3E}">
        <p14:creationId xmlns:p14="http://schemas.microsoft.com/office/powerpoint/2010/main" val="797528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2354023-2C70-4056-8BE7-80AFEDA5ED88}"/>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Go-to-market starts with one operating problem">
            <a:extLst>
              <a:ext uri="{FF2B5EF4-FFF2-40B4-BE49-F238E27FC236}">
                <a16:creationId xmlns:a16="http://schemas.microsoft.com/office/drawing/2014/main" id="{D15AEFA1-FEE0-4B1B-B77A-A1B3F460F33C}"/>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Go-to-market starts with one operating problem</a:t>
            </a:r>
          </a:p>
        </p:txBody>
      </p:sp>
      <p:sp>
        <p:nvSpPr>
          <p:cNvPr id="3" name="Founder-led design partnerships would establish the evidence need">
            <a:extLst>
              <a:ext uri="{FF2B5EF4-FFF2-40B4-BE49-F238E27FC236}">
                <a16:creationId xmlns:a16="http://schemas.microsoft.com/office/drawing/2014/main" id="{77A90D89-7429-43C9-BA40-A5815C197A53}"/>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Founder-led design partnerships would establish the evidence needed for repeatable deployment.</a:t>
            </a:r>
          </a:p>
        </p:txBody>
      </p:sp>
      <p:sp>
        <p:nvSpPr>
          <p:cNvPr id="4" name="Rectangle 3">
            <a:extLst>
              <a:ext uri="{FF2B5EF4-FFF2-40B4-BE49-F238E27FC236}">
                <a16:creationId xmlns:a16="http://schemas.microsoft.com/office/drawing/2014/main" id="{A72EEEBF-CB47-4936-B06A-D6453DA46857}"/>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99708304-DEDD-46BA-B959-747DBDD2511E}"/>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4">
            <a:extLst>
              <a:ext uri="{FF2B5EF4-FFF2-40B4-BE49-F238E27FC236}">
                <a16:creationId xmlns:a16="http://schemas.microsoft.com/office/drawing/2014/main" id="{28326BB2-3397-4E4E-A2AA-465915E304EA}"/>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14</a:t>
            </a:r>
          </a:p>
        </p:txBody>
      </p:sp>
      <p:sp>
        <p:nvSpPr>
          <p:cNvPr id="7" name="01">
            <a:extLst>
              <a:ext uri="{FF2B5EF4-FFF2-40B4-BE49-F238E27FC236}">
                <a16:creationId xmlns:a16="http://schemas.microsoft.com/office/drawing/2014/main" id="{0A3F40DB-4AF0-4775-BD60-BE49B911278C}"/>
              </a:ext>
            </a:extLst>
          </p:cNvPr>
          <p:cNvSpPr>
            <a:spLocks noGrp="1"/>
          </p:cNvSpPr>
          <p:nvPr/>
        </p:nvSpPr>
        <p:spPr>
          <a:xfrm>
            <a:off x="609600" y="2238375"/>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01</a:t>
            </a:r>
          </a:p>
        </p:txBody>
      </p:sp>
      <p:sp>
        <p:nvSpPr>
          <p:cNvPr id="8" name="Paid discovery">
            <a:extLst>
              <a:ext uri="{FF2B5EF4-FFF2-40B4-BE49-F238E27FC236}">
                <a16:creationId xmlns:a16="http://schemas.microsoft.com/office/drawing/2014/main" id="{8072C3E1-82D7-4991-A099-A9624E8CCF85}"/>
              </a:ext>
            </a:extLst>
          </p:cNvPr>
          <p:cNvSpPr>
            <a:spLocks noGrp="1"/>
          </p:cNvSpPr>
          <p:nvPr/>
        </p:nvSpPr>
        <p:spPr>
          <a:xfrm>
            <a:off x="1323975" y="2238375"/>
            <a:ext cx="289560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Paid discovery</a:t>
            </a:r>
          </a:p>
        </p:txBody>
      </p:sp>
      <p:sp>
        <p:nvSpPr>
          <p:cNvPr id="9" name="Agree scope with an owner. Map systems, confirm access and establ">
            <a:extLst>
              <a:ext uri="{FF2B5EF4-FFF2-40B4-BE49-F238E27FC236}">
                <a16:creationId xmlns:a16="http://schemas.microsoft.com/office/drawing/2014/main" id="{A02F528C-2077-4C56-BF8B-CA6EE1BD991A}"/>
              </a:ext>
            </a:extLst>
          </p:cNvPr>
          <p:cNvSpPr>
            <a:spLocks noGrp="1"/>
          </p:cNvSpPr>
          <p:nvPr/>
        </p:nvSpPr>
        <p:spPr>
          <a:xfrm>
            <a:off x="4562475" y="2238375"/>
            <a:ext cx="7019925" cy="96202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Agree scope with an owner. Map systems, confirm access and establish the operating baseline.</a:t>
            </a:r>
          </a:p>
        </p:txBody>
      </p:sp>
      <p:sp>
        <p:nvSpPr>
          <p:cNvPr id="10" name="Rectangle 9">
            <a:extLst>
              <a:ext uri="{FF2B5EF4-FFF2-40B4-BE49-F238E27FC236}">
                <a16:creationId xmlns:a16="http://schemas.microsoft.com/office/drawing/2014/main" id="{63303C22-B66C-41E0-9BAF-F90C57C9D19A}"/>
              </a:ext>
            </a:extLst>
          </p:cNvPr>
          <p:cNvSpPr>
            <a:spLocks noGrp="1"/>
          </p:cNvSpPr>
          <p:nvPr/>
        </p:nvSpPr>
        <p:spPr>
          <a:xfrm>
            <a:off x="609600" y="3219450"/>
            <a:ext cx="10972800" cy="9525"/>
          </a:xfrm>
          <a:prstGeom prst="rect">
            <a:avLst/>
          </a:prstGeom>
          <a:solidFill>
            <a:srgbClr val="D8E0E6"/>
          </a:solidFill>
          <a:ln w="0">
            <a:noFill/>
          </a:ln>
        </p:spPr>
        <p:txBody>
          <a:bodyPr/>
          <a:lstStyle/>
          <a:p>
            <a:endParaRPr lang="en-US"/>
          </a:p>
        </p:txBody>
      </p:sp>
      <p:sp>
        <p:nvSpPr>
          <p:cNvPr id="11" name="02">
            <a:extLst>
              <a:ext uri="{FF2B5EF4-FFF2-40B4-BE49-F238E27FC236}">
                <a16:creationId xmlns:a16="http://schemas.microsoft.com/office/drawing/2014/main" id="{B31901C0-395F-4296-8386-1BEF0089DDE1}"/>
              </a:ext>
            </a:extLst>
          </p:cNvPr>
          <p:cNvSpPr>
            <a:spLocks noGrp="1"/>
          </p:cNvSpPr>
          <p:nvPr/>
        </p:nvSpPr>
        <p:spPr>
          <a:xfrm>
            <a:off x="609600" y="3381375"/>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02</a:t>
            </a:r>
          </a:p>
        </p:txBody>
      </p:sp>
      <p:sp>
        <p:nvSpPr>
          <p:cNvPr id="12" name="One improvement loop">
            <a:extLst>
              <a:ext uri="{FF2B5EF4-FFF2-40B4-BE49-F238E27FC236}">
                <a16:creationId xmlns:a16="http://schemas.microsoft.com/office/drawing/2014/main" id="{EC2CA0BA-E719-408B-8B3B-FC2C11675F5E}"/>
              </a:ext>
            </a:extLst>
          </p:cNvPr>
          <p:cNvSpPr>
            <a:spLocks noGrp="1"/>
          </p:cNvSpPr>
          <p:nvPr/>
        </p:nvSpPr>
        <p:spPr>
          <a:xfrm>
            <a:off x="1323975" y="3381375"/>
            <a:ext cx="289560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One improvement loop</a:t>
            </a:r>
          </a:p>
        </p:txBody>
      </p:sp>
      <p:sp>
        <p:nvSpPr>
          <p:cNvPr id="13" name="Connect the required records and evaluate one human-approved inte">
            <a:extLst>
              <a:ext uri="{FF2B5EF4-FFF2-40B4-BE49-F238E27FC236}">
                <a16:creationId xmlns:a16="http://schemas.microsoft.com/office/drawing/2014/main" id="{EBFE46E6-23FD-490B-A1F5-9A2A7315493D}"/>
              </a:ext>
            </a:extLst>
          </p:cNvPr>
          <p:cNvSpPr>
            <a:spLocks noGrp="1"/>
          </p:cNvSpPr>
          <p:nvPr/>
        </p:nvSpPr>
        <p:spPr>
          <a:xfrm>
            <a:off x="4562475" y="3381375"/>
            <a:ext cx="7019925" cy="96202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Connect the required records and evaluate one human-approved intervention.</a:t>
            </a:r>
          </a:p>
        </p:txBody>
      </p:sp>
      <p:sp>
        <p:nvSpPr>
          <p:cNvPr id="14" name="Rectangle 13">
            <a:extLst>
              <a:ext uri="{FF2B5EF4-FFF2-40B4-BE49-F238E27FC236}">
                <a16:creationId xmlns:a16="http://schemas.microsoft.com/office/drawing/2014/main" id="{31AD9E8C-43B5-4818-A73F-EB5B39E8CC7A}"/>
              </a:ext>
            </a:extLst>
          </p:cNvPr>
          <p:cNvSpPr>
            <a:spLocks noGrp="1"/>
          </p:cNvSpPr>
          <p:nvPr/>
        </p:nvSpPr>
        <p:spPr>
          <a:xfrm>
            <a:off x="609600" y="4362450"/>
            <a:ext cx="10972800" cy="9525"/>
          </a:xfrm>
          <a:prstGeom prst="rect">
            <a:avLst/>
          </a:prstGeom>
          <a:solidFill>
            <a:srgbClr val="D8E0E6"/>
          </a:solidFill>
          <a:ln w="0">
            <a:noFill/>
          </a:ln>
        </p:spPr>
        <p:txBody>
          <a:bodyPr/>
          <a:lstStyle/>
          <a:p>
            <a:endParaRPr lang="en-US"/>
          </a:p>
        </p:txBody>
      </p:sp>
      <p:sp>
        <p:nvSpPr>
          <p:cNvPr id="15" name="03">
            <a:extLst>
              <a:ext uri="{FF2B5EF4-FFF2-40B4-BE49-F238E27FC236}">
                <a16:creationId xmlns:a16="http://schemas.microsoft.com/office/drawing/2014/main" id="{D31B6D37-C1E9-4722-9447-50BC4EF014A4}"/>
              </a:ext>
            </a:extLst>
          </p:cNvPr>
          <p:cNvSpPr>
            <a:spLocks noGrp="1"/>
          </p:cNvSpPr>
          <p:nvPr/>
        </p:nvSpPr>
        <p:spPr>
          <a:xfrm>
            <a:off x="609600" y="4524375"/>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03</a:t>
            </a:r>
          </a:p>
        </p:txBody>
      </p:sp>
      <p:sp>
        <p:nvSpPr>
          <p:cNvPr id="16" name="Workflow expansion">
            <a:extLst>
              <a:ext uri="{FF2B5EF4-FFF2-40B4-BE49-F238E27FC236}">
                <a16:creationId xmlns:a16="http://schemas.microsoft.com/office/drawing/2014/main" id="{63E4A8EE-CCA0-4F06-86A2-F88248A4BB6D}"/>
              </a:ext>
            </a:extLst>
          </p:cNvPr>
          <p:cNvSpPr>
            <a:spLocks noGrp="1"/>
          </p:cNvSpPr>
          <p:nvPr/>
        </p:nvSpPr>
        <p:spPr>
          <a:xfrm>
            <a:off x="1323975" y="4524375"/>
            <a:ext cx="289560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Workflow expansion</a:t>
            </a:r>
          </a:p>
        </p:txBody>
      </p:sp>
      <p:sp>
        <p:nvSpPr>
          <p:cNvPr id="17" name="Add recurring monitoring and further use cases after the customer">
            <a:extLst>
              <a:ext uri="{FF2B5EF4-FFF2-40B4-BE49-F238E27FC236}">
                <a16:creationId xmlns:a16="http://schemas.microsoft.com/office/drawing/2014/main" id="{11B366DE-9B77-4342-AB34-2452B0FA997A}"/>
              </a:ext>
            </a:extLst>
          </p:cNvPr>
          <p:cNvSpPr>
            <a:spLocks noGrp="1"/>
          </p:cNvSpPr>
          <p:nvPr/>
        </p:nvSpPr>
        <p:spPr>
          <a:xfrm>
            <a:off x="4562475" y="4524375"/>
            <a:ext cx="7019925" cy="962025"/>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Add recurring monitoring and further use cases after the customer verifies value.</a:t>
            </a:r>
          </a:p>
        </p:txBody>
      </p:sp>
      <p:sp>
        <p:nvSpPr>
          <p:cNvPr id="18" name="Rectangle 17">
            <a:extLst>
              <a:ext uri="{FF2B5EF4-FFF2-40B4-BE49-F238E27FC236}">
                <a16:creationId xmlns:a16="http://schemas.microsoft.com/office/drawing/2014/main" id="{586C303F-5960-4A66-BFBD-6D32A8558AC0}"/>
              </a:ext>
            </a:extLst>
          </p:cNvPr>
          <p:cNvSpPr>
            <a:spLocks noGrp="1"/>
          </p:cNvSpPr>
          <p:nvPr/>
        </p:nvSpPr>
        <p:spPr>
          <a:xfrm>
            <a:off x="609600" y="5505450"/>
            <a:ext cx="10972800" cy="9525"/>
          </a:xfrm>
          <a:prstGeom prst="rect">
            <a:avLst/>
          </a:prstGeom>
          <a:solidFill>
            <a:srgbClr val="D8E0E6"/>
          </a:solidFill>
          <a:ln w="0">
            <a:noFill/>
          </a:ln>
        </p:spPr>
        <p:txBody>
          <a:bodyPr/>
          <a:lstStyle/>
          <a:p>
            <a:endParaRPr lang="en-US"/>
          </a:p>
        </p:txBody>
      </p:sp>
      <p:sp>
        <p:nvSpPr>
          <p:cNvPr id="19" name="Proposed channels: operator referrals, ERP implementation partner">
            <a:extLst>
              <a:ext uri="{FF2B5EF4-FFF2-40B4-BE49-F238E27FC236}">
                <a16:creationId xmlns:a16="http://schemas.microsoft.com/office/drawing/2014/main" id="{5F2F06E9-98B5-4BD8-80BA-ADF513618091}"/>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Proposed channels: operator referrals, ERP implementation partners and private-equity operating teams. No partnerships claimed.</a:t>
            </a:r>
          </a:p>
        </p:txBody>
      </p:sp>
    </p:spTree>
    <p:extLst>
      <p:ext uri="{BB962C8B-B14F-4D97-AF65-F5344CB8AC3E}">
        <p14:creationId xmlns:p14="http://schemas.microsoft.com/office/powerpoint/2010/main" val="916714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9025313-3D4F-4E97-B39C-5BEB30CC979A}"/>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Paid discovery, followed by subscription software">
            <a:extLst>
              <a:ext uri="{FF2B5EF4-FFF2-40B4-BE49-F238E27FC236}">
                <a16:creationId xmlns:a16="http://schemas.microsoft.com/office/drawing/2014/main" id="{7A2C75BD-07DC-4809-A12B-699409EB9611}"/>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Paid discovery, followed by subscription software</a:t>
            </a:r>
          </a:p>
        </p:txBody>
      </p:sp>
      <p:sp>
        <p:nvSpPr>
          <p:cNvPr id="3" name="Proposed commercial structure. Scope and pricing need customer va">
            <a:extLst>
              <a:ext uri="{FF2B5EF4-FFF2-40B4-BE49-F238E27FC236}">
                <a16:creationId xmlns:a16="http://schemas.microsoft.com/office/drawing/2014/main" id="{03834763-B1BD-4181-BD2F-D7E2E0B30C14}"/>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Proposed commercial structure. Scope and pricing need customer validation.</a:t>
            </a:r>
          </a:p>
        </p:txBody>
      </p:sp>
      <p:sp>
        <p:nvSpPr>
          <p:cNvPr id="4" name="Rectangle 3">
            <a:extLst>
              <a:ext uri="{FF2B5EF4-FFF2-40B4-BE49-F238E27FC236}">
                <a16:creationId xmlns:a16="http://schemas.microsoft.com/office/drawing/2014/main" id="{A1AF8894-5EF9-4839-9FD5-75074B6BABE1}"/>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1162D4F6-B4CF-4F6A-A9AF-D65AB22A3854}"/>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5">
            <a:extLst>
              <a:ext uri="{FF2B5EF4-FFF2-40B4-BE49-F238E27FC236}">
                <a16:creationId xmlns:a16="http://schemas.microsoft.com/office/drawing/2014/main" id="{F7EB6F68-67A8-4724-82CD-29A6A647E0EF}"/>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15</a:t>
            </a:r>
          </a:p>
        </p:txBody>
      </p:sp>
      <p:graphicFrame>
        <p:nvGraphicFramePr>
          <p:cNvPr id="16" name="Table 15"/>
          <p:cNvGraphicFramePr/>
          <p:nvPr/>
        </p:nvGraphicFramePr>
        <p:xfrm>
          <a:off x="609600" y="2228850"/>
          <a:ext cx="10972800" cy="3476625"/>
        </p:xfrm>
        <a:graphic>
          <a:graphicData uri="http://schemas.openxmlformats.org/drawingml/2006/table">
            <a:tbl>
              <a:tblPr/>
              <a:tblGrid>
                <a:gridCol w="2867025">
                  <a:extLst>
                    <a:ext uri="{9D8B030D-6E8A-4147-A177-3AD203B41FA5}">
                      <a16:colId xmlns:a16="http://schemas.microsoft.com/office/drawing/2014/main" val="20000"/>
                    </a:ext>
                  </a:extLst>
                </a:gridCol>
                <a:gridCol w="5057775">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Revenue component</a:t>
                      </a:r>
                    </a:p>
                  </a:txBody>
                  <a:tcPr anchor="ctr">
                    <a:solidFill>
                      <a:srgbClr val="112A46"/>
                    </a:solidFill>
                  </a:tcPr>
                </a:tc>
                <a:tc>
                  <a:txBody>
                    <a:bodyPr/>
                    <a:lstStyle/>
                    <a:p>
                      <a:r>
                        <a:rPr sz="1500" b="1">
                          <a:solidFill>
                            <a:srgbClr val="FFFFFF"/>
                          </a:solidFill>
                          <a:latin typeface="Arial"/>
                          <a:ea typeface="Arial"/>
                          <a:cs typeface="Arial"/>
                        </a:rPr>
                        <a:t>What the customer would buy</a:t>
                      </a:r>
                    </a:p>
                  </a:txBody>
                  <a:tcPr anchor="ctr">
                    <a:solidFill>
                      <a:srgbClr val="112A46"/>
                    </a:solidFill>
                  </a:tcPr>
                </a:tc>
                <a:tc>
                  <a:txBody>
                    <a:bodyPr/>
                    <a:lstStyle/>
                    <a:p>
                      <a:r>
                        <a:rPr sz="1500" b="1">
                          <a:solidFill>
                            <a:srgbClr val="FFFFFF"/>
                          </a:solidFill>
                          <a:latin typeface="Arial"/>
                          <a:ea typeface="Arial"/>
                          <a:cs typeface="Arial"/>
                        </a:rPr>
                        <a:t>Commercial logic</a:t>
                      </a:r>
                    </a:p>
                  </a:txBody>
                  <a:tcPr anchor="ctr">
                    <a:solidFill>
                      <a:srgbClr val="112A46"/>
                    </a:solidFill>
                  </a:tcPr>
                </a:tc>
                <a:extLst>
                  <a:ext uri="{0D108BD9-81ED-4DB2-BD59-A6C34878D82A}">
                    <a16:rowId xmlns:a16="http://schemas.microsoft.com/office/drawing/2014/main" val="10000"/>
                  </a:ext>
                </a:extLst>
              </a:tr>
              <a:tr h="745331">
                <a:tc>
                  <a:txBody>
                    <a:bodyPr/>
                    <a:lstStyle/>
                    <a:p>
                      <a:r>
                        <a:rPr sz="1725" b="1">
                          <a:solidFill>
                            <a:srgbClr val="112A46"/>
                          </a:solidFill>
                          <a:latin typeface="Arial"/>
                          <a:ea typeface="Arial"/>
                          <a:cs typeface="Arial"/>
                        </a:rPr>
                        <a:t>Discovery engagement</a:t>
                      </a:r>
                    </a:p>
                  </a:txBody>
                  <a:tcPr anchor="ctr">
                    <a:solidFill>
                      <a:srgbClr val="FFFFFF"/>
                    </a:solidFill>
                  </a:tcPr>
                </a:tc>
                <a:tc>
                  <a:txBody>
                    <a:bodyPr/>
                    <a:lstStyle/>
                    <a:p>
                      <a:r>
                        <a:rPr sz="1725" b="0">
                          <a:solidFill>
                            <a:srgbClr val="112A46"/>
                          </a:solidFill>
                          <a:latin typeface="Arial"/>
                          <a:ea typeface="Arial"/>
                          <a:cs typeface="Arial"/>
                        </a:rPr>
                        <a:t>System map, baseline and a prioritized use case</a:t>
                      </a:r>
                    </a:p>
                  </a:txBody>
                  <a:tcPr anchor="ctr">
                    <a:solidFill>
                      <a:srgbClr val="FFFFFF"/>
                    </a:solidFill>
                  </a:tcPr>
                </a:tc>
                <a:tc>
                  <a:txBody>
                    <a:bodyPr/>
                    <a:lstStyle/>
                    <a:p>
                      <a:r>
                        <a:rPr sz="1725" b="0">
                          <a:solidFill>
                            <a:srgbClr val="112A46"/>
                          </a:solidFill>
                          <a:latin typeface="Arial"/>
                          <a:ea typeface="Arial"/>
                          <a:cs typeface="Arial"/>
                        </a:rPr>
                        <a:t>One-time fee for a defined scope</a:t>
                      </a:r>
                    </a:p>
                  </a:txBody>
                  <a:tcPr anchor="ctr">
                    <a:solidFill>
                      <a:srgbClr val="FFFFFF"/>
                    </a:solidFill>
                  </a:tcPr>
                </a:tc>
                <a:extLst>
                  <a:ext uri="{0D108BD9-81ED-4DB2-BD59-A6C34878D82A}">
                    <a16:rowId xmlns:a16="http://schemas.microsoft.com/office/drawing/2014/main" val="10001"/>
                  </a:ext>
                </a:extLst>
              </a:tr>
              <a:tr h="745331">
                <a:tc>
                  <a:txBody>
                    <a:bodyPr/>
                    <a:lstStyle/>
                    <a:p>
                      <a:r>
                        <a:rPr sz="1725" b="1">
                          <a:solidFill>
                            <a:srgbClr val="112A46"/>
                          </a:solidFill>
                          <a:latin typeface="Arial"/>
                          <a:ea typeface="Arial"/>
                          <a:cs typeface="Arial"/>
                        </a:rPr>
                        <a:t>Company platform</a:t>
                      </a:r>
                    </a:p>
                  </a:txBody>
                  <a:tcPr anchor="ctr">
                    <a:solidFill>
                      <a:srgbClr val="F2F5F7"/>
                    </a:solidFill>
                  </a:tcPr>
                </a:tc>
                <a:tc>
                  <a:txBody>
                    <a:bodyPr/>
                    <a:lstStyle/>
                    <a:p>
                      <a:r>
                        <a:rPr sz="1725" b="0">
                          <a:solidFill>
                            <a:srgbClr val="112A46"/>
                          </a:solidFill>
                          <a:latin typeface="Arial"/>
                          <a:ea typeface="Arial"/>
                          <a:cs typeface="Arial"/>
                        </a:rPr>
                        <a:t>Persistent model, monitoring and governed access</a:t>
                      </a:r>
                    </a:p>
                  </a:txBody>
                  <a:tcPr anchor="ctr">
                    <a:solidFill>
                      <a:srgbClr val="F2F5F7"/>
                    </a:solidFill>
                  </a:tcPr>
                </a:tc>
                <a:tc>
                  <a:txBody>
                    <a:bodyPr/>
                    <a:lstStyle/>
                    <a:p>
                      <a:r>
                        <a:rPr sz="1725" b="0">
                          <a:solidFill>
                            <a:srgbClr val="112A46"/>
                          </a:solidFill>
                          <a:latin typeface="Arial"/>
                          <a:ea typeface="Arial"/>
                          <a:cs typeface="Arial"/>
                        </a:rPr>
                        <a:t>Annual subscription per company</a:t>
                      </a:r>
                    </a:p>
                  </a:txBody>
                  <a:tcPr anchor="ctr">
                    <a:solidFill>
                      <a:srgbClr val="F2F5F7"/>
                    </a:solidFill>
                  </a:tcPr>
                </a:tc>
                <a:extLst>
                  <a:ext uri="{0D108BD9-81ED-4DB2-BD59-A6C34878D82A}">
                    <a16:rowId xmlns:a16="http://schemas.microsoft.com/office/drawing/2014/main" val="10002"/>
                  </a:ext>
                </a:extLst>
              </a:tr>
              <a:tr h="745331">
                <a:tc>
                  <a:txBody>
                    <a:bodyPr/>
                    <a:lstStyle/>
                    <a:p>
                      <a:r>
                        <a:rPr sz="1725" b="1">
                          <a:solidFill>
                            <a:srgbClr val="112A46"/>
                          </a:solidFill>
                          <a:latin typeface="Arial"/>
                          <a:ea typeface="Arial"/>
                          <a:cs typeface="Arial"/>
                        </a:rPr>
                        <a:t>Workflow capacity</a:t>
                      </a:r>
                    </a:p>
                  </a:txBody>
                  <a:tcPr anchor="ctr">
                    <a:solidFill>
                      <a:srgbClr val="FFFFFF"/>
                    </a:solidFill>
                  </a:tcPr>
                </a:tc>
                <a:tc>
                  <a:txBody>
                    <a:bodyPr/>
                    <a:lstStyle/>
                    <a:p>
                      <a:r>
                        <a:rPr sz="1725" b="0">
                          <a:solidFill>
                            <a:srgbClr val="112A46"/>
                          </a:solidFill>
                          <a:latin typeface="Arial"/>
                          <a:ea typeface="Arial"/>
                          <a:cs typeface="Arial"/>
                        </a:rPr>
                        <a:t>Approved automation within usage and cost limits</a:t>
                      </a:r>
                    </a:p>
                  </a:txBody>
                  <a:tcPr anchor="ctr">
                    <a:solidFill>
                      <a:srgbClr val="FFFFFF"/>
                    </a:solidFill>
                  </a:tcPr>
                </a:tc>
                <a:tc>
                  <a:txBody>
                    <a:bodyPr/>
                    <a:lstStyle/>
                    <a:p>
                      <a:r>
                        <a:rPr sz="1725" b="0">
                          <a:solidFill>
                            <a:srgbClr val="112A46"/>
                          </a:solidFill>
                          <a:latin typeface="Arial"/>
                          <a:ea typeface="Arial"/>
                          <a:cs typeface="Arial"/>
                        </a:rPr>
                        <a:t>Transparent tiers or metered usage</a:t>
                      </a:r>
                    </a:p>
                  </a:txBody>
                  <a:tcPr anchor="ctr">
                    <a:solidFill>
                      <a:srgbClr val="FFFFFF"/>
                    </a:solidFill>
                  </a:tcPr>
                </a:tc>
                <a:extLst>
                  <a:ext uri="{0D108BD9-81ED-4DB2-BD59-A6C34878D82A}">
                    <a16:rowId xmlns:a16="http://schemas.microsoft.com/office/drawing/2014/main" val="10003"/>
                  </a:ext>
                </a:extLst>
              </a:tr>
              <a:tr h="745331">
                <a:tc>
                  <a:txBody>
                    <a:bodyPr/>
                    <a:lstStyle/>
                    <a:p>
                      <a:r>
                        <a:rPr sz="1725" b="1">
                          <a:solidFill>
                            <a:srgbClr val="112A46"/>
                          </a:solidFill>
                          <a:latin typeface="Arial"/>
                          <a:ea typeface="Arial"/>
                          <a:cs typeface="Arial"/>
                        </a:rPr>
                        <a:t>Implementation</a:t>
                      </a:r>
                    </a:p>
                  </a:txBody>
                  <a:tcPr anchor="ctr">
                    <a:solidFill>
                      <a:srgbClr val="F2F5F7"/>
                    </a:solidFill>
                  </a:tcPr>
                </a:tc>
                <a:tc>
                  <a:txBody>
                    <a:bodyPr/>
                    <a:lstStyle/>
                    <a:p>
                      <a:r>
                        <a:rPr sz="1725" b="0">
                          <a:solidFill>
                            <a:srgbClr val="112A46"/>
                          </a:solidFill>
                          <a:latin typeface="Arial"/>
                          <a:ea typeface="Arial"/>
                          <a:cs typeface="Arial"/>
                        </a:rPr>
                        <a:t>Connector configuration and process onboarding</a:t>
                      </a:r>
                    </a:p>
                  </a:txBody>
                  <a:tcPr anchor="ctr">
                    <a:solidFill>
                      <a:srgbClr val="F2F5F7"/>
                    </a:solidFill>
                  </a:tcPr>
                </a:tc>
                <a:tc>
                  <a:txBody>
                    <a:bodyPr/>
                    <a:lstStyle/>
                    <a:p>
                      <a:r>
                        <a:rPr sz="1725" b="0">
                          <a:solidFill>
                            <a:srgbClr val="112A46"/>
                          </a:solidFill>
                          <a:latin typeface="Arial"/>
                          <a:ea typeface="Arial"/>
                          <a:cs typeface="Arial"/>
                        </a:rPr>
                        <a:t>Separately priced deployment work</a:t>
                      </a:r>
                    </a:p>
                  </a:txBody>
                  <a:tcPr anchor="ctr">
                    <a:solidFill>
                      <a:srgbClr val="F2F5F7"/>
                    </a:solidFill>
                  </a:tcP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BBD30CBF-7DDF-4694-97E1-F7405C9091A7}"/>
              </a:ext>
            </a:extLst>
          </p:cNvPr>
          <p:cNvSpPr>
            <a:spLocks noGrp="1"/>
          </p:cNvSpPr>
          <p:nvPr/>
        </p:nvSpPr>
        <p:spPr>
          <a:xfrm>
            <a:off x="609600" y="5781675"/>
            <a:ext cx="47625" cy="428625"/>
          </a:xfrm>
          <a:prstGeom prst="rect">
            <a:avLst/>
          </a:prstGeom>
          <a:solidFill>
            <a:srgbClr val="087F87"/>
          </a:solidFill>
          <a:ln w="0">
            <a:noFill/>
          </a:ln>
        </p:spPr>
        <p:txBody>
          <a:bodyPr/>
          <a:lstStyle/>
          <a:p>
            <a:endParaRPr lang="en-US"/>
          </a:p>
        </p:txBody>
      </p:sp>
      <p:sp>
        <p:nvSpPr>
          <p:cNvPr id="9" name="Renewal should depend on sustained decision value and verified op">
            <a:extLst>
              <a:ext uri="{FF2B5EF4-FFF2-40B4-BE49-F238E27FC236}">
                <a16:creationId xmlns:a16="http://schemas.microsoft.com/office/drawing/2014/main" id="{B958E62A-21ED-4AAA-8B22-E2B9B3D736B2}"/>
              </a:ext>
            </a:extLst>
          </p:cNvPr>
          <p:cNvSpPr>
            <a:spLocks noGrp="1"/>
          </p:cNvSpPr>
          <p:nvPr/>
        </p:nvSpPr>
        <p:spPr>
          <a:xfrm>
            <a:off x="800100" y="5810250"/>
            <a:ext cx="10782300" cy="533400"/>
          </a:xfrm>
          <a:prstGeom prst="rect">
            <a:avLst/>
          </a:prstGeom>
          <a:noFill/>
          <a:ln w="0">
            <a:noFill/>
          </a:ln>
        </p:spPr>
        <p:txBody>
          <a:bodyPr wrap="square" lIns="0" tIns="0" rIns="0" bIns="0" anchor="t">
            <a:noAutofit/>
          </a:bodyPr>
          <a:lstStyle/>
          <a:p>
            <a:pPr algn="l">
              <a:defRPr sz="1950" b="1">
                <a:solidFill>
                  <a:srgbClr val="112A46"/>
                </a:solidFill>
                <a:latin typeface="Arial"/>
                <a:ea typeface="Arial"/>
                <a:cs typeface="Arial"/>
              </a:defRPr>
            </a:pPr>
            <a:r>
              <a:rPr sz="1950" b="1">
                <a:solidFill>
                  <a:srgbClr val="112A46"/>
                </a:solidFill>
                <a:latin typeface="Arial"/>
                <a:ea typeface="Arial"/>
                <a:cs typeface="Arial"/>
              </a:rPr>
              <a:t>Renewal should depend on sustained decision value and verified operating outcomes</a:t>
            </a:r>
          </a:p>
        </p:txBody>
      </p:sp>
    </p:spTree>
    <p:extLst>
      <p:ext uri="{BB962C8B-B14F-4D97-AF65-F5344CB8AC3E}">
        <p14:creationId xmlns:p14="http://schemas.microsoft.com/office/powerpoint/2010/main" val="695361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C15A983-473D-4599-B02A-221A4722B40F}"/>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Manufacturing offers a focused starting market">
            <a:extLst>
              <a:ext uri="{FF2B5EF4-FFF2-40B4-BE49-F238E27FC236}">
                <a16:creationId xmlns:a16="http://schemas.microsoft.com/office/drawing/2014/main" id="{04A74CE6-4655-4786-930A-42C2B0E22898}"/>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Manufacturing offers a focused starting market</a:t>
            </a:r>
          </a:p>
        </p:txBody>
      </p:sp>
      <p:sp>
        <p:nvSpPr>
          <p:cNvPr id="3" name="Illustrative U.S. market calculation, before qualification for ac">
            <a:extLst>
              <a:ext uri="{FF2B5EF4-FFF2-40B4-BE49-F238E27FC236}">
                <a16:creationId xmlns:a16="http://schemas.microsoft.com/office/drawing/2014/main" id="{A8432E58-6AA5-4BE6-974E-604057C7A120}"/>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Illustrative U.S. market calculation, before qualification for access, need and budget.</a:t>
            </a:r>
          </a:p>
        </p:txBody>
      </p:sp>
      <p:sp>
        <p:nvSpPr>
          <p:cNvPr id="4" name="Rectangle 3">
            <a:extLst>
              <a:ext uri="{FF2B5EF4-FFF2-40B4-BE49-F238E27FC236}">
                <a16:creationId xmlns:a16="http://schemas.microsoft.com/office/drawing/2014/main" id="{97AEADBB-D991-46E4-8135-EBB844A9F729}"/>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BA89806C-6478-456B-ABC2-177805732E53}"/>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6">
            <a:extLst>
              <a:ext uri="{FF2B5EF4-FFF2-40B4-BE49-F238E27FC236}">
                <a16:creationId xmlns:a16="http://schemas.microsoft.com/office/drawing/2014/main" id="{F9E847E6-D2BF-4132-AC78-BBACE5B0A9A4}"/>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16</a:t>
            </a:r>
          </a:p>
        </p:txBody>
      </p:sp>
      <p:sp>
        <p:nvSpPr>
          <p:cNvPr id="7" name="~12,000">
            <a:extLst>
              <a:ext uri="{FF2B5EF4-FFF2-40B4-BE49-F238E27FC236}">
                <a16:creationId xmlns:a16="http://schemas.microsoft.com/office/drawing/2014/main" id="{BDB25855-BA94-452D-9FC5-EE437F746B25}"/>
              </a:ext>
            </a:extLst>
          </p:cNvPr>
          <p:cNvSpPr>
            <a:spLocks noGrp="1"/>
          </p:cNvSpPr>
          <p:nvPr/>
        </p:nvSpPr>
        <p:spPr>
          <a:xfrm>
            <a:off x="609600" y="2295525"/>
            <a:ext cx="4210050" cy="952500"/>
          </a:xfrm>
          <a:prstGeom prst="rect">
            <a:avLst/>
          </a:prstGeom>
          <a:noFill/>
          <a:ln w="0">
            <a:noFill/>
          </a:ln>
        </p:spPr>
        <p:txBody>
          <a:bodyPr wrap="square" lIns="0" tIns="0" rIns="0" bIns="0" anchor="t">
            <a:noAutofit/>
          </a:bodyPr>
          <a:lstStyle/>
          <a:p>
            <a:pPr algn="l">
              <a:defRPr sz="5625" b="1">
                <a:solidFill>
                  <a:srgbClr val="087F87"/>
                </a:solidFill>
                <a:latin typeface="Arial"/>
                <a:ea typeface="Arial"/>
                <a:cs typeface="Arial"/>
              </a:defRPr>
            </a:pPr>
            <a:r>
              <a:rPr sz="5625" b="1">
                <a:solidFill>
                  <a:srgbClr val="087F87"/>
                </a:solidFill>
                <a:latin typeface="Arial"/>
                <a:ea typeface="Arial"/>
                <a:cs typeface="Arial"/>
              </a:rPr>
              <a:t>~12,000</a:t>
            </a:r>
          </a:p>
        </p:txBody>
      </p:sp>
      <p:sp>
        <p:nvSpPr>
          <p:cNvPr id="8" name="manufacturing firms with&#10;100–499 employees">
            <a:extLst>
              <a:ext uri="{FF2B5EF4-FFF2-40B4-BE49-F238E27FC236}">
                <a16:creationId xmlns:a16="http://schemas.microsoft.com/office/drawing/2014/main" id="{CEB5B501-5D57-482C-8D30-ADBFE564A363}"/>
              </a:ext>
            </a:extLst>
          </p:cNvPr>
          <p:cNvSpPr>
            <a:spLocks noGrp="1"/>
          </p:cNvSpPr>
          <p:nvPr/>
        </p:nvSpPr>
        <p:spPr>
          <a:xfrm>
            <a:off x="609600" y="3343275"/>
            <a:ext cx="4381500" cy="77152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manufacturing firms with</a:t>
            </a:r>
          </a:p>
          <a:p>
            <a:pPr algn="l">
              <a:defRPr sz="2025" b="1">
                <a:solidFill>
                  <a:srgbClr val="112A46"/>
                </a:solidFill>
                <a:latin typeface="Arial"/>
                <a:ea typeface="Arial"/>
                <a:cs typeface="Arial"/>
              </a:defRPr>
            </a:pPr>
            <a:r>
              <a:rPr sz="2025" b="1">
                <a:solidFill>
                  <a:srgbClr val="112A46"/>
                </a:solidFill>
                <a:latin typeface="Arial"/>
                <a:ea typeface="Arial"/>
                <a:cs typeface="Arial"/>
              </a:rPr>
              <a:t>100–499 employees</a:t>
            </a:r>
          </a:p>
        </p:txBody>
      </p:sp>
      <p:sp>
        <p:nvSpPr>
          <p:cNvPr id="9" name="×">
            <a:extLst>
              <a:ext uri="{FF2B5EF4-FFF2-40B4-BE49-F238E27FC236}">
                <a16:creationId xmlns:a16="http://schemas.microsoft.com/office/drawing/2014/main" id="{AFC19963-D225-4D52-9A33-0983EFB1BB07}"/>
              </a:ext>
            </a:extLst>
          </p:cNvPr>
          <p:cNvSpPr>
            <a:spLocks noGrp="1"/>
          </p:cNvSpPr>
          <p:nvPr/>
        </p:nvSpPr>
        <p:spPr>
          <a:xfrm>
            <a:off x="5276850" y="2600325"/>
            <a:ext cx="733425" cy="647700"/>
          </a:xfrm>
          <a:prstGeom prst="rect">
            <a:avLst/>
          </a:prstGeom>
          <a:noFill/>
          <a:ln w="0">
            <a:noFill/>
          </a:ln>
        </p:spPr>
        <p:txBody>
          <a:bodyPr wrap="square" lIns="0" tIns="0" rIns="0" bIns="0" anchor="t">
            <a:noAutofit/>
          </a:bodyPr>
          <a:lstStyle/>
          <a:p>
            <a:pPr algn="ctr">
              <a:defRPr sz="3225" b="0">
                <a:solidFill>
                  <a:srgbClr val="536274"/>
                </a:solidFill>
                <a:latin typeface="Arial"/>
                <a:ea typeface="Arial"/>
                <a:cs typeface="Arial"/>
              </a:defRPr>
            </a:pPr>
            <a:r>
              <a:rPr sz="3225" b="0">
                <a:solidFill>
                  <a:srgbClr val="536274"/>
                </a:solidFill>
                <a:latin typeface="Arial"/>
                <a:ea typeface="Arial"/>
                <a:cs typeface="Arial"/>
              </a:rPr>
              <a:t>×</a:t>
            </a:r>
          </a:p>
        </p:txBody>
      </p:sp>
      <p:sp>
        <p:nvSpPr>
          <p:cNvPr id="10" name="$60,000">
            <a:extLst>
              <a:ext uri="{FF2B5EF4-FFF2-40B4-BE49-F238E27FC236}">
                <a16:creationId xmlns:a16="http://schemas.microsoft.com/office/drawing/2014/main" id="{CF3CB35A-B97D-428B-8759-466EF50C4713}"/>
              </a:ext>
            </a:extLst>
          </p:cNvPr>
          <p:cNvSpPr>
            <a:spLocks noGrp="1"/>
          </p:cNvSpPr>
          <p:nvPr/>
        </p:nvSpPr>
        <p:spPr>
          <a:xfrm>
            <a:off x="6800850" y="2295525"/>
            <a:ext cx="4762500" cy="952500"/>
          </a:xfrm>
          <a:prstGeom prst="rect">
            <a:avLst/>
          </a:prstGeom>
          <a:noFill/>
          <a:ln w="0">
            <a:noFill/>
          </a:ln>
        </p:spPr>
        <p:txBody>
          <a:bodyPr wrap="square" lIns="0" tIns="0" rIns="0" bIns="0" anchor="t">
            <a:noAutofit/>
          </a:bodyPr>
          <a:lstStyle/>
          <a:p>
            <a:pPr algn="l">
              <a:defRPr sz="5625" b="1">
                <a:solidFill>
                  <a:srgbClr val="087F87"/>
                </a:solidFill>
                <a:latin typeface="Arial"/>
                <a:ea typeface="Arial"/>
                <a:cs typeface="Arial"/>
              </a:defRPr>
            </a:pPr>
            <a:r>
              <a:rPr sz="5625" b="1">
                <a:solidFill>
                  <a:srgbClr val="087F87"/>
                </a:solidFill>
                <a:latin typeface="Arial"/>
                <a:ea typeface="Arial"/>
                <a:cs typeface="Arial"/>
              </a:rPr>
              <a:t>$60,000</a:t>
            </a:r>
          </a:p>
        </p:txBody>
      </p:sp>
      <p:sp>
        <p:nvSpPr>
          <p:cNvPr id="11" name="assumed annual subscription&#10;revenue per company">
            <a:extLst>
              <a:ext uri="{FF2B5EF4-FFF2-40B4-BE49-F238E27FC236}">
                <a16:creationId xmlns:a16="http://schemas.microsoft.com/office/drawing/2014/main" id="{3E2BF046-9522-4C89-816D-DDD9D238EB20}"/>
              </a:ext>
            </a:extLst>
          </p:cNvPr>
          <p:cNvSpPr>
            <a:spLocks noGrp="1"/>
          </p:cNvSpPr>
          <p:nvPr/>
        </p:nvSpPr>
        <p:spPr>
          <a:xfrm>
            <a:off x="6800850" y="3343275"/>
            <a:ext cx="4762500" cy="77152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assumed annual subscription</a:t>
            </a:r>
          </a:p>
          <a:p>
            <a:pPr algn="l">
              <a:defRPr sz="2025" b="1">
                <a:solidFill>
                  <a:srgbClr val="112A46"/>
                </a:solidFill>
                <a:latin typeface="Arial"/>
                <a:ea typeface="Arial"/>
                <a:cs typeface="Arial"/>
              </a:defRPr>
            </a:pPr>
            <a:r>
              <a:rPr sz="2025" b="1">
                <a:solidFill>
                  <a:srgbClr val="112A46"/>
                </a:solidFill>
                <a:latin typeface="Arial"/>
                <a:ea typeface="Arial"/>
                <a:cs typeface="Arial"/>
              </a:rPr>
              <a:t>revenue per company</a:t>
            </a:r>
          </a:p>
        </p:txBody>
      </p:sp>
      <p:sp>
        <p:nvSpPr>
          <p:cNvPr id="12" name="Rectangle 11">
            <a:extLst>
              <a:ext uri="{FF2B5EF4-FFF2-40B4-BE49-F238E27FC236}">
                <a16:creationId xmlns:a16="http://schemas.microsoft.com/office/drawing/2014/main" id="{95EEF7E7-4A3E-469A-9C1C-2D0B2E765153}"/>
              </a:ext>
            </a:extLst>
          </p:cNvPr>
          <p:cNvSpPr>
            <a:spLocks noGrp="1"/>
          </p:cNvSpPr>
          <p:nvPr/>
        </p:nvSpPr>
        <p:spPr>
          <a:xfrm>
            <a:off x="609600" y="4400550"/>
            <a:ext cx="10972800" cy="9525"/>
          </a:xfrm>
          <a:prstGeom prst="rect">
            <a:avLst/>
          </a:prstGeom>
          <a:solidFill>
            <a:srgbClr val="D8E0E6"/>
          </a:solidFill>
          <a:ln w="0">
            <a:noFill/>
          </a:ln>
        </p:spPr>
        <p:txBody>
          <a:bodyPr/>
          <a:lstStyle/>
          <a:p>
            <a:endParaRPr lang="en-US"/>
          </a:p>
        </p:txBody>
      </p:sp>
      <p:sp>
        <p:nvSpPr>
          <p:cNvPr id="13" name="~$720M">
            <a:extLst>
              <a:ext uri="{FF2B5EF4-FFF2-40B4-BE49-F238E27FC236}">
                <a16:creationId xmlns:a16="http://schemas.microsoft.com/office/drawing/2014/main" id="{2640CCBE-068C-410D-8D19-C058DD985873}"/>
              </a:ext>
            </a:extLst>
          </p:cNvPr>
          <p:cNvSpPr>
            <a:spLocks noGrp="1"/>
          </p:cNvSpPr>
          <p:nvPr/>
        </p:nvSpPr>
        <p:spPr>
          <a:xfrm>
            <a:off x="609600" y="4781550"/>
            <a:ext cx="4286250" cy="771525"/>
          </a:xfrm>
          <a:prstGeom prst="rect">
            <a:avLst/>
          </a:prstGeom>
          <a:noFill/>
          <a:ln w="0">
            <a:noFill/>
          </a:ln>
        </p:spPr>
        <p:txBody>
          <a:bodyPr wrap="square" lIns="0" tIns="0" rIns="0" bIns="0" anchor="t">
            <a:noAutofit/>
          </a:bodyPr>
          <a:lstStyle/>
          <a:p>
            <a:pPr algn="l">
              <a:defRPr sz="4650" b="1">
                <a:solidFill>
                  <a:srgbClr val="112A46"/>
                </a:solidFill>
                <a:latin typeface="Arial"/>
                <a:ea typeface="Arial"/>
                <a:cs typeface="Arial"/>
              </a:defRPr>
            </a:pPr>
            <a:r>
              <a:rPr sz="4650" b="1">
                <a:solidFill>
                  <a:srgbClr val="112A46"/>
                </a:solidFill>
                <a:latin typeface="Arial"/>
                <a:ea typeface="Arial"/>
                <a:cs typeface="Arial"/>
              </a:rPr>
              <a:t>~$720M</a:t>
            </a:r>
          </a:p>
        </p:txBody>
      </p:sp>
      <p:sp>
        <p:nvSpPr>
          <p:cNvPr id="14" name="illustrative annual revenue pool&#10;for this starting segment">
            <a:extLst>
              <a:ext uri="{FF2B5EF4-FFF2-40B4-BE49-F238E27FC236}">
                <a16:creationId xmlns:a16="http://schemas.microsoft.com/office/drawing/2014/main" id="{D6CC786B-B85A-4848-9E97-03A6B1D8C507}"/>
              </a:ext>
            </a:extLst>
          </p:cNvPr>
          <p:cNvSpPr>
            <a:spLocks noGrp="1"/>
          </p:cNvSpPr>
          <p:nvPr/>
        </p:nvSpPr>
        <p:spPr>
          <a:xfrm>
            <a:off x="5114925" y="4895850"/>
            <a:ext cx="6467475" cy="866775"/>
          </a:xfrm>
          <a:prstGeom prst="rect">
            <a:avLst/>
          </a:prstGeom>
          <a:noFill/>
          <a:ln w="0">
            <a:noFill/>
          </a:ln>
        </p:spPr>
        <p:txBody>
          <a:bodyPr wrap="square" lIns="0" tIns="0" rIns="0" bIns="0" anchor="t">
            <a:noAutofit/>
          </a:bodyPr>
          <a:lstStyle/>
          <a:p>
            <a:pPr algn="l">
              <a:defRPr sz="2175" b="1">
                <a:solidFill>
                  <a:srgbClr val="112A46"/>
                </a:solidFill>
                <a:latin typeface="Arial"/>
                <a:ea typeface="Arial"/>
                <a:cs typeface="Arial"/>
              </a:defRPr>
            </a:pPr>
            <a:r>
              <a:rPr sz="2175" b="1">
                <a:solidFill>
                  <a:srgbClr val="112A46"/>
                </a:solidFill>
                <a:latin typeface="Arial"/>
                <a:ea typeface="Arial"/>
                <a:cs typeface="Arial"/>
              </a:rPr>
              <a:t>illustrative annual revenue pool</a:t>
            </a:r>
          </a:p>
          <a:p>
            <a:pPr algn="l">
              <a:defRPr sz="2175" b="1">
                <a:solidFill>
                  <a:srgbClr val="112A46"/>
                </a:solidFill>
                <a:latin typeface="Arial"/>
                <a:ea typeface="Arial"/>
                <a:cs typeface="Arial"/>
              </a:defRPr>
            </a:pPr>
            <a:r>
              <a:rPr sz="2175" b="1">
                <a:solidFill>
                  <a:srgbClr val="112A46"/>
                </a:solidFill>
                <a:latin typeface="Arial"/>
                <a:ea typeface="Arial"/>
                <a:cs typeface="Arial"/>
              </a:rPr>
              <a:t>for this starting segment</a:t>
            </a:r>
          </a:p>
        </p:txBody>
      </p:sp>
      <p:sp>
        <p:nvSpPr>
          <p:cNvPr id="15" name="Firm estimate derives from rounded 2022 Census figures reported b">
            <a:extLst>
              <a:ext uri="{FF2B5EF4-FFF2-40B4-BE49-F238E27FC236}">
                <a16:creationId xmlns:a16="http://schemas.microsoft.com/office/drawing/2014/main" id="{18711B44-3761-40D4-93AD-2C3417A838FF}"/>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Firm estimate derives from rounded 2022 Census figures reported by NAM. Pricing and serviceable demand are unvalidated.</a:t>
            </a:r>
          </a:p>
        </p:txBody>
      </p:sp>
    </p:spTree>
    <p:extLst>
      <p:ext uri="{BB962C8B-B14F-4D97-AF65-F5344CB8AC3E}">
        <p14:creationId xmlns:p14="http://schemas.microsoft.com/office/powerpoint/2010/main" val="22639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A327E55-E393-44FF-93AA-98643D32388B}"/>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Established platforms already connect data and actions">
            <a:extLst>
              <a:ext uri="{FF2B5EF4-FFF2-40B4-BE49-F238E27FC236}">
                <a16:creationId xmlns:a16="http://schemas.microsoft.com/office/drawing/2014/main" id="{F37C2F10-14D3-4BAB-B9D0-2B02CD957542}"/>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Established platforms already connect data and actions</a:t>
            </a:r>
          </a:p>
        </p:txBody>
      </p:sp>
      <p:sp>
        <p:nvSpPr>
          <p:cNvPr id="3" name="Glinx must win on the economics and usability of a focused custom">
            <a:extLst>
              <a:ext uri="{FF2B5EF4-FFF2-40B4-BE49-F238E27FC236}">
                <a16:creationId xmlns:a16="http://schemas.microsoft.com/office/drawing/2014/main" id="{6EF82500-7AB6-4C2A-BC7A-3D0B9CDE0141}"/>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Glinx must win on the economics and usability of a focused customer deployment.</a:t>
            </a:r>
          </a:p>
        </p:txBody>
      </p:sp>
      <p:sp>
        <p:nvSpPr>
          <p:cNvPr id="4" name="Rectangle 3">
            <a:extLst>
              <a:ext uri="{FF2B5EF4-FFF2-40B4-BE49-F238E27FC236}">
                <a16:creationId xmlns:a16="http://schemas.microsoft.com/office/drawing/2014/main" id="{36FA34FA-DB4F-48D8-A2FE-A0E950519E9F}"/>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D3C35309-DC29-4979-A432-03658B067541}"/>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7">
            <a:extLst>
              <a:ext uri="{FF2B5EF4-FFF2-40B4-BE49-F238E27FC236}">
                <a16:creationId xmlns:a16="http://schemas.microsoft.com/office/drawing/2014/main" id="{8A7A0DC2-2D6A-4538-8478-7B0AB5858812}"/>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17</a:t>
            </a:r>
          </a:p>
        </p:txBody>
      </p:sp>
      <p:graphicFrame>
        <p:nvGraphicFramePr>
          <p:cNvPr id="15" name="Table 14"/>
          <p:cNvGraphicFramePr/>
          <p:nvPr/>
        </p:nvGraphicFramePr>
        <p:xfrm>
          <a:off x="609600" y="2209800"/>
          <a:ext cx="10972800" cy="3600450"/>
        </p:xfrm>
        <a:graphic>
          <a:graphicData uri="http://schemas.openxmlformats.org/drawingml/2006/table">
            <a:tbl>
              <a:tblPr/>
              <a:tblGrid>
                <a:gridCol w="2419350">
                  <a:extLst>
                    <a:ext uri="{9D8B030D-6E8A-4147-A177-3AD203B41FA5}">
                      <a16:colId xmlns:a16="http://schemas.microsoft.com/office/drawing/2014/main" val="20000"/>
                    </a:ext>
                  </a:extLst>
                </a:gridCol>
                <a:gridCol w="4448175">
                  <a:extLst>
                    <a:ext uri="{9D8B030D-6E8A-4147-A177-3AD203B41FA5}">
                      <a16:colId xmlns:a16="http://schemas.microsoft.com/office/drawing/2014/main" val="20001"/>
                    </a:ext>
                  </a:extLst>
                </a:gridCol>
                <a:gridCol w="4105275">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Alternative</a:t>
                      </a:r>
                    </a:p>
                  </a:txBody>
                  <a:tcPr anchor="ctr">
                    <a:solidFill>
                      <a:srgbClr val="112A46"/>
                    </a:solidFill>
                  </a:tcPr>
                </a:tc>
                <a:tc>
                  <a:txBody>
                    <a:bodyPr/>
                    <a:lstStyle/>
                    <a:p>
                      <a:r>
                        <a:rPr sz="1500" b="1">
                          <a:solidFill>
                            <a:srgbClr val="FFFFFF"/>
                          </a:solidFill>
                          <a:latin typeface="Arial"/>
                          <a:ea typeface="Arial"/>
                          <a:cs typeface="Arial"/>
                        </a:rPr>
                        <a:t>Established capability</a:t>
                      </a:r>
                    </a:p>
                  </a:txBody>
                  <a:tcPr anchor="ctr">
                    <a:solidFill>
                      <a:srgbClr val="112A46"/>
                    </a:solidFill>
                  </a:tcPr>
                </a:tc>
                <a:tc>
                  <a:txBody>
                    <a:bodyPr/>
                    <a:lstStyle/>
                    <a:p>
                      <a:r>
                        <a:rPr sz="1500" b="1">
                          <a:solidFill>
                            <a:srgbClr val="FFFFFF"/>
                          </a:solidFill>
                          <a:latin typeface="Arial"/>
                          <a:ea typeface="Arial"/>
                          <a:cs typeface="Arial"/>
                        </a:rPr>
                        <a:t>Glinx hypothesis to test</a:t>
                      </a:r>
                    </a:p>
                  </a:txBody>
                  <a:tcPr anchor="ctr">
                    <a:solidFill>
                      <a:srgbClr val="112A46"/>
                    </a:solidFill>
                  </a:tcPr>
                </a:tc>
                <a:extLst>
                  <a:ext uri="{0D108BD9-81ED-4DB2-BD59-A6C34878D82A}">
                    <a16:rowId xmlns:a16="http://schemas.microsoft.com/office/drawing/2014/main" val="10000"/>
                  </a:ext>
                </a:extLst>
              </a:tr>
              <a:tr h="776288">
                <a:tc>
                  <a:txBody>
                    <a:bodyPr/>
                    <a:lstStyle/>
                    <a:p>
                      <a:r>
                        <a:rPr sz="1650" b="1">
                          <a:solidFill>
                            <a:srgbClr val="112A46"/>
                          </a:solidFill>
                          <a:latin typeface="Arial"/>
                          <a:ea typeface="Arial"/>
                          <a:cs typeface="Arial"/>
                        </a:rPr>
                        <a:t>Palantir</a:t>
                      </a:r>
                    </a:p>
                  </a:txBody>
                  <a:tcPr anchor="ctr">
                    <a:solidFill>
                      <a:srgbClr val="FFFFFF"/>
                    </a:solidFill>
                  </a:tcPr>
                </a:tc>
                <a:tc>
                  <a:txBody>
                    <a:bodyPr/>
                    <a:lstStyle/>
                    <a:p>
                      <a:r>
                        <a:rPr sz="1650" b="0">
                          <a:solidFill>
                            <a:srgbClr val="112A46"/>
                          </a:solidFill>
                          <a:latin typeface="Arial"/>
                          <a:ea typeface="Arial"/>
                          <a:cs typeface="Arial"/>
                        </a:rPr>
                        <a:t>Enterprise ontology with governed actions</a:t>
                      </a:r>
                    </a:p>
                  </a:txBody>
                  <a:tcPr anchor="ctr">
                    <a:solidFill>
                      <a:srgbClr val="FFFFFF"/>
                    </a:solidFill>
                  </a:tcPr>
                </a:tc>
                <a:tc>
                  <a:txBody>
                    <a:bodyPr/>
                    <a:lstStyle/>
                    <a:p>
                      <a:r>
                        <a:rPr sz="1650" b="0">
                          <a:solidFill>
                            <a:srgbClr val="112A46"/>
                          </a:solidFill>
                          <a:latin typeface="Arial"/>
                          <a:ea typeface="Arial"/>
                          <a:cs typeface="Arial"/>
                        </a:rPr>
                        <a:t>A narrower manufacturing deployment</a:t>
                      </a:r>
                    </a:p>
                  </a:txBody>
                  <a:tcPr anchor="ctr">
                    <a:solidFill>
                      <a:srgbClr val="FFFFFF"/>
                    </a:solidFill>
                  </a:tcPr>
                </a:tc>
                <a:extLst>
                  <a:ext uri="{0D108BD9-81ED-4DB2-BD59-A6C34878D82A}">
                    <a16:rowId xmlns:a16="http://schemas.microsoft.com/office/drawing/2014/main" val="10001"/>
                  </a:ext>
                </a:extLst>
              </a:tr>
              <a:tr h="776288">
                <a:tc>
                  <a:txBody>
                    <a:bodyPr/>
                    <a:lstStyle/>
                    <a:p>
                      <a:r>
                        <a:rPr sz="1650" b="1">
                          <a:solidFill>
                            <a:srgbClr val="112A46"/>
                          </a:solidFill>
                          <a:latin typeface="Arial"/>
                          <a:ea typeface="Arial"/>
                          <a:cs typeface="Arial"/>
                        </a:rPr>
                        <a:t>SAP Joule</a:t>
                      </a:r>
                    </a:p>
                  </a:txBody>
                  <a:tcPr anchor="ctr">
                    <a:solidFill>
                      <a:srgbClr val="F2F5F7"/>
                    </a:solidFill>
                  </a:tcPr>
                </a:tc>
                <a:tc>
                  <a:txBody>
                    <a:bodyPr/>
                    <a:lstStyle/>
                    <a:p>
                      <a:r>
                        <a:rPr sz="1650" b="0">
                          <a:solidFill>
                            <a:srgbClr val="112A46"/>
                          </a:solidFill>
                          <a:latin typeface="Arial"/>
                          <a:ea typeface="Arial"/>
                          <a:cs typeface="Arial"/>
                        </a:rPr>
                        <a:t>Business context and agents across workflows</a:t>
                      </a:r>
                    </a:p>
                  </a:txBody>
                  <a:tcPr anchor="ctr">
                    <a:solidFill>
                      <a:srgbClr val="F2F5F7"/>
                    </a:solidFill>
                  </a:tcPr>
                </a:tc>
                <a:tc>
                  <a:txBody>
                    <a:bodyPr/>
                    <a:lstStyle/>
                    <a:p>
                      <a:r>
                        <a:rPr sz="1650" b="0">
                          <a:solidFill>
                            <a:srgbClr val="112A46"/>
                          </a:solidFill>
                          <a:latin typeface="Arial"/>
                          <a:ea typeface="Arial"/>
                          <a:cs typeface="Arial"/>
                        </a:rPr>
                        <a:t>Usefulness across the customer’s mixed systems</a:t>
                      </a:r>
                    </a:p>
                  </a:txBody>
                  <a:tcPr anchor="ctr">
                    <a:solidFill>
                      <a:srgbClr val="F2F5F7"/>
                    </a:solidFill>
                  </a:tcPr>
                </a:tc>
                <a:extLst>
                  <a:ext uri="{0D108BD9-81ED-4DB2-BD59-A6C34878D82A}">
                    <a16:rowId xmlns:a16="http://schemas.microsoft.com/office/drawing/2014/main" val="10002"/>
                  </a:ext>
                </a:extLst>
              </a:tr>
              <a:tr h="776288">
                <a:tc>
                  <a:txBody>
                    <a:bodyPr/>
                    <a:lstStyle/>
                    <a:p>
                      <a:r>
                        <a:rPr sz="1650" b="1">
                          <a:solidFill>
                            <a:srgbClr val="112A46"/>
                          </a:solidFill>
                          <a:latin typeface="Arial"/>
                          <a:ea typeface="Arial"/>
                          <a:cs typeface="Arial"/>
                        </a:rPr>
                        <a:t>Microsoft Copilot Studio</a:t>
                      </a:r>
                    </a:p>
                  </a:txBody>
                  <a:tcPr anchor="ctr">
                    <a:solidFill>
                      <a:srgbClr val="FFFFFF"/>
                    </a:solidFill>
                  </a:tcPr>
                </a:tc>
                <a:tc>
                  <a:txBody>
                    <a:bodyPr/>
                    <a:lstStyle/>
                    <a:p>
                      <a:r>
                        <a:rPr sz="1650" b="0">
                          <a:solidFill>
                            <a:srgbClr val="112A46"/>
                          </a:solidFill>
                          <a:latin typeface="Arial"/>
                          <a:ea typeface="Arial"/>
                          <a:cs typeface="Arial"/>
                        </a:rPr>
                        <a:t>Connected agents and event-triggered work</a:t>
                      </a:r>
                    </a:p>
                  </a:txBody>
                  <a:tcPr anchor="ctr">
                    <a:solidFill>
                      <a:srgbClr val="FFFFFF"/>
                    </a:solidFill>
                  </a:tcPr>
                </a:tc>
                <a:tc>
                  <a:txBody>
                    <a:bodyPr/>
                    <a:lstStyle/>
                    <a:p>
                      <a:r>
                        <a:rPr sz="1650" b="0">
                          <a:solidFill>
                            <a:srgbClr val="112A46"/>
                          </a:solidFill>
                          <a:latin typeface="Arial"/>
                          <a:ea typeface="Arial"/>
                          <a:cs typeface="Arial"/>
                        </a:rPr>
                        <a:t>A maintained company model and outcome loop</a:t>
                      </a:r>
                    </a:p>
                  </a:txBody>
                  <a:tcPr anchor="ctr">
                    <a:solidFill>
                      <a:srgbClr val="FFFFFF"/>
                    </a:solidFill>
                  </a:tcPr>
                </a:tc>
                <a:extLst>
                  <a:ext uri="{0D108BD9-81ED-4DB2-BD59-A6C34878D82A}">
                    <a16:rowId xmlns:a16="http://schemas.microsoft.com/office/drawing/2014/main" val="10003"/>
                  </a:ext>
                </a:extLst>
              </a:tr>
              <a:tr h="776288">
                <a:tc>
                  <a:txBody>
                    <a:bodyPr/>
                    <a:lstStyle/>
                    <a:p>
                      <a:r>
                        <a:rPr sz="1650" b="1">
                          <a:solidFill>
                            <a:srgbClr val="112A46"/>
                          </a:solidFill>
                          <a:latin typeface="Arial"/>
                          <a:ea typeface="Arial"/>
                          <a:cs typeface="Arial"/>
                        </a:rPr>
                        <a:t>Consulting and internal teams</a:t>
                      </a:r>
                    </a:p>
                  </a:txBody>
                  <a:tcPr anchor="ctr">
                    <a:solidFill>
                      <a:srgbClr val="F2F5F7"/>
                    </a:solidFill>
                  </a:tcPr>
                </a:tc>
                <a:tc>
                  <a:txBody>
                    <a:bodyPr/>
                    <a:lstStyle/>
                    <a:p>
                      <a:r>
                        <a:rPr sz="1650" b="0">
                          <a:solidFill>
                            <a:srgbClr val="112A46"/>
                          </a:solidFill>
                          <a:latin typeface="Arial"/>
                          <a:ea typeface="Arial"/>
                          <a:cs typeface="Arial"/>
                        </a:rPr>
                        <a:t>Process knowledge and tailored improvement work</a:t>
                      </a:r>
                    </a:p>
                  </a:txBody>
                  <a:tcPr anchor="ctr">
                    <a:solidFill>
                      <a:srgbClr val="F2F5F7"/>
                    </a:solidFill>
                  </a:tcPr>
                </a:tc>
                <a:tc>
                  <a:txBody>
                    <a:bodyPr/>
                    <a:lstStyle/>
                    <a:p>
                      <a:r>
                        <a:rPr sz="1650" b="0">
                          <a:solidFill>
                            <a:srgbClr val="112A46"/>
                          </a:solidFill>
                          <a:latin typeface="Arial"/>
                          <a:ea typeface="Arial"/>
                          <a:cs typeface="Arial"/>
                        </a:rPr>
                        <a:t>Repeatable software with lower delivery effort</a:t>
                      </a:r>
                    </a:p>
                  </a:txBody>
                  <a:tcPr anchor="ctr">
                    <a:solidFill>
                      <a:srgbClr val="F2F5F7"/>
                    </a:solidFill>
                  </a:tcPr>
                </a:tc>
                <a:extLst>
                  <a:ext uri="{0D108BD9-81ED-4DB2-BD59-A6C34878D82A}">
                    <a16:rowId xmlns:a16="http://schemas.microsoft.com/office/drawing/2014/main" val="10004"/>
                  </a:ext>
                </a:extLst>
              </a:tr>
            </a:tbl>
          </a:graphicData>
        </a:graphic>
      </p:graphicFrame>
      <p:sp>
        <p:nvSpPr>
          <p:cNvPr id="8" name="Competitor descriptions use official product sources. Glinx advan">
            <a:extLst>
              <a:ext uri="{FF2B5EF4-FFF2-40B4-BE49-F238E27FC236}">
                <a16:creationId xmlns:a16="http://schemas.microsoft.com/office/drawing/2014/main" id="{B5702400-6D9B-4482-B291-D03B273CE7A2}"/>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Competitor descriptions use official product sources. Glinx advantages remain hypotheses, not demonstrated superiority.</a:t>
            </a:r>
          </a:p>
        </p:txBody>
      </p:sp>
    </p:spTree>
    <p:extLst>
      <p:ext uri="{BB962C8B-B14F-4D97-AF65-F5344CB8AC3E}">
        <p14:creationId xmlns:p14="http://schemas.microsoft.com/office/powerpoint/2010/main" val="1638864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40F42D3-02FC-4895-9477-515D831E93FE}"/>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Defensibility depends on accumulated evidence">
            <a:extLst>
              <a:ext uri="{FF2B5EF4-FFF2-40B4-BE49-F238E27FC236}">
                <a16:creationId xmlns:a16="http://schemas.microsoft.com/office/drawing/2014/main" id="{E5C38293-B527-466F-BEC3-8C48AD86066E}"/>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Defensibility depends on accumulated evidence</a:t>
            </a:r>
          </a:p>
        </p:txBody>
      </p:sp>
      <p:sp>
        <p:nvSpPr>
          <p:cNvPr id="3" name="A durable advantage requires more than a connector catalog or acc">
            <a:extLst>
              <a:ext uri="{FF2B5EF4-FFF2-40B4-BE49-F238E27FC236}">
                <a16:creationId xmlns:a16="http://schemas.microsoft.com/office/drawing/2014/main" id="{7FC1068D-54B3-4A2A-A4E9-4EC468B0C0F5}"/>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A durable advantage requires more than a connector catalog or access to an AI model.</a:t>
            </a:r>
          </a:p>
        </p:txBody>
      </p:sp>
      <p:sp>
        <p:nvSpPr>
          <p:cNvPr id="4" name="Rectangle 3">
            <a:extLst>
              <a:ext uri="{FF2B5EF4-FFF2-40B4-BE49-F238E27FC236}">
                <a16:creationId xmlns:a16="http://schemas.microsoft.com/office/drawing/2014/main" id="{7F5BC972-C667-424E-BC22-84A6477D636B}"/>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B715FD0B-CB4C-470F-A3A3-95BC8EC24FBB}"/>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8">
            <a:extLst>
              <a:ext uri="{FF2B5EF4-FFF2-40B4-BE49-F238E27FC236}">
                <a16:creationId xmlns:a16="http://schemas.microsoft.com/office/drawing/2014/main" id="{DCB100D4-DE2F-4A90-8107-F0268A77A4DE}"/>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18</a:t>
            </a:r>
          </a:p>
        </p:txBody>
      </p:sp>
      <p:sp>
        <p:nvSpPr>
          <p:cNvPr id="7" name="01">
            <a:extLst>
              <a:ext uri="{FF2B5EF4-FFF2-40B4-BE49-F238E27FC236}">
                <a16:creationId xmlns:a16="http://schemas.microsoft.com/office/drawing/2014/main" id="{D8D0117B-5BD5-4529-99E0-602C30003381}"/>
              </a:ext>
            </a:extLst>
          </p:cNvPr>
          <p:cNvSpPr>
            <a:spLocks noGrp="1"/>
          </p:cNvSpPr>
          <p:nvPr/>
        </p:nvSpPr>
        <p:spPr>
          <a:xfrm>
            <a:off x="609600" y="2238375"/>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01</a:t>
            </a:r>
          </a:p>
        </p:txBody>
      </p:sp>
      <p:sp>
        <p:nvSpPr>
          <p:cNvPr id="8" name="Company context">
            <a:extLst>
              <a:ext uri="{FF2B5EF4-FFF2-40B4-BE49-F238E27FC236}">
                <a16:creationId xmlns:a16="http://schemas.microsoft.com/office/drawing/2014/main" id="{14921045-1722-4F37-93C4-C4835A1BE7BC}"/>
              </a:ext>
            </a:extLst>
          </p:cNvPr>
          <p:cNvSpPr>
            <a:spLocks noGrp="1"/>
          </p:cNvSpPr>
          <p:nvPr/>
        </p:nvSpPr>
        <p:spPr>
          <a:xfrm>
            <a:off x="1323975" y="2238375"/>
            <a:ext cx="295275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Company context</a:t>
            </a:r>
          </a:p>
        </p:txBody>
      </p:sp>
      <p:sp>
        <p:nvSpPr>
          <p:cNvPr id="9" name="Validated entities and relationships make the next investigation ">
            <a:extLst>
              <a:ext uri="{FF2B5EF4-FFF2-40B4-BE49-F238E27FC236}">
                <a16:creationId xmlns:a16="http://schemas.microsoft.com/office/drawing/2014/main" id="{8B868143-1693-46A8-8E2D-31E2111611EF}"/>
              </a:ext>
            </a:extLst>
          </p:cNvPr>
          <p:cNvSpPr>
            <a:spLocks noGrp="1"/>
          </p:cNvSpPr>
          <p:nvPr/>
        </p:nvSpPr>
        <p:spPr>
          <a:xfrm>
            <a:off x="4619625" y="2238375"/>
            <a:ext cx="6962775" cy="781050"/>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Validated entities and relationships make the next investigation less costly.</a:t>
            </a:r>
          </a:p>
        </p:txBody>
      </p:sp>
      <p:sp>
        <p:nvSpPr>
          <p:cNvPr id="10" name="Rectangle 9">
            <a:extLst>
              <a:ext uri="{FF2B5EF4-FFF2-40B4-BE49-F238E27FC236}">
                <a16:creationId xmlns:a16="http://schemas.microsoft.com/office/drawing/2014/main" id="{0521D89E-AA57-4730-A538-4441A575535C}"/>
              </a:ext>
            </a:extLst>
          </p:cNvPr>
          <p:cNvSpPr>
            <a:spLocks noGrp="1"/>
          </p:cNvSpPr>
          <p:nvPr/>
        </p:nvSpPr>
        <p:spPr>
          <a:xfrm>
            <a:off x="609600" y="3038475"/>
            <a:ext cx="10972800" cy="9525"/>
          </a:xfrm>
          <a:prstGeom prst="rect">
            <a:avLst/>
          </a:prstGeom>
          <a:solidFill>
            <a:srgbClr val="D8E0E6"/>
          </a:solidFill>
          <a:ln w="0">
            <a:noFill/>
          </a:ln>
        </p:spPr>
        <p:txBody>
          <a:bodyPr/>
          <a:lstStyle/>
          <a:p>
            <a:endParaRPr lang="en-US"/>
          </a:p>
        </p:txBody>
      </p:sp>
      <p:sp>
        <p:nvSpPr>
          <p:cNvPr id="11" name="02">
            <a:extLst>
              <a:ext uri="{FF2B5EF4-FFF2-40B4-BE49-F238E27FC236}">
                <a16:creationId xmlns:a16="http://schemas.microsoft.com/office/drawing/2014/main" id="{3151B689-9C86-49B1-9108-33450528047B}"/>
              </a:ext>
            </a:extLst>
          </p:cNvPr>
          <p:cNvSpPr>
            <a:spLocks noGrp="1"/>
          </p:cNvSpPr>
          <p:nvPr/>
        </p:nvSpPr>
        <p:spPr>
          <a:xfrm>
            <a:off x="609600" y="3181350"/>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02</a:t>
            </a:r>
          </a:p>
        </p:txBody>
      </p:sp>
      <p:sp>
        <p:nvSpPr>
          <p:cNvPr id="12" name="Decision memory">
            <a:extLst>
              <a:ext uri="{FF2B5EF4-FFF2-40B4-BE49-F238E27FC236}">
                <a16:creationId xmlns:a16="http://schemas.microsoft.com/office/drawing/2014/main" id="{9389508B-521F-4413-952C-58BD397BB128}"/>
              </a:ext>
            </a:extLst>
          </p:cNvPr>
          <p:cNvSpPr>
            <a:spLocks noGrp="1"/>
          </p:cNvSpPr>
          <p:nvPr/>
        </p:nvSpPr>
        <p:spPr>
          <a:xfrm>
            <a:off x="1323975" y="3181350"/>
            <a:ext cx="295275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Decision memory</a:t>
            </a:r>
          </a:p>
        </p:txBody>
      </p:sp>
      <p:sp>
        <p:nvSpPr>
          <p:cNvPr id="13" name="An outcome history shows which interventions helped, failed or in">
            <a:extLst>
              <a:ext uri="{FF2B5EF4-FFF2-40B4-BE49-F238E27FC236}">
                <a16:creationId xmlns:a16="http://schemas.microsoft.com/office/drawing/2014/main" id="{76087797-E70B-4740-9AAA-82C5A382C08D}"/>
              </a:ext>
            </a:extLst>
          </p:cNvPr>
          <p:cNvSpPr>
            <a:spLocks noGrp="1"/>
          </p:cNvSpPr>
          <p:nvPr/>
        </p:nvSpPr>
        <p:spPr>
          <a:xfrm>
            <a:off x="4619625" y="3181350"/>
            <a:ext cx="6962775" cy="781050"/>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An outcome history shows which interventions helped, failed or introduced risk.</a:t>
            </a:r>
          </a:p>
        </p:txBody>
      </p:sp>
      <p:sp>
        <p:nvSpPr>
          <p:cNvPr id="14" name="Rectangle 13">
            <a:extLst>
              <a:ext uri="{FF2B5EF4-FFF2-40B4-BE49-F238E27FC236}">
                <a16:creationId xmlns:a16="http://schemas.microsoft.com/office/drawing/2014/main" id="{D62A3E0D-B516-480E-A2D9-9DAADD135BD7}"/>
              </a:ext>
            </a:extLst>
          </p:cNvPr>
          <p:cNvSpPr>
            <a:spLocks noGrp="1"/>
          </p:cNvSpPr>
          <p:nvPr/>
        </p:nvSpPr>
        <p:spPr>
          <a:xfrm>
            <a:off x="609600" y="3981450"/>
            <a:ext cx="10972800" cy="9525"/>
          </a:xfrm>
          <a:prstGeom prst="rect">
            <a:avLst/>
          </a:prstGeom>
          <a:solidFill>
            <a:srgbClr val="D8E0E6"/>
          </a:solidFill>
          <a:ln w="0">
            <a:noFill/>
          </a:ln>
        </p:spPr>
        <p:txBody>
          <a:bodyPr/>
          <a:lstStyle/>
          <a:p>
            <a:endParaRPr lang="en-US"/>
          </a:p>
        </p:txBody>
      </p:sp>
      <p:sp>
        <p:nvSpPr>
          <p:cNvPr id="15" name="03">
            <a:extLst>
              <a:ext uri="{FF2B5EF4-FFF2-40B4-BE49-F238E27FC236}">
                <a16:creationId xmlns:a16="http://schemas.microsoft.com/office/drawing/2014/main" id="{8584C53D-826E-469A-8DEA-43D4ABFAA3C1}"/>
              </a:ext>
            </a:extLst>
          </p:cNvPr>
          <p:cNvSpPr>
            <a:spLocks noGrp="1"/>
          </p:cNvSpPr>
          <p:nvPr/>
        </p:nvSpPr>
        <p:spPr>
          <a:xfrm>
            <a:off x="609600" y="4124325"/>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03</a:t>
            </a:r>
          </a:p>
        </p:txBody>
      </p:sp>
      <p:sp>
        <p:nvSpPr>
          <p:cNvPr id="16" name="Repeatable deployment">
            <a:extLst>
              <a:ext uri="{FF2B5EF4-FFF2-40B4-BE49-F238E27FC236}">
                <a16:creationId xmlns:a16="http://schemas.microsoft.com/office/drawing/2014/main" id="{4D53606A-BFD1-4273-890B-45FC135A673D}"/>
              </a:ext>
            </a:extLst>
          </p:cNvPr>
          <p:cNvSpPr>
            <a:spLocks noGrp="1"/>
          </p:cNvSpPr>
          <p:nvPr/>
        </p:nvSpPr>
        <p:spPr>
          <a:xfrm>
            <a:off x="1323975" y="4124325"/>
            <a:ext cx="295275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Repeatable deployment</a:t>
            </a:r>
          </a:p>
        </p:txBody>
      </p:sp>
      <p:sp>
        <p:nvSpPr>
          <p:cNvPr id="17" name="Reusable mappings and evaluations reduce work for the next simila">
            <a:extLst>
              <a:ext uri="{FF2B5EF4-FFF2-40B4-BE49-F238E27FC236}">
                <a16:creationId xmlns:a16="http://schemas.microsoft.com/office/drawing/2014/main" id="{9B3FA161-5FBE-4C09-AC46-8F12A10066F7}"/>
              </a:ext>
            </a:extLst>
          </p:cNvPr>
          <p:cNvSpPr>
            <a:spLocks noGrp="1"/>
          </p:cNvSpPr>
          <p:nvPr/>
        </p:nvSpPr>
        <p:spPr>
          <a:xfrm>
            <a:off x="4619625" y="4124325"/>
            <a:ext cx="6962775" cy="781050"/>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Reusable mappings and evaluations reduce work for the next similar customer.</a:t>
            </a:r>
          </a:p>
        </p:txBody>
      </p:sp>
      <p:sp>
        <p:nvSpPr>
          <p:cNvPr id="18" name="Rectangle 17">
            <a:extLst>
              <a:ext uri="{FF2B5EF4-FFF2-40B4-BE49-F238E27FC236}">
                <a16:creationId xmlns:a16="http://schemas.microsoft.com/office/drawing/2014/main" id="{BF05A604-D153-4341-8F4C-35325A47CFCB}"/>
              </a:ext>
            </a:extLst>
          </p:cNvPr>
          <p:cNvSpPr>
            <a:spLocks noGrp="1"/>
          </p:cNvSpPr>
          <p:nvPr/>
        </p:nvSpPr>
        <p:spPr>
          <a:xfrm>
            <a:off x="609600" y="4924425"/>
            <a:ext cx="10972800" cy="9525"/>
          </a:xfrm>
          <a:prstGeom prst="rect">
            <a:avLst/>
          </a:prstGeom>
          <a:solidFill>
            <a:srgbClr val="D8E0E6"/>
          </a:solidFill>
          <a:ln w="0">
            <a:noFill/>
          </a:ln>
        </p:spPr>
        <p:txBody>
          <a:bodyPr/>
          <a:lstStyle/>
          <a:p>
            <a:endParaRPr lang="en-US"/>
          </a:p>
        </p:txBody>
      </p:sp>
      <p:sp>
        <p:nvSpPr>
          <p:cNvPr id="19" name="04">
            <a:extLst>
              <a:ext uri="{FF2B5EF4-FFF2-40B4-BE49-F238E27FC236}">
                <a16:creationId xmlns:a16="http://schemas.microsoft.com/office/drawing/2014/main" id="{4A9C086D-ADD1-4718-AF97-499E84763695}"/>
              </a:ext>
            </a:extLst>
          </p:cNvPr>
          <p:cNvSpPr>
            <a:spLocks noGrp="1"/>
          </p:cNvSpPr>
          <p:nvPr/>
        </p:nvSpPr>
        <p:spPr>
          <a:xfrm>
            <a:off x="609600" y="5067300"/>
            <a:ext cx="523875" cy="495300"/>
          </a:xfrm>
          <a:prstGeom prst="rect">
            <a:avLst/>
          </a:prstGeom>
          <a:noFill/>
          <a:ln w="0">
            <a:noFill/>
          </a:ln>
        </p:spPr>
        <p:txBody>
          <a:bodyPr wrap="square" lIns="0" tIns="0" rIns="0" bIns="0" anchor="t">
            <a:noAutofit/>
          </a:bodyPr>
          <a:lstStyle/>
          <a:p>
            <a:pPr algn="l">
              <a:defRPr sz="2325" b="1">
                <a:solidFill>
                  <a:srgbClr val="087F87"/>
                </a:solidFill>
                <a:latin typeface="Arial"/>
                <a:ea typeface="Arial"/>
                <a:cs typeface="Arial"/>
              </a:defRPr>
            </a:pPr>
            <a:r>
              <a:rPr sz="2325" b="1">
                <a:solidFill>
                  <a:srgbClr val="087F87"/>
                </a:solidFill>
                <a:latin typeface="Arial"/>
                <a:ea typeface="Arial"/>
                <a:cs typeface="Arial"/>
              </a:rPr>
              <a:t>04</a:t>
            </a:r>
          </a:p>
        </p:txBody>
      </p:sp>
      <p:sp>
        <p:nvSpPr>
          <p:cNvPr id="20" name="Operating trust">
            <a:extLst>
              <a:ext uri="{FF2B5EF4-FFF2-40B4-BE49-F238E27FC236}">
                <a16:creationId xmlns:a16="http://schemas.microsoft.com/office/drawing/2014/main" id="{EA60EC92-3F2A-4608-8462-9F0DEEB77C2B}"/>
              </a:ext>
            </a:extLst>
          </p:cNvPr>
          <p:cNvSpPr>
            <a:spLocks noGrp="1"/>
          </p:cNvSpPr>
          <p:nvPr/>
        </p:nvSpPr>
        <p:spPr>
          <a:xfrm>
            <a:off x="1323975" y="5067300"/>
            <a:ext cx="2952750" cy="752475"/>
          </a:xfrm>
          <a:prstGeom prst="rect">
            <a:avLst/>
          </a:prstGeom>
          <a:noFill/>
          <a:ln w="0">
            <a:noFill/>
          </a:ln>
        </p:spPr>
        <p:txBody>
          <a:bodyPr wrap="square" lIns="0" tIns="0" rIns="0" bIns="0" anchor="t">
            <a:noAutofit/>
          </a:bodyPr>
          <a:lstStyle/>
          <a:p>
            <a:pPr algn="l">
              <a:defRPr sz="2025" b="1">
                <a:solidFill>
                  <a:srgbClr val="112A46"/>
                </a:solidFill>
                <a:latin typeface="Arial"/>
                <a:ea typeface="Arial"/>
                <a:cs typeface="Arial"/>
              </a:defRPr>
            </a:pPr>
            <a:r>
              <a:rPr sz="2025" b="1">
                <a:solidFill>
                  <a:srgbClr val="112A46"/>
                </a:solidFill>
                <a:latin typeface="Arial"/>
                <a:ea typeface="Arial"/>
                <a:cs typeface="Arial"/>
              </a:rPr>
              <a:t>Operating trust</a:t>
            </a:r>
          </a:p>
        </p:txBody>
      </p:sp>
      <p:sp>
        <p:nvSpPr>
          <p:cNvPr id="21" name="Reliable permissions, explanations and measured results support b">
            <a:extLst>
              <a:ext uri="{FF2B5EF4-FFF2-40B4-BE49-F238E27FC236}">
                <a16:creationId xmlns:a16="http://schemas.microsoft.com/office/drawing/2014/main" id="{6BACB530-4D11-4638-B15B-100D064E9ABB}"/>
              </a:ext>
            </a:extLst>
          </p:cNvPr>
          <p:cNvSpPr>
            <a:spLocks noGrp="1"/>
          </p:cNvSpPr>
          <p:nvPr/>
        </p:nvSpPr>
        <p:spPr>
          <a:xfrm>
            <a:off x="4619625" y="5067300"/>
            <a:ext cx="6962775" cy="781050"/>
          </a:xfrm>
          <a:prstGeom prst="rect">
            <a:avLst/>
          </a:prstGeom>
          <a:noFill/>
          <a:ln w="0">
            <a:noFill/>
          </a:ln>
        </p:spPr>
        <p:txBody>
          <a:bodyPr wrap="square" lIns="0" tIns="0" rIns="0" bIns="0" anchor="t">
            <a:noAutofit/>
          </a:bodyPr>
          <a:lstStyle/>
          <a:p>
            <a:pPr algn="l">
              <a:defRPr sz="1875" b="0">
                <a:solidFill>
                  <a:srgbClr val="536274"/>
                </a:solidFill>
                <a:latin typeface="Arial"/>
                <a:ea typeface="Arial"/>
                <a:cs typeface="Arial"/>
              </a:defRPr>
            </a:pPr>
            <a:r>
              <a:rPr sz="1875" b="0">
                <a:solidFill>
                  <a:srgbClr val="536274"/>
                </a:solidFill>
                <a:latin typeface="Arial"/>
                <a:ea typeface="Arial"/>
                <a:cs typeface="Arial"/>
              </a:rPr>
              <a:t>Reliable permissions, explanations and measured results support broader use.</a:t>
            </a:r>
          </a:p>
        </p:txBody>
      </p:sp>
      <p:sp>
        <p:nvSpPr>
          <p:cNvPr id="22" name="Rectangle 21">
            <a:extLst>
              <a:ext uri="{FF2B5EF4-FFF2-40B4-BE49-F238E27FC236}">
                <a16:creationId xmlns:a16="http://schemas.microsoft.com/office/drawing/2014/main" id="{9E73C39F-B940-47D7-949E-3BBE23B227E3}"/>
              </a:ext>
            </a:extLst>
          </p:cNvPr>
          <p:cNvSpPr>
            <a:spLocks noGrp="1"/>
          </p:cNvSpPr>
          <p:nvPr/>
        </p:nvSpPr>
        <p:spPr>
          <a:xfrm>
            <a:off x="609600" y="5867400"/>
            <a:ext cx="10972800" cy="9525"/>
          </a:xfrm>
          <a:prstGeom prst="rect">
            <a:avLst/>
          </a:prstGeom>
          <a:solidFill>
            <a:srgbClr val="D8E0E6"/>
          </a:solidFill>
          <a:ln w="0">
            <a:noFill/>
          </a:ln>
        </p:spPr>
        <p:txBody>
          <a:bodyPr/>
          <a:lstStyle/>
          <a:p>
            <a:endParaRPr lang="en-US"/>
          </a:p>
        </p:txBody>
      </p:sp>
      <p:sp>
        <p:nvSpPr>
          <p:cNvPr id="23" name="Defensibility is a thesis to validate. Customer data remains perm">
            <a:extLst>
              <a:ext uri="{FF2B5EF4-FFF2-40B4-BE49-F238E27FC236}">
                <a16:creationId xmlns:a16="http://schemas.microsoft.com/office/drawing/2014/main" id="{D4B2DE11-3640-4A85-A6C6-4221F486918F}"/>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Defensibility is a thesis to validate. Customer data remains permissioned, and any cross-company reuse requires authorization.</a:t>
            </a:r>
          </a:p>
        </p:txBody>
      </p:sp>
    </p:spTree>
    <p:extLst>
      <p:ext uri="{BB962C8B-B14F-4D97-AF65-F5344CB8AC3E}">
        <p14:creationId xmlns:p14="http://schemas.microsoft.com/office/powerpoint/2010/main" val="812844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6DEFC5-B1B4-454B-B38E-F82A77B9CE22}"/>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Product expansion follows proof at each stage">
            <a:extLst>
              <a:ext uri="{FF2B5EF4-FFF2-40B4-BE49-F238E27FC236}">
                <a16:creationId xmlns:a16="http://schemas.microsoft.com/office/drawing/2014/main" id="{48119F9F-33F6-43B2-A8D6-7D6B2CA0C75E}"/>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Product expansion follows proof at each stage</a:t>
            </a:r>
          </a:p>
        </p:txBody>
      </p:sp>
      <p:sp>
        <p:nvSpPr>
          <p:cNvPr id="3" name="Milestones define the proposed build sequence. Timing depends on ">
            <a:extLst>
              <a:ext uri="{FF2B5EF4-FFF2-40B4-BE49-F238E27FC236}">
                <a16:creationId xmlns:a16="http://schemas.microsoft.com/office/drawing/2014/main" id="{1A4E5ACE-08D2-45DD-AC50-064B61041D14}"/>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Milestones define the proposed build sequence. Timing depends on access, staffing and pilot results.</a:t>
            </a:r>
          </a:p>
        </p:txBody>
      </p:sp>
      <p:sp>
        <p:nvSpPr>
          <p:cNvPr id="4" name="Rectangle 3">
            <a:extLst>
              <a:ext uri="{FF2B5EF4-FFF2-40B4-BE49-F238E27FC236}">
                <a16:creationId xmlns:a16="http://schemas.microsoft.com/office/drawing/2014/main" id="{D91035D3-FFA6-4925-98D6-2A6F2F6BFBAE}"/>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A0FAEF89-ADEB-4497-9243-B1C1C64671F8}"/>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19">
            <a:extLst>
              <a:ext uri="{FF2B5EF4-FFF2-40B4-BE49-F238E27FC236}">
                <a16:creationId xmlns:a16="http://schemas.microsoft.com/office/drawing/2014/main" id="{30426162-67A4-4332-B1FE-C897F357E522}"/>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19</a:t>
            </a:r>
          </a:p>
        </p:txBody>
      </p:sp>
      <p:graphicFrame>
        <p:nvGraphicFramePr>
          <p:cNvPr id="16" name="Table 15"/>
          <p:cNvGraphicFramePr/>
          <p:nvPr/>
        </p:nvGraphicFramePr>
        <p:xfrm>
          <a:off x="609600" y="2238375"/>
          <a:ext cx="10972800" cy="3495675"/>
        </p:xfrm>
        <a:graphic>
          <a:graphicData uri="http://schemas.openxmlformats.org/drawingml/2006/table">
            <a:tbl>
              <a:tblPr/>
              <a:tblGrid>
                <a:gridCol w="1733550">
                  <a:extLst>
                    <a:ext uri="{9D8B030D-6E8A-4147-A177-3AD203B41FA5}">
                      <a16:colId xmlns:a16="http://schemas.microsoft.com/office/drawing/2014/main" val="20000"/>
                    </a:ext>
                  </a:extLst>
                </a:gridCol>
                <a:gridCol w="4133850">
                  <a:extLst>
                    <a:ext uri="{9D8B030D-6E8A-4147-A177-3AD203B41FA5}">
                      <a16:colId xmlns:a16="http://schemas.microsoft.com/office/drawing/2014/main" val="20001"/>
                    </a:ext>
                  </a:extLst>
                </a:gridCol>
                <a:gridCol w="5105400">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Stage</a:t>
                      </a:r>
                    </a:p>
                  </a:txBody>
                  <a:tcPr anchor="ctr">
                    <a:solidFill>
                      <a:srgbClr val="112A46"/>
                    </a:solidFill>
                  </a:tcPr>
                </a:tc>
                <a:tc>
                  <a:txBody>
                    <a:bodyPr/>
                    <a:lstStyle/>
                    <a:p>
                      <a:r>
                        <a:rPr sz="1500" b="1">
                          <a:solidFill>
                            <a:srgbClr val="FFFFFF"/>
                          </a:solidFill>
                          <a:latin typeface="Arial"/>
                          <a:ea typeface="Arial"/>
                          <a:cs typeface="Arial"/>
                        </a:rPr>
                        <a:t>Capability</a:t>
                      </a:r>
                    </a:p>
                  </a:txBody>
                  <a:tcPr anchor="ctr">
                    <a:solidFill>
                      <a:srgbClr val="112A46"/>
                    </a:solidFill>
                  </a:tcPr>
                </a:tc>
                <a:tc>
                  <a:txBody>
                    <a:bodyPr/>
                    <a:lstStyle/>
                    <a:p>
                      <a:r>
                        <a:rPr sz="1500" b="1">
                          <a:solidFill>
                            <a:srgbClr val="FFFFFF"/>
                          </a:solidFill>
                          <a:latin typeface="Arial"/>
                          <a:ea typeface="Arial"/>
                          <a:cs typeface="Arial"/>
                        </a:rPr>
                        <a:t>Evidence required to advance</a:t>
                      </a:r>
                    </a:p>
                  </a:txBody>
                  <a:tcPr anchor="ctr">
                    <a:solidFill>
                      <a:srgbClr val="112A46"/>
                    </a:solidFill>
                  </a:tcPr>
                </a:tc>
                <a:extLst>
                  <a:ext uri="{0D108BD9-81ED-4DB2-BD59-A6C34878D82A}">
                    <a16:rowId xmlns:a16="http://schemas.microsoft.com/office/drawing/2014/main" val="10000"/>
                  </a:ext>
                </a:extLst>
              </a:tr>
              <a:tr h="750094">
                <a:tc>
                  <a:txBody>
                    <a:bodyPr/>
                    <a:lstStyle/>
                    <a:p>
                      <a:r>
                        <a:rPr sz="1800" b="1">
                          <a:solidFill>
                            <a:srgbClr val="112A46"/>
                          </a:solidFill>
                          <a:latin typeface="Arial"/>
                          <a:ea typeface="Arial"/>
                          <a:cs typeface="Arial"/>
                        </a:rPr>
                        <a:t>Today</a:t>
                      </a:r>
                    </a:p>
                  </a:txBody>
                  <a:tcPr anchor="ctr">
                    <a:solidFill>
                      <a:srgbClr val="FFFFFF"/>
                    </a:solidFill>
                  </a:tcPr>
                </a:tc>
                <a:tc>
                  <a:txBody>
                    <a:bodyPr/>
                    <a:lstStyle/>
                    <a:p>
                      <a:r>
                        <a:rPr sz="1800" b="0">
                          <a:solidFill>
                            <a:srgbClr val="112A46"/>
                          </a:solidFill>
                          <a:latin typeface="Arial"/>
                          <a:ea typeface="Arial"/>
                          <a:cs typeface="Arial"/>
                        </a:rPr>
                        <a:t>Discovery agent and evidence viewer</a:t>
                      </a:r>
                    </a:p>
                  </a:txBody>
                  <a:tcPr anchor="ctr">
                    <a:solidFill>
                      <a:srgbClr val="FFFFFF"/>
                    </a:solidFill>
                  </a:tcPr>
                </a:tc>
                <a:tc>
                  <a:txBody>
                    <a:bodyPr/>
                    <a:lstStyle/>
                    <a:p>
                      <a:r>
                        <a:rPr sz="1800" b="0">
                          <a:solidFill>
                            <a:srgbClr val="112A46"/>
                          </a:solidFill>
                          <a:latin typeface="Arial"/>
                          <a:ea typeface="Arial"/>
                          <a:cs typeface="Arial"/>
                        </a:rPr>
                        <a:t>Local prototype validation</a:t>
                      </a:r>
                    </a:p>
                  </a:txBody>
                  <a:tcPr anchor="ctr">
                    <a:solidFill>
                      <a:srgbClr val="FFFFFF"/>
                    </a:solidFill>
                  </a:tcPr>
                </a:tc>
                <a:extLst>
                  <a:ext uri="{0D108BD9-81ED-4DB2-BD59-A6C34878D82A}">
                    <a16:rowId xmlns:a16="http://schemas.microsoft.com/office/drawing/2014/main" val="10001"/>
                  </a:ext>
                </a:extLst>
              </a:tr>
              <a:tr h="750094">
                <a:tc>
                  <a:txBody>
                    <a:bodyPr/>
                    <a:lstStyle/>
                    <a:p>
                      <a:r>
                        <a:rPr sz="1800" b="1">
                          <a:solidFill>
                            <a:srgbClr val="112A46"/>
                          </a:solidFill>
                          <a:latin typeface="Arial"/>
                          <a:ea typeface="Arial"/>
                          <a:cs typeface="Arial"/>
                        </a:rPr>
                        <a:t>Next</a:t>
                      </a:r>
                    </a:p>
                  </a:txBody>
                  <a:tcPr anchor="ctr">
                    <a:solidFill>
                      <a:srgbClr val="F2F5F7"/>
                    </a:solidFill>
                  </a:tcPr>
                </a:tc>
                <a:tc>
                  <a:txBody>
                    <a:bodyPr/>
                    <a:lstStyle/>
                    <a:p>
                      <a:r>
                        <a:rPr sz="1800" b="0">
                          <a:solidFill>
                            <a:srgbClr val="112A46"/>
                          </a:solidFill>
                          <a:latin typeface="Arial"/>
                          <a:ea typeface="Arial"/>
                          <a:cs typeface="Arial"/>
                        </a:rPr>
                        <a:t>One ERP connector and a company model</a:t>
                      </a:r>
                    </a:p>
                  </a:txBody>
                  <a:tcPr anchor="ctr">
                    <a:solidFill>
                      <a:srgbClr val="F2F5F7"/>
                    </a:solidFill>
                  </a:tcPr>
                </a:tc>
                <a:tc>
                  <a:txBody>
                    <a:bodyPr/>
                    <a:lstStyle/>
                    <a:p>
                      <a:r>
                        <a:rPr sz="1800" b="0">
                          <a:solidFill>
                            <a:srgbClr val="112A46"/>
                          </a:solidFill>
                          <a:latin typeface="Arial"/>
                          <a:ea typeface="Arial"/>
                          <a:cs typeface="Arial"/>
                        </a:rPr>
                        <a:t>Owner-confirmed records and usable answers</a:t>
                      </a:r>
                    </a:p>
                  </a:txBody>
                  <a:tcPr anchor="ctr">
                    <a:solidFill>
                      <a:srgbClr val="F2F5F7"/>
                    </a:solidFill>
                  </a:tcPr>
                </a:tc>
                <a:extLst>
                  <a:ext uri="{0D108BD9-81ED-4DB2-BD59-A6C34878D82A}">
                    <a16:rowId xmlns:a16="http://schemas.microsoft.com/office/drawing/2014/main" val="10002"/>
                  </a:ext>
                </a:extLst>
              </a:tr>
              <a:tr h="750094">
                <a:tc>
                  <a:txBody>
                    <a:bodyPr/>
                    <a:lstStyle/>
                    <a:p>
                      <a:r>
                        <a:rPr sz="1800" b="1">
                          <a:solidFill>
                            <a:srgbClr val="112A46"/>
                          </a:solidFill>
                          <a:latin typeface="Arial"/>
                          <a:ea typeface="Arial"/>
                          <a:cs typeface="Arial"/>
                        </a:rPr>
                        <a:t>Then</a:t>
                      </a:r>
                    </a:p>
                  </a:txBody>
                  <a:tcPr anchor="ctr">
                    <a:solidFill>
                      <a:srgbClr val="FFFFFF"/>
                    </a:solidFill>
                  </a:tcPr>
                </a:tc>
                <a:tc>
                  <a:txBody>
                    <a:bodyPr/>
                    <a:lstStyle/>
                    <a:p>
                      <a:r>
                        <a:rPr sz="1800" b="0">
                          <a:solidFill>
                            <a:srgbClr val="112A46"/>
                          </a:solidFill>
                          <a:latin typeface="Arial"/>
                          <a:ea typeface="Arial"/>
                          <a:cs typeface="Arial"/>
                        </a:rPr>
                        <a:t>One human-approved improvement loop</a:t>
                      </a:r>
                    </a:p>
                  </a:txBody>
                  <a:tcPr anchor="ctr">
                    <a:solidFill>
                      <a:srgbClr val="FFFFFF"/>
                    </a:solidFill>
                  </a:tcPr>
                </a:tc>
                <a:tc>
                  <a:txBody>
                    <a:bodyPr/>
                    <a:lstStyle/>
                    <a:p>
                      <a:r>
                        <a:rPr sz="1800" b="0">
                          <a:solidFill>
                            <a:srgbClr val="112A46"/>
                          </a:solidFill>
                          <a:latin typeface="Arial"/>
                          <a:ea typeface="Arial"/>
                          <a:cs typeface="Arial"/>
                        </a:rPr>
                        <a:t>Measured outcome with no guardrail breach</a:t>
                      </a:r>
                    </a:p>
                  </a:txBody>
                  <a:tcPr anchor="ctr">
                    <a:solidFill>
                      <a:srgbClr val="FFFFFF"/>
                    </a:solidFill>
                  </a:tcPr>
                </a:tc>
                <a:extLst>
                  <a:ext uri="{0D108BD9-81ED-4DB2-BD59-A6C34878D82A}">
                    <a16:rowId xmlns:a16="http://schemas.microsoft.com/office/drawing/2014/main" val="10003"/>
                  </a:ext>
                </a:extLst>
              </a:tr>
              <a:tr h="750094">
                <a:tc>
                  <a:txBody>
                    <a:bodyPr/>
                    <a:lstStyle/>
                    <a:p>
                      <a:r>
                        <a:rPr sz="1800" b="1">
                          <a:solidFill>
                            <a:srgbClr val="112A46"/>
                          </a:solidFill>
                          <a:latin typeface="Arial"/>
                          <a:ea typeface="Arial"/>
                          <a:cs typeface="Arial"/>
                        </a:rPr>
                        <a:t>Scale</a:t>
                      </a:r>
                    </a:p>
                  </a:txBody>
                  <a:tcPr anchor="ctr">
                    <a:solidFill>
                      <a:srgbClr val="F2F5F7"/>
                    </a:solidFill>
                  </a:tcPr>
                </a:tc>
                <a:tc>
                  <a:txBody>
                    <a:bodyPr/>
                    <a:lstStyle/>
                    <a:p>
                      <a:r>
                        <a:rPr sz="1800" b="0">
                          <a:solidFill>
                            <a:srgbClr val="112A46"/>
                          </a:solidFill>
                          <a:latin typeface="Arial"/>
                          <a:ea typeface="Arial"/>
                          <a:cs typeface="Arial"/>
                        </a:rPr>
                        <a:t>Repeatable deployments and more workflows</a:t>
                      </a:r>
                    </a:p>
                  </a:txBody>
                  <a:tcPr anchor="ctr">
                    <a:solidFill>
                      <a:srgbClr val="F2F5F7"/>
                    </a:solidFill>
                  </a:tcPr>
                </a:tc>
                <a:tc>
                  <a:txBody>
                    <a:bodyPr/>
                    <a:lstStyle/>
                    <a:p>
                      <a:r>
                        <a:rPr sz="1800" b="0">
                          <a:solidFill>
                            <a:srgbClr val="112A46"/>
                          </a:solidFill>
                          <a:latin typeface="Arial"/>
                          <a:ea typeface="Arial"/>
                          <a:cs typeface="Arial"/>
                        </a:rPr>
                        <a:t>Paid continuation and lower setup effort</a:t>
                      </a:r>
                    </a:p>
                  </a:txBody>
                  <a:tcPr anchor="ctr">
                    <a:solidFill>
                      <a:srgbClr val="F2F5F7"/>
                    </a:solidFill>
                  </a:tcP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A954704C-83AD-40B0-AEDB-B381769F811E}"/>
              </a:ext>
            </a:extLst>
          </p:cNvPr>
          <p:cNvSpPr>
            <a:spLocks noGrp="1"/>
          </p:cNvSpPr>
          <p:nvPr/>
        </p:nvSpPr>
        <p:spPr>
          <a:xfrm>
            <a:off x="609600" y="5781675"/>
            <a:ext cx="47625" cy="428625"/>
          </a:xfrm>
          <a:prstGeom prst="rect">
            <a:avLst/>
          </a:prstGeom>
          <a:solidFill>
            <a:srgbClr val="087F87"/>
          </a:solidFill>
          <a:ln w="0">
            <a:noFill/>
          </a:ln>
        </p:spPr>
        <p:txBody>
          <a:bodyPr/>
          <a:lstStyle/>
          <a:p>
            <a:endParaRPr lang="en-US"/>
          </a:p>
        </p:txBody>
      </p:sp>
      <p:sp>
        <p:nvSpPr>
          <p:cNvPr id="9" name="The critical next proof is a useful, measurable loop in a real op">
            <a:extLst>
              <a:ext uri="{FF2B5EF4-FFF2-40B4-BE49-F238E27FC236}">
                <a16:creationId xmlns:a16="http://schemas.microsoft.com/office/drawing/2014/main" id="{5046BD4F-F6CE-44A7-8EF6-A27EC0AEC432}"/>
              </a:ext>
            </a:extLst>
          </p:cNvPr>
          <p:cNvSpPr>
            <a:spLocks noGrp="1"/>
          </p:cNvSpPr>
          <p:nvPr/>
        </p:nvSpPr>
        <p:spPr>
          <a:xfrm>
            <a:off x="800100" y="5810250"/>
            <a:ext cx="10782300" cy="533400"/>
          </a:xfrm>
          <a:prstGeom prst="rect">
            <a:avLst/>
          </a:prstGeom>
          <a:noFill/>
          <a:ln w="0">
            <a:noFill/>
          </a:ln>
        </p:spPr>
        <p:txBody>
          <a:bodyPr wrap="square" lIns="0" tIns="0" rIns="0" bIns="0" anchor="t">
            <a:noAutofit/>
          </a:bodyPr>
          <a:lstStyle/>
          <a:p>
            <a:pPr algn="l">
              <a:defRPr sz="1950" b="1">
                <a:solidFill>
                  <a:srgbClr val="112A46"/>
                </a:solidFill>
                <a:latin typeface="Arial"/>
                <a:ea typeface="Arial"/>
                <a:cs typeface="Arial"/>
              </a:defRPr>
            </a:pPr>
            <a:r>
              <a:rPr sz="1950" b="1">
                <a:solidFill>
                  <a:srgbClr val="112A46"/>
                </a:solidFill>
                <a:latin typeface="Arial"/>
                <a:ea typeface="Arial"/>
                <a:cs typeface="Arial"/>
              </a:rPr>
              <a:t>The critical next proof is a useful, measurable loop in a real operating company</a:t>
            </a:r>
          </a:p>
        </p:txBody>
      </p:sp>
    </p:spTree>
    <p:extLst>
      <p:ext uri="{BB962C8B-B14F-4D97-AF65-F5344CB8AC3E}">
        <p14:creationId xmlns:p14="http://schemas.microsoft.com/office/powerpoint/2010/main" val="609299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0288BDC-902E-406B-9614-88DAFDFA3F53}"/>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The founder understands the operating problem">
            <a:extLst>
              <a:ext uri="{FF2B5EF4-FFF2-40B4-BE49-F238E27FC236}">
                <a16:creationId xmlns:a16="http://schemas.microsoft.com/office/drawing/2014/main" id="{162E9E0B-F6DE-4EF6-AD10-6E46977AA012}"/>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The founder understands the operating problem</a:t>
            </a:r>
          </a:p>
        </p:txBody>
      </p:sp>
      <p:sp>
        <p:nvSpPr>
          <p:cNvPr id="3" name="Denny Garcia combines manufacturing leadership with ERP implement">
            <a:extLst>
              <a:ext uri="{FF2B5EF4-FFF2-40B4-BE49-F238E27FC236}">
                <a16:creationId xmlns:a16="http://schemas.microsoft.com/office/drawing/2014/main" id="{5D566EB8-8689-49A3-92D9-3E9A20F0F2FB}"/>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dirty="0">
                <a:solidFill>
                  <a:srgbClr val="536274"/>
                </a:solidFill>
                <a:latin typeface="Arial"/>
                <a:ea typeface="Arial"/>
                <a:cs typeface="Arial"/>
              </a:rPr>
              <a:t>Denny Garcia combines manufacturing leadership with ERP implementation and business integration experience.</a:t>
            </a:r>
          </a:p>
        </p:txBody>
      </p:sp>
      <p:sp>
        <p:nvSpPr>
          <p:cNvPr id="4" name="Rectangle 3">
            <a:extLst>
              <a:ext uri="{FF2B5EF4-FFF2-40B4-BE49-F238E27FC236}">
                <a16:creationId xmlns:a16="http://schemas.microsoft.com/office/drawing/2014/main" id="{9A424FF9-E368-4833-BC67-4C72D9735DA3}"/>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408F0C6C-D121-4C99-97FE-C2A6951A12E3}"/>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20">
            <a:extLst>
              <a:ext uri="{FF2B5EF4-FFF2-40B4-BE49-F238E27FC236}">
                <a16:creationId xmlns:a16="http://schemas.microsoft.com/office/drawing/2014/main" id="{311AB09E-0950-4DEF-9912-9EB49523621E}"/>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20</a:t>
            </a:r>
          </a:p>
        </p:txBody>
      </p:sp>
      <p:sp>
        <p:nvSpPr>
          <p:cNvPr id="7" name="Denny Garcia">
            <a:extLst>
              <a:ext uri="{FF2B5EF4-FFF2-40B4-BE49-F238E27FC236}">
                <a16:creationId xmlns:a16="http://schemas.microsoft.com/office/drawing/2014/main" id="{E2628A08-D9F3-4265-BEFD-88DD5B9A91E1}"/>
              </a:ext>
            </a:extLst>
          </p:cNvPr>
          <p:cNvSpPr>
            <a:spLocks noGrp="1"/>
          </p:cNvSpPr>
          <p:nvPr/>
        </p:nvSpPr>
        <p:spPr>
          <a:xfrm>
            <a:off x="609600" y="2219325"/>
            <a:ext cx="5191125" cy="619125"/>
          </a:xfrm>
          <a:prstGeom prst="rect">
            <a:avLst/>
          </a:prstGeom>
          <a:noFill/>
          <a:ln w="0">
            <a:noFill/>
          </a:ln>
        </p:spPr>
        <p:txBody>
          <a:bodyPr wrap="square" lIns="0" tIns="0" rIns="0" bIns="0" anchor="t">
            <a:noAutofit/>
          </a:bodyPr>
          <a:lstStyle/>
          <a:p>
            <a:pPr algn="l">
              <a:defRPr sz="3150" b="1">
                <a:solidFill>
                  <a:srgbClr val="112A46"/>
                </a:solidFill>
                <a:latin typeface="Arial"/>
                <a:ea typeface="Arial"/>
                <a:cs typeface="Arial"/>
              </a:defRPr>
            </a:pPr>
            <a:r>
              <a:rPr sz="3150" b="1" dirty="0">
                <a:solidFill>
                  <a:srgbClr val="112A46"/>
                </a:solidFill>
                <a:latin typeface="Arial"/>
                <a:ea typeface="Arial"/>
                <a:cs typeface="Arial"/>
              </a:rPr>
              <a:t>Denny Garcia</a:t>
            </a:r>
          </a:p>
        </p:txBody>
      </p:sp>
      <p:sp>
        <p:nvSpPr>
          <p:cNvPr id="8" name="Founder, Glinx">
            <a:extLst>
              <a:ext uri="{FF2B5EF4-FFF2-40B4-BE49-F238E27FC236}">
                <a16:creationId xmlns:a16="http://schemas.microsoft.com/office/drawing/2014/main" id="{1AE2F421-2510-4E6C-A7B4-0CBE3A1257C1}"/>
              </a:ext>
            </a:extLst>
          </p:cNvPr>
          <p:cNvSpPr>
            <a:spLocks noGrp="1"/>
          </p:cNvSpPr>
          <p:nvPr/>
        </p:nvSpPr>
        <p:spPr>
          <a:xfrm>
            <a:off x="609600" y="2867025"/>
            <a:ext cx="5191125" cy="466725"/>
          </a:xfrm>
          <a:prstGeom prst="rect">
            <a:avLst/>
          </a:prstGeom>
          <a:noFill/>
          <a:ln w="0">
            <a:noFill/>
          </a:ln>
        </p:spPr>
        <p:txBody>
          <a:bodyPr wrap="square" lIns="0" tIns="0" rIns="0" bIns="0" anchor="t">
            <a:noAutofit/>
          </a:bodyPr>
          <a:lstStyle/>
          <a:p>
            <a:pPr algn="l">
              <a:defRPr sz="2175" b="1">
                <a:solidFill>
                  <a:srgbClr val="087F87"/>
                </a:solidFill>
                <a:latin typeface="Arial"/>
                <a:ea typeface="Arial"/>
                <a:cs typeface="Arial"/>
              </a:defRPr>
            </a:pPr>
            <a:r>
              <a:rPr lang="en-US" sz="2175" b="1">
                <a:solidFill>
                  <a:srgbClr val="087F87"/>
                </a:solidFill>
                <a:latin typeface="Arial"/>
                <a:ea typeface="Arial"/>
                <a:cs typeface="Arial"/>
              </a:rPr>
              <a:t>Co-</a:t>
            </a:r>
            <a:r>
              <a:rPr sz="2175" b="1">
                <a:solidFill>
                  <a:srgbClr val="087F87"/>
                </a:solidFill>
                <a:latin typeface="Arial"/>
                <a:ea typeface="Arial"/>
                <a:cs typeface="Arial"/>
              </a:rPr>
              <a:t>Founder</a:t>
            </a:r>
            <a:r>
              <a:rPr sz="2175" b="1" dirty="0">
                <a:solidFill>
                  <a:srgbClr val="087F87"/>
                </a:solidFill>
                <a:latin typeface="Arial"/>
                <a:ea typeface="Arial"/>
                <a:cs typeface="Arial"/>
              </a:rPr>
              <a:t>, </a:t>
            </a:r>
            <a:r>
              <a:rPr sz="2175" b="1" dirty="0" err="1">
                <a:solidFill>
                  <a:srgbClr val="087F87"/>
                </a:solidFill>
                <a:latin typeface="Arial"/>
                <a:ea typeface="Arial"/>
                <a:cs typeface="Arial"/>
              </a:rPr>
              <a:t>Glinx</a:t>
            </a:r>
            <a:endParaRPr sz="2175" b="1" dirty="0">
              <a:solidFill>
                <a:srgbClr val="087F87"/>
              </a:solidFill>
              <a:latin typeface="Arial"/>
              <a:ea typeface="Arial"/>
              <a:cs typeface="Arial"/>
            </a:endParaRPr>
          </a:p>
        </p:txBody>
      </p:sp>
      <p:sp>
        <p:nvSpPr>
          <p:cNvPr id="9" name="Manufacturing P&amp;L leadership&#10;Leadership of a 76-person organizati">
            <a:extLst>
              <a:ext uri="{FF2B5EF4-FFF2-40B4-BE49-F238E27FC236}">
                <a16:creationId xmlns:a16="http://schemas.microsoft.com/office/drawing/2014/main" id="{6F3FEEE8-CAEF-4B6F-8E5E-45A9C040E80C}"/>
              </a:ext>
            </a:extLst>
          </p:cNvPr>
          <p:cNvSpPr>
            <a:spLocks noGrp="1"/>
          </p:cNvSpPr>
          <p:nvPr/>
        </p:nvSpPr>
        <p:spPr>
          <a:xfrm>
            <a:off x="609600" y="3676650"/>
            <a:ext cx="5391150" cy="2009775"/>
          </a:xfrm>
          <a:prstGeom prst="rect">
            <a:avLst/>
          </a:prstGeom>
          <a:noFill/>
          <a:ln w="0">
            <a:noFill/>
          </a:ln>
        </p:spPr>
        <p:txBody>
          <a:bodyPr wrap="square" lIns="0" tIns="0" rIns="0" bIns="0" anchor="t">
            <a:noAutofit/>
          </a:bodyPr>
          <a:lstStyle/>
          <a:p>
            <a:pPr algn="l">
              <a:defRPr sz="1950" b="0">
                <a:solidFill>
                  <a:srgbClr val="536274"/>
                </a:solidFill>
                <a:latin typeface="Arial"/>
                <a:ea typeface="Arial"/>
                <a:cs typeface="Arial"/>
              </a:defRPr>
            </a:pPr>
            <a:r>
              <a:rPr sz="1950" b="0">
                <a:solidFill>
                  <a:srgbClr val="536274"/>
                </a:solidFill>
                <a:latin typeface="Arial"/>
                <a:ea typeface="Arial"/>
                <a:cs typeface="Arial"/>
              </a:rPr>
              <a:t>Manufacturing P&amp;L leadership</a:t>
            </a:r>
          </a:p>
          <a:p>
            <a:pPr algn="l">
              <a:defRPr sz="1950" b="0">
                <a:solidFill>
                  <a:srgbClr val="536274"/>
                </a:solidFill>
                <a:latin typeface="Arial"/>
                <a:ea typeface="Arial"/>
                <a:cs typeface="Arial"/>
              </a:defRPr>
            </a:pPr>
            <a:r>
              <a:rPr sz="1950" b="0">
                <a:solidFill>
                  <a:srgbClr val="536274"/>
                </a:solidFill>
                <a:latin typeface="Arial"/>
                <a:ea typeface="Arial"/>
                <a:cs typeface="Arial"/>
              </a:rPr>
              <a:t>Leadership of a 76-person organization</a:t>
            </a:r>
          </a:p>
          <a:p>
            <a:pPr algn="l">
              <a:defRPr sz="1950" b="0">
                <a:solidFill>
                  <a:srgbClr val="536274"/>
                </a:solidFill>
                <a:latin typeface="Arial"/>
                <a:ea typeface="Arial"/>
                <a:cs typeface="Arial"/>
              </a:defRPr>
            </a:pPr>
            <a:r>
              <a:rPr sz="1950" b="0">
                <a:solidFill>
                  <a:srgbClr val="536274"/>
                </a:solidFill>
                <a:latin typeface="Arial"/>
                <a:ea typeface="Arial"/>
                <a:cs typeface="Arial"/>
              </a:rPr>
              <a:t>Hands-on ERP implementation</a:t>
            </a:r>
          </a:p>
          <a:p>
            <a:pPr algn="l">
              <a:defRPr sz="1950" b="0">
                <a:solidFill>
                  <a:srgbClr val="536274"/>
                </a:solidFill>
                <a:latin typeface="Arial"/>
                <a:ea typeface="Arial"/>
                <a:cs typeface="Arial"/>
              </a:defRPr>
            </a:pPr>
            <a:r>
              <a:rPr sz="1950" b="0">
                <a:solidFill>
                  <a:srgbClr val="536274"/>
                </a:solidFill>
                <a:latin typeface="Arial"/>
                <a:ea typeface="Arial"/>
                <a:cs typeface="Arial"/>
              </a:rPr>
              <a:t>Post-acquisition systems integration</a:t>
            </a:r>
          </a:p>
          <a:p>
            <a:pPr algn="l">
              <a:defRPr sz="1950" b="0">
                <a:solidFill>
                  <a:srgbClr val="536274"/>
                </a:solidFill>
                <a:latin typeface="Arial"/>
                <a:ea typeface="Arial"/>
                <a:cs typeface="Arial"/>
              </a:defRPr>
            </a:pPr>
            <a:r>
              <a:rPr sz="1950" b="0">
                <a:solidFill>
                  <a:srgbClr val="536274"/>
                </a:solidFill>
                <a:latin typeface="Arial"/>
                <a:ea typeface="Arial"/>
                <a:cs typeface="Arial"/>
              </a:rPr>
              <a:t>Rice University MBA</a:t>
            </a:r>
          </a:p>
        </p:txBody>
      </p:sp>
      <p:sp>
        <p:nvSpPr>
          <p:cNvPr id="10" name="Rectangle 9">
            <a:extLst>
              <a:ext uri="{FF2B5EF4-FFF2-40B4-BE49-F238E27FC236}">
                <a16:creationId xmlns:a16="http://schemas.microsoft.com/office/drawing/2014/main" id="{0175180F-382E-473E-A0BF-54FD440E57F6}"/>
              </a:ext>
            </a:extLst>
          </p:cNvPr>
          <p:cNvSpPr>
            <a:spLocks noGrp="1"/>
          </p:cNvSpPr>
          <p:nvPr/>
        </p:nvSpPr>
        <p:spPr>
          <a:xfrm>
            <a:off x="6334125" y="2257425"/>
            <a:ext cx="9525" cy="3514725"/>
          </a:xfrm>
          <a:prstGeom prst="rect">
            <a:avLst/>
          </a:prstGeom>
          <a:solidFill>
            <a:srgbClr val="D8E0E6"/>
          </a:solidFill>
          <a:ln w="0">
            <a:noFill/>
          </a:ln>
        </p:spPr>
        <p:txBody>
          <a:bodyPr/>
          <a:lstStyle/>
          <a:p>
            <a:endParaRPr lang="en-US"/>
          </a:p>
        </p:txBody>
      </p:sp>
      <p:sp>
        <p:nvSpPr>
          <p:cNvPr id="11" name="Capabilities needed for the next phase">
            <a:extLst>
              <a:ext uri="{FF2B5EF4-FFF2-40B4-BE49-F238E27FC236}">
                <a16:creationId xmlns:a16="http://schemas.microsoft.com/office/drawing/2014/main" id="{2BF39F54-C1CC-476A-840D-A89617AA79A6}"/>
              </a:ext>
            </a:extLst>
          </p:cNvPr>
          <p:cNvSpPr>
            <a:spLocks noGrp="1"/>
          </p:cNvSpPr>
          <p:nvPr/>
        </p:nvSpPr>
        <p:spPr>
          <a:xfrm>
            <a:off x="6791325" y="2238375"/>
            <a:ext cx="4791075" cy="904875"/>
          </a:xfrm>
          <a:prstGeom prst="rect">
            <a:avLst/>
          </a:prstGeom>
          <a:noFill/>
          <a:ln w="0">
            <a:noFill/>
          </a:ln>
        </p:spPr>
        <p:txBody>
          <a:bodyPr wrap="square" lIns="0" tIns="0" rIns="0" bIns="0" anchor="t">
            <a:noAutofit/>
          </a:bodyPr>
          <a:lstStyle/>
          <a:p>
            <a:pPr algn="l">
              <a:defRPr sz="2175" b="1">
                <a:solidFill>
                  <a:srgbClr val="112A46"/>
                </a:solidFill>
                <a:latin typeface="Arial"/>
                <a:ea typeface="Arial"/>
                <a:cs typeface="Arial"/>
              </a:defRPr>
            </a:pPr>
            <a:r>
              <a:rPr sz="2175" b="1">
                <a:solidFill>
                  <a:srgbClr val="112A46"/>
                </a:solidFill>
                <a:latin typeface="Arial"/>
                <a:ea typeface="Arial"/>
                <a:cs typeface="Arial"/>
              </a:rPr>
              <a:t>Capabilities needed for the next phase</a:t>
            </a:r>
          </a:p>
        </p:txBody>
      </p:sp>
      <p:sp>
        <p:nvSpPr>
          <p:cNvPr id="12" name="Enterprise software and connectors&#10;Applied AI and evaluation&#10;Secu">
            <a:extLst>
              <a:ext uri="{FF2B5EF4-FFF2-40B4-BE49-F238E27FC236}">
                <a16:creationId xmlns:a16="http://schemas.microsoft.com/office/drawing/2014/main" id="{5D498C33-A481-413F-B111-4551574AA229}"/>
              </a:ext>
            </a:extLst>
          </p:cNvPr>
          <p:cNvSpPr>
            <a:spLocks noGrp="1"/>
          </p:cNvSpPr>
          <p:nvPr/>
        </p:nvSpPr>
        <p:spPr>
          <a:xfrm>
            <a:off x="6791325" y="3476625"/>
            <a:ext cx="4791075" cy="1743075"/>
          </a:xfrm>
          <a:prstGeom prst="rect">
            <a:avLst/>
          </a:prstGeom>
          <a:noFill/>
          <a:ln w="0">
            <a:noFill/>
          </a:ln>
        </p:spPr>
        <p:txBody>
          <a:bodyPr wrap="square" lIns="0" tIns="0" rIns="0" bIns="0" anchor="t">
            <a:noAutofit/>
          </a:bodyPr>
          <a:lstStyle/>
          <a:p>
            <a:pPr algn="l">
              <a:defRPr sz="1950" b="0">
                <a:solidFill>
                  <a:srgbClr val="536274"/>
                </a:solidFill>
                <a:latin typeface="Arial"/>
                <a:ea typeface="Arial"/>
                <a:cs typeface="Arial"/>
              </a:defRPr>
            </a:pPr>
            <a:r>
              <a:rPr sz="1950" b="0">
                <a:solidFill>
                  <a:srgbClr val="536274"/>
                </a:solidFill>
                <a:latin typeface="Arial"/>
                <a:ea typeface="Arial"/>
                <a:cs typeface="Arial"/>
              </a:rPr>
              <a:t>Enterprise software and connectors</a:t>
            </a:r>
          </a:p>
          <a:p>
            <a:pPr algn="l">
              <a:defRPr sz="1950" b="0">
                <a:solidFill>
                  <a:srgbClr val="536274"/>
                </a:solidFill>
                <a:latin typeface="Arial"/>
                <a:ea typeface="Arial"/>
                <a:cs typeface="Arial"/>
              </a:defRPr>
            </a:pPr>
            <a:r>
              <a:rPr sz="1950" b="0">
                <a:solidFill>
                  <a:srgbClr val="536274"/>
                </a:solidFill>
                <a:latin typeface="Arial"/>
                <a:ea typeface="Arial"/>
                <a:cs typeface="Arial"/>
              </a:rPr>
              <a:t>Applied AI and evaluation</a:t>
            </a:r>
          </a:p>
          <a:p>
            <a:pPr algn="l">
              <a:defRPr sz="1950" b="0">
                <a:solidFill>
                  <a:srgbClr val="536274"/>
                </a:solidFill>
                <a:latin typeface="Arial"/>
                <a:ea typeface="Arial"/>
                <a:cs typeface="Arial"/>
              </a:defRPr>
            </a:pPr>
            <a:r>
              <a:rPr sz="1950" b="0">
                <a:solidFill>
                  <a:srgbClr val="536274"/>
                </a:solidFill>
                <a:latin typeface="Arial"/>
                <a:ea typeface="Arial"/>
                <a:cs typeface="Arial"/>
              </a:rPr>
              <a:t>Security and permissions</a:t>
            </a:r>
          </a:p>
          <a:p>
            <a:pPr algn="l">
              <a:defRPr sz="1950" b="0">
                <a:solidFill>
                  <a:srgbClr val="536274"/>
                </a:solidFill>
                <a:latin typeface="Arial"/>
                <a:ea typeface="Arial"/>
                <a:cs typeface="Arial"/>
              </a:defRPr>
            </a:pPr>
            <a:r>
              <a:rPr sz="1950" b="0">
                <a:solidFill>
                  <a:srgbClr val="536274"/>
                </a:solidFill>
                <a:latin typeface="Arial"/>
                <a:ea typeface="Arial"/>
                <a:cs typeface="Arial"/>
              </a:rPr>
              <a:t>Customer implementation</a:t>
            </a:r>
          </a:p>
        </p:txBody>
      </p:sp>
      <p:sp>
        <p:nvSpPr>
          <p:cNvPr id="13" name="Founder background reflects information supplied by Denny Garcia.">
            <a:extLst>
              <a:ext uri="{FF2B5EF4-FFF2-40B4-BE49-F238E27FC236}">
                <a16:creationId xmlns:a16="http://schemas.microsoft.com/office/drawing/2014/main" id="{2DB70896-95FE-445E-BEB6-9860278B00EC}"/>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Founder background reflects information supplied by Denny Garcia. Roles at right are staffing needs, not a team roster.</a:t>
            </a:r>
          </a:p>
        </p:txBody>
      </p:sp>
    </p:spTree>
    <p:extLst>
      <p:ext uri="{BB962C8B-B14F-4D97-AF65-F5344CB8AC3E}">
        <p14:creationId xmlns:p14="http://schemas.microsoft.com/office/powerpoint/2010/main" val="153038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2A46"/>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7BDCDFF-9DAB-4EE9-AE81-22E82227E9E8}"/>
              </a:ext>
            </a:extLst>
          </p:cNvPr>
          <p:cNvSpPr>
            <a:spLocks noGrp="1"/>
          </p:cNvSpPr>
          <p:nvPr/>
        </p:nvSpPr>
        <p:spPr>
          <a:xfrm>
            <a:off x="609600" y="333375"/>
            <a:ext cx="419100" cy="47625"/>
          </a:xfrm>
          <a:prstGeom prst="rect">
            <a:avLst/>
          </a:prstGeom>
          <a:solidFill>
            <a:srgbClr val="CB8508"/>
          </a:solidFill>
          <a:ln w="0">
            <a:noFill/>
          </a:ln>
        </p:spPr>
        <p:txBody>
          <a:bodyPr/>
          <a:lstStyle/>
          <a:p>
            <a:endParaRPr lang="en-US"/>
          </a:p>
        </p:txBody>
      </p:sp>
      <p:sp>
        <p:nvSpPr>
          <p:cNvPr id="2" name="A company that can show how it improved">
            <a:extLst>
              <a:ext uri="{FF2B5EF4-FFF2-40B4-BE49-F238E27FC236}">
                <a16:creationId xmlns:a16="http://schemas.microsoft.com/office/drawing/2014/main" id="{D9C203E1-2521-49CE-941B-D4ED0AF8B884}"/>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A company that can show how it improved</a:t>
            </a:r>
          </a:p>
        </p:txBody>
      </p:sp>
      <p:sp>
        <p:nvSpPr>
          <p:cNvPr id="3" name="Glinx seeks an early-stage investment partner and manufacturing d">
            <a:extLst>
              <a:ext uri="{FF2B5EF4-FFF2-40B4-BE49-F238E27FC236}">
                <a16:creationId xmlns:a16="http://schemas.microsoft.com/office/drawing/2014/main" id="{6A452568-72CF-4205-B941-E64503F3BB62}"/>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D4DEE7"/>
                </a:solidFill>
                <a:latin typeface="Arial"/>
                <a:ea typeface="Arial"/>
                <a:cs typeface="Arial"/>
              </a:defRPr>
            </a:pPr>
            <a:r>
              <a:rPr sz="1650" b="0">
                <a:solidFill>
                  <a:srgbClr val="D4DEE7"/>
                </a:solidFill>
                <a:latin typeface="Arial"/>
                <a:ea typeface="Arial"/>
                <a:cs typeface="Arial"/>
              </a:rPr>
              <a:t>Glinx seeks an early-stage investment partner and manufacturing design partners.</a:t>
            </a:r>
          </a:p>
        </p:txBody>
      </p:sp>
      <p:sp>
        <p:nvSpPr>
          <p:cNvPr id="4" name="Rectangle 3">
            <a:extLst>
              <a:ext uri="{FF2B5EF4-FFF2-40B4-BE49-F238E27FC236}">
                <a16:creationId xmlns:a16="http://schemas.microsoft.com/office/drawing/2014/main" id="{857E6E3A-2C45-442C-B689-ED30E37C1871}"/>
              </a:ext>
            </a:extLst>
          </p:cNvPr>
          <p:cNvSpPr>
            <a:spLocks noGrp="1"/>
          </p:cNvSpPr>
          <p:nvPr/>
        </p:nvSpPr>
        <p:spPr>
          <a:xfrm>
            <a:off x="609600" y="6438900"/>
            <a:ext cx="10972800" cy="9525"/>
          </a:xfrm>
          <a:prstGeom prst="rect">
            <a:avLst/>
          </a:prstGeom>
          <a:solidFill>
            <a:srgbClr val="43546A"/>
          </a:solidFill>
          <a:ln w="0">
            <a:noFill/>
          </a:ln>
        </p:spPr>
        <p:txBody>
          <a:bodyPr/>
          <a:lstStyle/>
          <a:p>
            <a:endParaRPr lang="en-US"/>
          </a:p>
        </p:txBody>
      </p:sp>
      <p:sp>
        <p:nvSpPr>
          <p:cNvPr id="5" name="GLINX AI">
            <a:extLst>
              <a:ext uri="{FF2B5EF4-FFF2-40B4-BE49-F238E27FC236}">
                <a16:creationId xmlns:a16="http://schemas.microsoft.com/office/drawing/2014/main" id="{53E00BDF-F1F8-4271-B198-3FC79727CB3B}"/>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FFFFFF"/>
                </a:solidFill>
                <a:latin typeface="Arial"/>
                <a:ea typeface="Arial"/>
                <a:cs typeface="Arial"/>
              </a:defRPr>
            </a:pPr>
            <a:r>
              <a:rPr sz="975" b="1">
                <a:solidFill>
                  <a:srgbClr val="FFFFFF"/>
                </a:solidFill>
                <a:latin typeface="Arial"/>
                <a:ea typeface="Arial"/>
                <a:cs typeface="Arial"/>
              </a:rPr>
              <a:t>GLINX AI</a:t>
            </a:r>
          </a:p>
        </p:txBody>
      </p:sp>
      <p:sp>
        <p:nvSpPr>
          <p:cNvPr id="6" name="21">
            <a:extLst>
              <a:ext uri="{FF2B5EF4-FFF2-40B4-BE49-F238E27FC236}">
                <a16:creationId xmlns:a16="http://schemas.microsoft.com/office/drawing/2014/main" id="{19687E3C-03CA-42E7-9D72-037D5B75B643}"/>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C8D1DB"/>
                </a:solidFill>
                <a:latin typeface="Arial"/>
                <a:ea typeface="Arial"/>
                <a:cs typeface="Arial"/>
              </a:defRPr>
            </a:pPr>
            <a:r>
              <a:rPr sz="975" b="0">
                <a:solidFill>
                  <a:srgbClr val="C8D1DB"/>
                </a:solidFill>
                <a:latin typeface="Arial"/>
                <a:ea typeface="Arial"/>
                <a:cs typeface="Arial"/>
              </a:rPr>
              <a:t>21</a:t>
            </a:r>
          </a:p>
        </p:txBody>
      </p:sp>
      <p:sp>
        <p:nvSpPr>
          <p:cNvPr id="7" name="The investment would fund">
            <a:extLst>
              <a:ext uri="{FF2B5EF4-FFF2-40B4-BE49-F238E27FC236}">
                <a16:creationId xmlns:a16="http://schemas.microsoft.com/office/drawing/2014/main" id="{A7623E69-1943-49BD-B8E5-4AC9A17476C2}"/>
              </a:ext>
            </a:extLst>
          </p:cNvPr>
          <p:cNvSpPr>
            <a:spLocks noGrp="1"/>
          </p:cNvSpPr>
          <p:nvPr/>
        </p:nvSpPr>
        <p:spPr>
          <a:xfrm>
            <a:off x="609600" y="2333625"/>
            <a:ext cx="5810250" cy="428625"/>
          </a:xfrm>
          <a:prstGeom prst="rect">
            <a:avLst/>
          </a:prstGeom>
          <a:noFill/>
          <a:ln w="0">
            <a:noFill/>
          </a:ln>
        </p:spPr>
        <p:txBody>
          <a:bodyPr wrap="square" lIns="0" tIns="0" rIns="0" bIns="0" anchor="t">
            <a:noAutofit/>
          </a:bodyPr>
          <a:lstStyle/>
          <a:p>
            <a:pPr algn="l">
              <a:defRPr sz="2175" b="1">
                <a:solidFill>
                  <a:srgbClr val="CB8508"/>
                </a:solidFill>
                <a:latin typeface="Arial"/>
                <a:ea typeface="Arial"/>
                <a:cs typeface="Arial"/>
              </a:defRPr>
            </a:pPr>
            <a:r>
              <a:rPr sz="2175" b="1">
                <a:solidFill>
                  <a:srgbClr val="CB8508"/>
                </a:solidFill>
                <a:latin typeface="Arial"/>
                <a:ea typeface="Arial"/>
                <a:cs typeface="Arial"/>
              </a:rPr>
              <a:t>The investment would fund</a:t>
            </a:r>
          </a:p>
        </p:txBody>
      </p:sp>
      <p:sp>
        <p:nvSpPr>
          <p:cNvPr id="8" name="A reliable company model&#10;One governed improvement loop&#10;Evidence f">
            <a:extLst>
              <a:ext uri="{FF2B5EF4-FFF2-40B4-BE49-F238E27FC236}">
                <a16:creationId xmlns:a16="http://schemas.microsoft.com/office/drawing/2014/main" id="{654A4E9E-BEE5-411C-98E2-921A72573DDA}"/>
              </a:ext>
            </a:extLst>
          </p:cNvPr>
          <p:cNvSpPr>
            <a:spLocks noGrp="1"/>
          </p:cNvSpPr>
          <p:nvPr/>
        </p:nvSpPr>
        <p:spPr>
          <a:xfrm>
            <a:off x="609600" y="3000375"/>
            <a:ext cx="10639425" cy="1800225"/>
          </a:xfrm>
          <a:prstGeom prst="rect">
            <a:avLst/>
          </a:prstGeom>
          <a:noFill/>
          <a:ln w="0">
            <a:noFill/>
          </a:ln>
        </p:spPr>
        <p:txBody>
          <a:bodyPr wrap="square" lIns="0" tIns="0" rIns="0" bIns="0" anchor="t">
            <a:noAutofit/>
          </a:bodyPr>
          <a:lstStyle/>
          <a:p>
            <a:pPr algn="l">
              <a:defRPr sz="2925" b="1">
                <a:solidFill>
                  <a:srgbClr val="FFFFFF"/>
                </a:solidFill>
                <a:latin typeface="Arial"/>
                <a:ea typeface="Arial"/>
                <a:cs typeface="Arial"/>
              </a:defRPr>
            </a:pPr>
            <a:r>
              <a:rPr sz="2925" b="1">
                <a:solidFill>
                  <a:srgbClr val="FFFFFF"/>
                </a:solidFill>
                <a:latin typeface="Arial"/>
                <a:ea typeface="Arial"/>
                <a:cs typeface="Arial"/>
              </a:rPr>
              <a:t>A reliable company model</a:t>
            </a:r>
          </a:p>
          <a:p>
            <a:pPr algn="l">
              <a:defRPr sz="2925" b="1">
                <a:solidFill>
                  <a:srgbClr val="FFFFFF"/>
                </a:solidFill>
                <a:latin typeface="Arial"/>
                <a:ea typeface="Arial"/>
                <a:cs typeface="Arial"/>
              </a:defRPr>
            </a:pPr>
            <a:r>
              <a:rPr sz="2925" b="1">
                <a:solidFill>
                  <a:srgbClr val="FFFFFF"/>
                </a:solidFill>
                <a:latin typeface="Arial"/>
                <a:ea typeface="Arial"/>
                <a:cs typeface="Arial"/>
              </a:rPr>
              <a:t>One governed improvement loop</a:t>
            </a:r>
          </a:p>
          <a:p>
            <a:pPr algn="l">
              <a:defRPr sz="2925" b="1">
                <a:solidFill>
                  <a:srgbClr val="FFFFFF"/>
                </a:solidFill>
                <a:latin typeface="Arial"/>
                <a:ea typeface="Arial"/>
                <a:cs typeface="Arial"/>
              </a:defRPr>
            </a:pPr>
            <a:r>
              <a:rPr sz="2925" b="1">
                <a:solidFill>
                  <a:srgbClr val="FFFFFF"/>
                </a:solidFill>
                <a:latin typeface="Arial"/>
                <a:ea typeface="Arial"/>
                <a:cs typeface="Arial"/>
              </a:rPr>
              <a:t>Evidence for repeatable paid deployment</a:t>
            </a:r>
          </a:p>
        </p:txBody>
      </p:sp>
      <p:sp>
        <p:nvSpPr>
          <p:cNvPr id="9" name="Rectangle 8">
            <a:extLst>
              <a:ext uri="{FF2B5EF4-FFF2-40B4-BE49-F238E27FC236}">
                <a16:creationId xmlns:a16="http://schemas.microsoft.com/office/drawing/2014/main" id="{BEA266B5-AC72-411D-BEAF-067D8C0E106B}"/>
              </a:ext>
            </a:extLst>
          </p:cNvPr>
          <p:cNvSpPr>
            <a:spLocks noGrp="1"/>
          </p:cNvSpPr>
          <p:nvPr/>
        </p:nvSpPr>
        <p:spPr>
          <a:xfrm>
            <a:off x="609600" y="5114925"/>
            <a:ext cx="10972800" cy="9525"/>
          </a:xfrm>
          <a:prstGeom prst="rect">
            <a:avLst/>
          </a:prstGeom>
          <a:solidFill>
            <a:srgbClr val="43546A"/>
          </a:solidFill>
          <a:ln w="0">
            <a:noFill/>
          </a:ln>
        </p:spPr>
        <p:txBody>
          <a:bodyPr/>
          <a:lstStyle/>
          <a:p>
            <a:endParaRPr lang="en-US"/>
          </a:p>
        </p:txBody>
      </p:sp>
      <p:sp>
        <p:nvSpPr>
          <p:cNvPr id="10" name="The long-term ambition">
            <a:extLst>
              <a:ext uri="{FF2B5EF4-FFF2-40B4-BE49-F238E27FC236}">
                <a16:creationId xmlns:a16="http://schemas.microsoft.com/office/drawing/2014/main" id="{9413D043-AABF-42A9-B5DD-2F790FEB0F88}"/>
              </a:ext>
            </a:extLst>
          </p:cNvPr>
          <p:cNvSpPr>
            <a:spLocks noGrp="1"/>
          </p:cNvSpPr>
          <p:nvPr/>
        </p:nvSpPr>
        <p:spPr>
          <a:xfrm>
            <a:off x="609600" y="5410200"/>
            <a:ext cx="3305175" cy="647700"/>
          </a:xfrm>
          <a:prstGeom prst="rect">
            <a:avLst/>
          </a:prstGeom>
          <a:noFill/>
          <a:ln w="0">
            <a:noFill/>
          </a:ln>
        </p:spPr>
        <p:txBody>
          <a:bodyPr wrap="square" lIns="0" tIns="0" rIns="0" bIns="0" anchor="t">
            <a:noAutofit/>
          </a:bodyPr>
          <a:lstStyle/>
          <a:p>
            <a:pPr algn="l">
              <a:defRPr sz="1800" b="1">
                <a:solidFill>
                  <a:srgbClr val="CB8508"/>
                </a:solidFill>
                <a:latin typeface="Arial"/>
                <a:ea typeface="Arial"/>
                <a:cs typeface="Arial"/>
              </a:defRPr>
            </a:pPr>
            <a:r>
              <a:rPr sz="1800" b="1">
                <a:solidFill>
                  <a:srgbClr val="CB8508"/>
                </a:solidFill>
                <a:latin typeface="Arial"/>
                <a:ea typeface="Arial"/>
                <a:cs typeface="Arial"/>
              </a:rPr>
              <a:t>The long-term ambition</a:t>
            </a:r>
          </a:p>
        </p:txBody>
      </p:sp>
      <p:sp>
        <p:nvSpPr>
          <p:cNvPr id="11" name="Every evaluated outcome improves the evidence&#10;available for the n">
            <a:extLst>
              <a:ext uri="{FF2B5EF4-FFF2-40B4-BE49-F238E27FC236}">
                <a16:creationId xmlns:a16="http://schemas.microsoft.com/office/drawing/2014/main" id="{3096FD39-D197-4019-B95E-BA0FA3642295}"/>
              </a:ext>
            </a:extLst>
          </p:cNvPr>
          <p:cNvSpPr>
            <a:spLocks noGrp="1"/>
          </p:cNvSpPr>
          <p:nvPr/>
        </p:nvSpPr>
        <p:spPr>
          <a:xfrm>
            <a:off x="4381500" y="5381625"/>
            <a:ext cx="7191375" cy="752475"/>
          </a:xfrm>
          <a:prstGeom prst="rect">
            <a:avLst/>
          </a:prstGeom>
          <a:noFill/>
          <a:ln w="0">
            <a:noFill/>
          </a:ln>
        </p:spPr>
        <p:txBody>
          <a:bodyPr wrap="square" lIns="0" tIns="0" rIns="0" bIns="0" anchor="t">
            <a:noAutofit/>
          </a:bodyPr>
          <a:lstStyle/>
          <a:p>
            <a:pPr algn="l">
              <a:defRPr sz="2100" b="0">
                <a:solidFill>
                  <a:srgbClr val="FFFFFF"/>
                </a:solidFill>
                <a:latin typeface="Arial"/>
                <a:ea typeface="Arial"/>
                <a:cs typeface="Arial"/>
              </a:defRPr>
            </a:pPr>
            <a:r>
              <a:rPr sz="2100" b="0">
                <a:solidFill>
                  <a:srgbClr val="FFFFFF"/>
                </a:solidFill>
                <a:latin typeface="Arial"/>
                <a:ea typeface="Arial"/>
                <a:cs typeface="Arial"/>
              </a:rPr>
              <a:t>Every evaluated outcome improves the evidence</a:t>
            </a:r>
          </a:p>
          <a:p>
            <a:pPr algn="l">
              <a:defRPr sz="2100" b="0">
                <a:solidFill>
                  <a:srgbClr val="FFFFFF"/>
                </a:solidFill>
                <a:latin typeface="Arial"/>
                <a:ea typeface="Arial"/>
                <a:cs typeface="Arial"/>
              </a:defRPr>
            </a:pPr>
            <a:r>
              <a:rPr sz="2100" b="0">
                <a:solidFill>
                  <a:srgbClr val="FFFFFF"/>
                </a:solidFill>
                <a:latin typeface="Arial"/>
                <a:ea typeface="Arial"/>
                <a:cs typeface="Arial"/>
              </a:rPr>
              <a:t>available for the next company decision.</a:t>
            </a:r>
          </a:p>
        </p:txBody>
      </p:sp>
    </p:spTree>
    <p:extLst>
      <p:ext uri="{BB962C8B-B14F-4D97-AF65-F5344CB8AC3E}">
        <p14:creationId xmlns:p14="http://schemas.microsoft.com/office/powerpoint/2010/main" val="666104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1D7E52-3981-454A-A328-96FDCFD2D43A}"/>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Governance must constrain the improvement loop">
            <a:extLst>
              <a:ext uri="{FF2B5EF4-FFF2-40B4-BE49-F238E27FC236}">
                <a16:creationId xmlns:a16="http://schemas.microsoft.com/office/drawing/2014/main" id="{DDF36448-9809-4883-A69A-FDDE57C7FC0F}"/>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Governance must constrain the improvement loop</a:t>
            </a:r>
          </a:p>
        </p:txBody>
      </p:sp>
      <p:sp>
        <p:nvSpPr>
          <p:cNvPr id="3" name="Appendix: proposed production controls. The current prototype per">
            <a:extLst>
              <a:ext uri="{FF2B5EF4-FFF2-40B4-BE49-F238E27FC236}">
                <a16:creationId xmlns:a16="http://schemas.microsoft.com/office/drawing/2014/main" id="{DF214105-FFFE-49D1-A386-B562596D9B90}"/>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Appendix: proposed production controls. The current prototype performs metadata discovery only.</a:t>
            </a:r>
          </a:p>
        </p:txBody>
      </p:sp>
      <p:sp>
        <p:nvSpPr>
          <p:cNvPr id="4" name="Rectangle 3">
            <a:extLst>
              <a:ext uri="{FF2B5EF4-FFF2-40B4-BE49-F238E27FC236}">
                <a16:creationId xmlns:a16="http://schemas.microsoft.com/office/drawing/2014/main" id="{53303DCE-EA83-49DB-8F13-2187CFC3C470}"/>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529280C3-355E-451D-B305-EDFA51310F50}"/>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22">
            <a:extLst>
              <a:ext uri="{FF2B5EF4-FFF2-40B4-BE49-F238E27FC236}">
                <a16:creationId xmlns:a16="http://schemas.microsoft.com/office/drawing/2014/main" id="{04058C4C-A2D6-46E2-8532-35CAA1EB186F}"/>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22</a:t>
            </a:r>
          </a:p>
        </p:txBody>
      </p:sp>
      <p:graphicFrame>
        <p:nvGraphicFramePr>
          <p:cNvPr id="15" name="Table 14"/>
          <p:cNvGraphicFramePr/>
          <p:nvPr/>
        </p:nvGraphicFramePr>
        <p:xfrm>
          <a:off x="609600" y="2181225"/>
          <a:ext cx="10972800" cy="3743325"/>
        </p:xfrm>
        <a:graphic>
          <a:graphicData uri="http://schemas.openxmlformats.org/drawingml/2006/table">
            <a:tbl>
              <a:tblPr/>
              <a:tblGrid>
                <a:gridCol w="3248025">
                  <a:extLst>
                    <a:ext uri="{9D8B030D-6E8A-4147-A177-3AD203B41FA5}">
                      <a16:colId xmlns:a16="http://schemas.microsoft.com/office/drawing/2014/main" val="20000"/>
                    </a:ext>
                  </a:extLst>
                </a:gridCol>
                <a:gridCol w="7724775">
                  <a:extLst>
                    <a:ext uri="{9D8B030D-6E8A-4147-A177-3AD203B41FA5}">
                      <a16:colId xmlns:a16="http://schemas.microsoft.com/office/drawing/2014/main" val="20001"/>
                    </a:ext>
                  </a:extLst>
                </a:gridCol>
              </a:tblGrid>
              <a:tr h="495300">
                <a:tc>
                  <a:txBody>
                    <a:bodyPr/>
                    <a:lstStyle/>
                    <a:p>
                      <a:r>
                        <a:rPr sz="1500" b="1">
                          <a:solidFill>
                            <a:srgbClr val="FFFFFF"/>
                          </a:solidFill>
                          <a:latin typeface="Arial"/>
                          <a:ea typeface="Arial"/>
                          <a:cs typeface="Arial"/>
                        </a:rPr>
                        <a:t>Control boundary</a:t>
                      </a:r>
                    </a:p>
                  </a:txBody>
                  <a:tcPr anchor="ctr">
                    <a:solidFill>
                      <a:srgbClr val="112A46"/>
                    </a:solidFill>
                  </a:tcPr>
                </a:tc>
                <a:tc>
                  <a:txBody>
                    <a:bodyPr/>
                    <a:lstStyle/>
                    <a:p>
                      <a:r>
                        <a:rPr sz="1500" b="1">
                          <a:solidFill>
                            <a:srgbClr val="FFFFFF"/>
                          </a:solidFill>
                          <a:latin typeface="Arial"/>
                          <a:ea typeface="Arial"/>
                          <a:cs typeface="Arial"/>
                        </a:rPr>
                        <a:t>Required behavior</a:t>
                      </a:r>
                    </a:p>
                  </a:txBody>
                  <a:tcPr anchor="ctr">
                    <a:solidFill>
                      <a:srgbClr val="112A46"/>
                    </a:solidFill>
                  </a:tcPr>
                </a:tc>
                <a:extLst>
                  <a:ext uri="{0D108BD9-81ED-4DB2-BD59-A6C34878D82A}">
                    <a16:rowId xmlns:a16="http://schemas.microsoft.com/office/drawing/2014/main" val="10000"/>
                  </a:ext>
                </a:extLst>
              </a:tr>
              <a:tr h="649605">
                <a:tc>
                  <a:txBody>
                    <a:bodyPr/>
                    <a:lstStyle/>
                    <a:p>
                      <a:r>
                        <a:rPr sz="1725" b="1">
                          <a:solidFill>
                            <a:srgbClr val="112A46"/>
                          </a:solidFill>
                          <a:latin typeface="Arial"/>
                          <a:ea typeface="Arial"/>
                          <a:cs typeface="Arial"/>
                        </a:rPr>
                        <a:t>Purpose and authority</a:t>
                      </a:r>
                    </a:p>
                  </a:txBody>
                  <a:tcPr anchor="ctr">
                    <a:solidFill>
                      <a:srgbClr val="FFFFFF"/>
                    </a:solidFill>
                  </a:tcPr>
                </a:tc>
                <a:tc>
                  <a:txBody>
                    <a:bodyPr/>
                    <a:lstStyle/>
                    <a:p>
                      <a:r>
                        <a:rPr sz="1725" b="0">
                          <a:solidFill>
                            <a:srgbClr val="112A46"/>
                          </a:solidFill>
                          <a:latin typeface="Arial"/>
                          <a:ea typeface="Arial"/>
                          <a:cs typeface="Arial"/>
                        </a:rPr>
                        <a:t>People set objectives, constraints and who may approve actions.</a:t>
                      </a:r>
                    </a:p>
                  </a:txBody>
                  <a:tcPr anchor="ctr">
                    <a:solidFill>
                      <a:srgbClr val="FFFFFF"/>
                    </a:solidFill>
                  </a:tcPr>
                </a:tc>
                <a:extLst>
                  <a:ext uri="{0D108BD9-81ED-4DB2-BD59-A6C34878D82A}">
                    <a16:rowId xmlns:a16="http://schemas.microsoft.com/office/drawing/2014/main" val="10001"/>
                  </a:ext>
                </a:extLst>
              </a:tr>
              <a:tr h="649605">
                <a:tc>
                  <a:txBody>
                    <a:bodyPr/>
                    <a:lstStyle/>
                    <a:p>
                      <a:r>
                        <a:rPr sz="1725" b="1">
                          <a:solidFill>
                            <a:srgbClr val="112A46"/>
                          </a:solidFill>
                          <a:latin typeface="Arial"/>
                          <a:ea typeface="Arial"/>
                          <a:cs typeface="Arial"/>
                        </a:rPr>
                        <a:t>Evidence access</a:t>
                      </a:r>
                    </a:p>
                  </a:txBody>
                  <a:tcPr anchor="ctr">
                    <a:solidFill>
                      <a:srgbClr val="F2F5F7"/>
                    </a:solidFill>
                  </a:tcPr>
                </a:tc>
                <a:tc>
                  <a:txBody>
                    <a:bodyPr/>
                    <a:lstStyle/>
                    <a:p>
                      <a:r>
                        <a:rPr sz="1725" b="0">
                          <a:solidFill>
                            <a:srgbClr val="112A46"/>
                          </a:solidFill>
                          <a:latin typeface="Arial"/>
                          <a:ea typeface="Arial"/>
                          <a:cs typeface="Arial"/>
                        </a:rPr>
                        <a:t>Respect source permissions and tenant boundaries. Retain provenance.</a:t>
                      </a:r>
                    </a:p>
                  </a:txBody>
                  <a:tcPr anchor="ctr">
                    <a:solidFill>
                      <a:srgbClr val="F2F5F7"/>
                    </a:solidFill>
                  </a:tcPr>
                </a:tc>
                <a:extLst>
                  <a:ext uri="{0D108BD9-81ED-4DB2-BD59-A6C34878D82A}">
                    <a16:rowId xmlns:a16="http://schemas.microsoft.com/office/drawing/2014/main" val="10002"/>
                  </a:ext>
                </a:extLst>
              </a:tr>
              <a:tr h="649605">
                <a:tc>
                  <a:txBody>
                    <a:bodyPr/>
                    <a:lstStyle/>
                    <a:p>
                      <a:r>
                        <a:rPr sz="1725" b="1">
                          <a:solidFill>
                            <a:srgbClr val="112A46"/>
                          </a:solidFill>
                          <a:latin typeface="Arial"/>
                          <a:ea typeface="Arial"/>
                          <a:cs typeface="Arial"/>
                        </a:rPr>
                        <a:t>Agent scope</a:t>
                      </a:r>
                    </a:p>
                  </a:txBody>
                  <a:tcPr anchor="ctr">
                    <a:solidFill>
                      <a:srgbClr val="FFFFFF"/>
                    </a:solidFill>
                  </a:tcPr>
                </a:tc>
                <a:tc>
                  <a:txBody>
                    <a:bodyPr/>
                    <a:lstStyle/>
                    <a:p>
                      <a:r>
                        <a:rPr sz="1725" b="0">
                          <a:solidFill>
                            <a:srgbClr val="112A46"/>
                          </a:solidFill>
                          <a:latin typeface="Arial"/>
                          <a:ea typeface="Arial"/>
                          <a:cs typeface="Arial"/>
                        </a:rPr>
                        <a:t>Limit tools, budget, duration and delegated subtasks. Log execution.</a:t>
                      </a:r>
                    </a:p>
                  </a:txBody>
                  <a:tcPr anchor="ctr">
                    <a:solidFill>
                      <a:srgbClr val="FFFFFF"/>
                    </a:solidFill>
                  </a:tcPr>
                </a:tc>
                <a:extLst>
                  <a:ext uri="{0D108BD9-81ED-4DB2-BD59-A6C34878D82A}">
                    <a16:rowId xmlns:a16="http://schemas.microsoft.com/office/drawing/2014/main" val="10003"/>
                  </a:ext>
                </a:extLst>
              </a:tr>
              <a:tr h="649605">
                <a:tc>
                  <a:txBody>
                    <a:bodyPr/>
                    <a:lstStyle/>
                    <a:p>
                      <a:r>
                        <a:rPr sz="1725" b="1">
                          <a:solidFill>
                            <a:srgbClr val="112A46"/>
                          </a:solidFill>
                          <a:latin typeface="Arial"/>
                          <a:ea typeface="Arial"/>
                          <a:cs typeface="Arial"/>
                        </a:rPr>
                        <a:t>Consequential changes</a:t>
                      </a:r>
                    </a:p>
                  </a:txBody>
                  <a:tcPr anchor="ctr">
                    <a:solidFill>
                      <a:srgbClr val="F2F5F7"/>
                    </a:solidFill>
                  </a:tcPr>
                </a:tc>
                <a:tc>
                  <a:txBody>
                    <a:bodyPr/>
                    <a:lstStyle/>
                    <a:p>
                      <a:r>
                        <a:rPr sz="1725" b="0">
                          <a:solidFill>
                            <a:srgbClr val="112A46"/>
                          </a:solidFill>
                          <a:latin typeface="Arial"/>
                          <a:ea typeface="Arial"/>
                          <a:cs typeface="Arial"/>
                        </a:rPr>
                        <a:t>Require approval for financial commitments or material operating changes.</a:t>
                      </a:r>
                    </a:p>
                  </a:txBody>
                  <a:tcPr anchor="ctr">
                    <a:solidFill>
                      <a:srgbClr val="F2F5F7"/>
                    </a:solidFill>
                  </a:tcPr>
                </a:tc>
                <a:extLst>
                  <a:ext uri="{0D108BD9-81ED-4DB2-BD59-A6C34878D82A}">
                    <a16:rowId xmlns:a16="http://schemas.microsoft.com/office/drawing/2014/main" val="10004"/>
                  </a:ext>
                </a:extLst>
              </a:tr>
              <a:tr h="649605">
                <a:tc>
                  <a:txBody>
                    <a:bodyPr/>
                    <a:lstStyle/>
                    <a:p>
                      <a:r>
                        <a:rPr sz="1725" b="1">
                          <a:solidFill>
                            <a:srgbClr val="112A46"/>
                          </a:solidFill>
                          <a:latin typeface="Arial"/>
                          <a:ea typeface="Arial"/>
                          <a:cs typeface="Arial"/>
                        </a:rPr>
                        <a:t>Learning and recovery</a:t>
                      </a:r>
                    </a:p>
                  </a:txBody>
                  <a:tcPr anchor="ctr">
                    <a:solidFill>
                      <a:srgbClr val="FFFFFF"/>
                    </a:solidFill>
                  </a:tcPr>
                </a:tc>
                <a:tc>
                  <a:txBody>
                    <a:bodyPr/>
                    <a:lstStyle/>
                    <a:p>
                      <a:r>
                        <a:rPr sz="1725" b="0">
                          <a:solidFill>
                            <a:srgbClr val="112A46"/>
                          </a:solidFill>
                          <a:latin typeface="Arial"/>
                          <a:ea typeface="Arial"/>
                          <a:cs typeface="Arial"/>
                        </a:rPr>
                        <a:t>Test updates before release. Keep stop controls and recovery procedures.</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8" name="Planned safeguards require implementation and independent testing">
            <a:extLst>
              <a:ext uri="{FF2B5EF4-FFF2-40B4-BE49-F238E27FC236}">
                <a16:creationId xmlns:a16="http://schemas.microsoft.com/office/drawing/2014/main" id="{9316D4AB-E0ED-470A-8D7E-0FA6D1ACF18C}"/>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Planned safeguards require implementation and independent testing. This is not a production security certification.</a:t>
            </a:r>
          </a:p>
        </p:txBody>
      </p:sp>
    </p:spTree>
    <p:extLst>
      <p:ext uri="{BB962C8B-B14F-4D97-AF65-F5344CB8AC3E}">
        <p14:creationId xmlns:p14="http://schemas.microsoft.com/office/powerpoint/2010/main" val="1404698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DC6F34-B837-4180-99CA-284F56A0ACD4}"/>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Customer economics depend on the verified gain">
            <a:extLst>
              <a:ext uri="{FF2B5EF4-FFF2-40B4-BE49-F238E27FC236}">
                <a16:creationId xmlns:a16="http://schemas.microsoft.com/office/drawing/2014/main" id="{17694977-020C-4B39-B9B6-5267F202A164}"/>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Customer economics depend on the verified gain</a:t>
            </a:r>
          </a:p>
        </p:txBody>
      </p:sp>
      <p:sp>
        <p:nvSpPr>
          <p:cNvPr id="3" name="Appendix: illustrative annual economics, not Glinx results. USD t">
            <a:extLst>
              <a:ext uri="{FF2B5EF4-FFF2-40B4-BE49-F238E27FC236}">
                <a16:creationId xmlns:a16="http://schemas.microsoft.com/office/drawing/2014/main" id="{8F2821EA-CCB4-4C1C-80DE-0ECE7CEE3B45}"/>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Appendix: illustrative annual economics, not Glinx results. USD thousands unless stated otherwise.</a:t>
            </a:r>
          </a:p>
        </p:txBody>
      </p:sp>
      <p:sp>
        <p:nvSpPr>
          <p:cNvPr id="4" name="Rectangle 3">
            <a:extLst>
              <a:ext uri="{FF2B5EF4-FFF2-40B4-BE49-F238E27FC236}">
                <a16:creationId xmlns:a16="http://schemas.microsoft.com/office/drawing/2014/main" id="{54A38D87-721B-4218-A875-D6A81C323D2B}"/>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ED52A07A-9DB7-4CFF-A58B-F1D93C481FBC}"/>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23">
            <a:extLst>
              <a:ext uri="{FF2B5EF4-FFF2-40B4-BE49-F238E27FC236}">
                <a16:creationId xmlns:a16="http://schemas.microsoft.com/office/drawing/2014/main" id="{021A537E-DE3F-4A36-B940-2D324FAB08C5}"/>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23</a:t>
            </a:r>
          </a:p>
        </p:txBody>
      </p:sp>
      <p:graphicFrame>
        <p:nvGraphicFramePr>
          <p:cNvPr id="15" name="Table 14"/>
          <p:cNvGraphicFramePr/>
          <p:nvPr/>
        </p:nvGraphicFramePr>
        <p:xfrm>
          <a:off x="609600" y="2209800"/>
          <a:ext cx="10972800" cy="3533775"/>
        </p:xfrm>
        <a:graphic>
          <a:graphicData uri="http://schemas.openxmlformats.org/drawingml/2006/table">
            <a:tbl>
              <a:tblPr/>
              <a:tblGrid>
                <a:gridCol w="449580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215265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95300">
                <a:tc>
                  <a:txBody>
                    <a:bodyPr/>
                    <a:lstStyle/>
                    <a:p>
                      <a:r>
                        <a:rPr sz="1500" b="1">
                          <a:solidFill>
                            <a:srgbClr val="FFFFFF"/>
                          </a:solidFill>
                          <a:latin typeface="Arial"/>
                          <a:ea typeface="Arial"/>
                          <a:cs typeface="Arial"/>
                        </a:rPr>
                        <a:t>Assumption / result</a:t>
                      </a:r>
                    </a:p>
                  </a:txBody>
                  <a:tcPr anchor="ctr">
                    <a:solidFill>
                      <a:srgbClr val="112A46"/>
                    </a:solidFill>
                  </a:tcPr>
                </a:tc>
                <a:tc>
                  <a:txBody>
                    <a:bodyPr/>
                    <a:lstStyle/>
                    <a:p>
                      <a:r>
                        <a:rPr sz="1500" b="1">
                          <a:solidFill>
                            <a:srgbClr val="FFFFFF"/>
                          </a:solidFill>
                          <a:latin typeface="Arial"/>
                          <a:ea typeface="Arial"/>
                          <a:cs typeface="Arial"/>
                        </a:rPr>
                        <a:t>Low case</a:t>
                      </a:r>
                    </a:p>
                  </a:txBody>
                  <a:tcPr anchor="ctr">
                    <a:solidFill>
                      <a:srgbClr val="112A46"/>
                    </a:solidFill>
                  </a:tcPr>
                </a:tc>
                <a:tc>
                  <a:txBody>
                    <a:bodyPr/>
                    <a:lstStyle/>
                    <a:p>
                      <a:r>
                        <a:rPr sz="1500" b="1">
                          <a:solidFill>
                            <a:srgbClr val="FFFFFF"/>
                          </a:solidFill>
                          <a:latin typeface="Arial"/>
                          <a:ea typeface="Arial"/>
                          <a:cs typeface="Arial"/>
                        </a:rPr>
                        <a:t>Middle case</a:t>
                      </a:r>
                    </a:p>
                  </a:txBody>
                  <a:tcPr anchor="ctr">
                    <a:solidFill>
                      <a:srgbClr val="112A46"/>
                    </a:solidFill>
                  </a:tcPr>
                </a:tc>
                <a:tc>
                  <a:txBody>
                    <a:bodyPr/>
                    <a:lstStyle/>
                    <a:p>
                      <a:r>
                        <a:rPr sz="1500" b="1">
                          <a:solidFill>
                            <a:srgbClr val="FFFFFF"/>
                          </a:solidFill>
                          <a:latin typeface="Arial"/>
                          <a:ea typeface="Arial"/>
                          <a:cs typeface="Arial"/>
                        </a:rPr>
                        <a:t>High case</a:t>
                      </a:r>
                    </a:p>
                  </a:txBody>
                  <a:tcPr anchor="ctr">
                    <a:solidFill>
                      <a:srgbClr val="112A46"/>
                    </a:solidFill>
                  </a:tcPr>
                </a:tc>
                <a:extLst>
                  <a:ext uri="{0D108BD9-81ED-4DB2-BD59-A6C34878D82A}">
                    <a16:rowId xmlns:a16="http://schemas.microsoft.com/office/drawing/2014/main" val="10000"/>
                  </a:ext>
                </a:extLst>
              </a:tr>
              <a:tr h="607695">
                <a:tc>
                  <a:txBody>
                    <a:bodyPr/>
                    <a:lstStyle/>
                    <a:p>
                      <a:r>
                        <a:rPr sz="1800" b="1">
                          <a:solidFill>
                            <a:srgbClr val="112A46"/>
                          </a:solidFill>
                          <a:latin typeface="Arial"/>
                          <a:ea typeface="Arial"/>
                          <a:cs typeface="Arial"/>
                        </a:rPr>
                        <a:t>Cost base in scope</a:t>
                      </a:r>
                    </a:p>
                  </a:txBody>
                  <a:tcPr anchor="ctr">
                    <a:solidFill>
                      <a:srgbClr val="FFFFFF"/>
                    </a:solidFill>
                  </a:tcPr>
                </a:tc>
                <a:tc>
                  <a:txBody>
                    <a:bodyPr/>
                    <a:lstStyle/>
                    <a:p>
                      <a:r>
                        <a:rPr sz="1800" b="0">
                          <a:solidFill>
                            <a:srgbClr val="112A46"/>
                          </a:solidFill>
                          <a:latin typeface="Arial"/>
                          <a:ea typeface="Arial"/>
                          <a:cs typeface="Arial"/>
                        </a:rPr>
                        <a:t>$3,000</a:t>
                      </a:r>
                    </a:p>
                  </a:txBody>
                  <a:tcPr anchor="ctr">
                    <a:solidFill>
                      <a:srgbClr val="FFFFFF"/>
                    </a:solidFill>
                  </a:tcPr>
                </a:tc>
                <a:tc>
                  <a:txBody>
                    <a:bodyPr/>
                    <a:lstStyle/>
                    <a:p>
                      <a:r>
                        <a:rPr sz="1800" b="0">
                          <a:solidFill>
                            <a:srgbClr val="112A46"/>
                          </a:solidFill>
                          <a:latin typeface="Arial"/>
                          <a:ea typeface="Arial"/>
                          <a:cs typeface="Arial"/>
                        </a:rPr>
                        <a:t>$3,000</a:t>
                      </a:r>
                    </a:p>
                  </a:txBody>
                  <a:tcPr anchor="ctr">
                    <a:solidFill>
                      <a:srgbClr val="FFFFFF"/>
                    </a:solidFill>
                  </a:tcPr>
                </a:tc>
                <a:tc>
                  <a:txBody>
                    <a:bodyPr/>
                    <a:lstStyle/>
                    <a:p>
                      <a:r>
                        <a:rPr sz="1800" b="0">
                          <a:solidFill>
                            <a:srgbClr val="112A46"/>
                          </a:solidFill>
                          <a:latin typeface="Arial"/>
                          <a:ea typeface="Arial"/>
                          <a:cs typeface="Arial"/>
                        </a:rPr>
                        <a:t>$3,000</a:t>
                      </a:r>
                    </a:p>
                  </a:txBody>
                  <a:tcPr anchor="ctr">
                    <a:solidFill>
                      <a:srgbClr val="FFFFFF"/>
                    </a:solidFill>
                  </a:tcPr>
                </a:tc>
                <a:extLst>
                  <a:ext uri="{0D108BD9-81ED-4DB2-BD59-A6C34878D82A}">
                    <a16:rowId xmlns:a16="http://schemas.microsoft.com/office/drawing/2014/main" val="10001"/>
                  </a:ext>
                </a:extLst>
              </a:tr>
              <a:tr h="607695">
                <a:tc>
                  <a:txBody>
                    <a:bodyPr/>
                    <a:lstStyle/>
                    <a:p>
                      <a:r>
                        <a:rPr sz="1800" b="1">
                          <a:solidFill>
                            <a:srgbClr val="112A46"/>
                          </a:solidFill>
                          <a:latin typeface="Arial"/>
                          <a:ea typeface="Arial"/>
                          <a:cs typeface="Arial"/>
                        </a:rPr>
                        <a:t>Assumed cost reduction</a:t>
                      </a:r>
                    </a:p>
                  </a:txBody>
                  <a:tcPr anchor="ctr">
                    <a:solidFill>
                      <a:srgbClr val="F2F5F7"/>
                    </a:solidFill>
                  </a:tcPr>
                </a:tc>
                <a:tc>
                  <a:txBody>
                    <a:bodyPr/>
                    <a:lstStyle/>
                    <a:p>
                      <a:r>
                        <a:rPr sz="1800" b="0">
                          <a:solidFill>
                            <a:srgbClr val="112A46"/>
                          </a:solidFill>
                          <a:latin typeface="Arial"/>
                          <a:ea typeface="Arial"/>
                          <a:cs typeface="Arial"/>
                        </a:rPr>
                        <a:t>2%</a:t>
                      </a:r>
                    </a:p>
                  </a:txBody>
                  <a:tcPr anchor="ctr">
                    <a:solidFill>
                      <a:srgbClr val="F2F5F7"/>
                    </a:solidFill>
                  </a:tcPr>
                </a:tc>
                <a:tc>
                  <a:txBody>
                    <a:bodyPr/>
                    <a:lstStyle/>
                    <a:p>
                      <a:r>
                        <a:rPr sz="1800" b="0">
                          <a:solidFill>
                            <a:srgbClr val="112A46"/>
                          </a:solidFill>
                          <a:latin typeface="Arial"/>
                          <a:ea typeface="Arial"/>
                          <a:cs typeface="Arial"/>
                        </a:rPr>
                        <a:t>5%</a:t>
                      </a:r>
                    </a:p>
                  </a:txBody>
                  <a:tcPr anchor="ctr">
                    <a:solidFill>
                      <a:srgbClr val="F2F5F7"/>
                    </a:solidFill>
                  </a:tcPr>
                </a:tc>
                <a:tc>
                  <a:txBody>
                    <a:bodyPr/>
                    <a:lstStyle/>
                    <a:p>
                      <a:r>
                        <a:rPr sz="1800" b="0">
                          <a:solidFill>
                            <a:srgbClr val="112A46"/>
                          </a:solidFill>
                          <a:latin typeface="Arial"/>
                          <a:ea typeface="Arial"/>
                          <a:cs typeface="Arial"/>
                        </a:rPr>
                        <a:t>8%</a:t>
                      </a:r>
                    </a:p>
                  </a:txBody>
                  <a:tcPr anchor="ctr">
                    <a:solidFill>
                      <a:srgbClr val="F2F5F7"/>
                    </a:solidFill>
                  </a:tcPr>
                </a:tc>
                <a:extLst>
                  <a:ext uri="{0D108BD9-81ED-4DB2-BD59-A6C34878D82A}">
                    <a16:rowId xmlns:a16="http://schemas.microsoft.com/office/drawing/2014/main" val="10002"/>
                  </a:ext>
                </a:extLst>
              </a:tr>
              <a:tr h="607695">
                <a:tc>
                  <a:txBody>
                    <a:bodyPr/>
                    <a:lstStyle/>
                    <a:p>
                      <a:r>
                        <a:rPr sz="1800" b="1">
                          <a:solidFill>
                            <a:srgbClr val="112A46"/>
                          </a:solidFill>
                          <a:latin typeface="Arial"/>
                          <a:ea typeface="Arial"/>
                          <a:cs typeface="Arial"/>
                        </a:rPr>
                        <a:t>Gross annual benefit</a:t>
                      </a:r>
                    </a:p>
                  </a:txBody>
                  <a:tcPr anchor="ctr">
                    <a:solidFill>
                      <a:srgbClr val="FFFFFF"/>
                    </a:solidFill>
                  </a:tcPr>
                </a:tc>
                <a:tc>
                  <a:txBody>
                    <a:bodyPr/>
                    <a:lstStyle/>
                    <a:p>
                      <a:r>
                        <a:rPr sz="1800" b="0">
                          <a:solidFill>
                            <a:srgbClr val="112A46"/>
                          </a:solidFill>
                          <a:latin typeface="Arial"/>
                          <a:ea typeface="Arial"/>
                          <a:cs typeface="Arial"/>
                        </a:rPr>
                        <a:t>$60</a:t>
                      </a:r>
                    </a:p>
                  </a:txBody>
                  <a:tcPr anchor="ctr">
                    <a:solidFill>
                      <a:srgbClr val="FFFFFF"/>
                    </a:solidFill>
                  </a:tcPr>
                </a:tc>
                <a:tc>
                  <a:txBody>
                    <a:bodyPr/>
                    <a:lstStyle/>
                    <a:p>
                      <a:r>
                        <a:rPr sz="1800" b="0">
                          <a:solidFill>
                            <a:srgbClr val="112A46"/>
                          </a:solidFill>
                          <a:latin typeface="Arial"/>
                          <a:ea typeface="Arial"/>
                          <a:cs typeface="Arial"/>
                        </a:rPr>
                        <a:t>$150</a:t>
                      </a:r>
                    </a:p>
                  </a:txBody>
                  <a:tcPr anchor="ctr">
                    <a:solidFill>
                      <a:srgbClr val="FFFFFF"/>
                    </a:solidFill>
                  </a:tcPr>
                </a:tc>
                <a:tc>
                  <a:txBody>
                    <a:bodyPr/>
                    <a:lstStyle/>
                    <a:p>
                      <a:r>
                        <a:rPr sz="1800" b="0">
                          <a:solidFill>
                            <a:srgbClr val="112A46"/>
                          </a:solidFill>
                          <a:latin typeface="Arial"/>
                          <a:ea typeface="Arial"/>
                          <a:cs typeface="Arial"/>
                        </a:rPr>
                        <a:t>$240</a:t>
                      </a:r>
                    </a:p>
                  </a:txBody>
                  <a:tcPr anchor="ctr">
                    <a:solidFill>
                      <a:srgbClr val="FFFFFF"/>
                    </a:solidFill>
                  </a:tcPr>
                </a:tc>
                <a:extLst>
                  <a:ext uri="{0D108BD9-81ED-4DB2-BD59-A6C34878D82A}">
                    <a16:rowId xmlns:a16="http://schemas.microsoft.com/office/drawing/2014/main" val="10003"/>
                  </a:ext>
                </a:extLst>
              </a:tr>
              <a:tr h="607695">
                <a:tc>
                  <a:txBody>
                    <a:bodyPr/>
                    <a:lstStyle/>
                    <a:p>
                      <a:r>
                        <a:rPr sz="1800" b="1">
                          <a:solidFill>
                            <a:srgbClr val="112A46"/>
                          </a:solidFill>
                          <a:latin typeface="Arial"/>
                          <a:ea typeface="Arial"/>
                          <a:cs typeface="Arial"/>
                        </a:rPr>
                        <a:t>Year-one software + setup</a:t>
                      </a:r>
                    </a:p>
                  </a:txBody>
                  <a:tcPr anchor="ctr">
                    <a:solidFill>
                      <a:srgbClr val="F2F5F7"/>
                    </a:solidFill>
                  </a:tcPr>
                </a:tc>
                <a:tc>
                  <a:txBody>
                    <a:bodyPr/>
                    <a:lstStyle/>
                    <a:p>
                      <a:r>
                        <a:rPr sz="1800" b="0">
                          <a:solidFill>
                            <a:srgbClr val="112A46"/>
                          </a:solidFill>
                          <a:latin typeface="Arial"/>
                          <a:ea typeface="Arial"/>
                          <a:cs typeface="Arial"/>
                        </a:rPr>
                        <a:t>$90</a:t>
                      </a:r>
                    </a:p>
                  </a:txBody>
                  <a:tcPr anchor="ctr">
                    <a:solidFill>
                      <a:srgbClr val="F2F5F7"/>
                    </a:solidFill>
                  </a:tcPr>
                </a:tc>
                <a:tc>
                  <a:txBody>
                    <a:bodyPr/>
                    <a:lstStyle/>
                    <a:p>
                      <a:r>
                        <a:rPr sz="1800" b="0">
                          <a:solidFill>
                            <a:srgbClr val="112A46"/>
                          </a:solidFill>
                          <a:latin typeface="Arial"/>
                          <a:ea typeface="Arial"/>
                          <a:cs typeface="Arial"/>
                        </a:rPr>
                        <a:t>$90</a:t>
                      </a:r>
                    </a:p>
                  </a:txBody>
                  <a:tcPr anchor="ctr">
                    <a:solidFill>
                      <a:srgbClr val="F2F5F7"/>
                    </a:solidFill>
                  </a:tcPr>
                </a:tc>
                <a:tc>
                  <a:txBody>
                    <a:bodyPr/>
                    <a:lstStyle/>
                    <a:p>
                      <a:r>
                        <a:rPr sz="1800" b="0">
                          <a:solidFill>
                            <a:srgbClr val="112A46"/>
                          </a:solidFill>
                          <a:latin typeface="Arial"/>
                          <a:ea typeface="Arial"/>
                          <a:cs typeface="Arial"/>
                        </a:rPr>
                        <a:t>$90</a:t>
                      </a:r>
                    </a:p>
                  </a:txBody>
                  <a:tcPr anchor="ctr">
                    <a:solidFill>
                      <a:srgbClr val="F2F5F7"/>
                    </a:solidFill>
                  </a:tcPr>
                </a:tc>
                <a:extLst>
                  <a:ext uri="{0D108BD9-81ED-4DB2-BD59-A6C34878D82A}">
                    <a16:rowId xmlns:a16="http://schemas.microsoft.com/office/drawing/2014/main" val="10004"/>
                  </a:ext>
                </a:extLst>
              </a:tr>
              <a:tr h="607695">
                <a:tc>
                  <a:txBody>
                    <a:bodyPr/>
                    <a:lstStyle/>
                    <a:p>
                      <a:r>
                        <a:rPr sz="1800" b="1">
                          <a:solidFill>
                            <a:srgbClr val="112A46"/>
                          </a:solidFill>
                          <a:latin typeface="Arial"/>
                          <a:ea typeface="Arial"/>
                          <a:cs typeface="Arial"/>
                        </a:rPr>
                        <a:t>Year-one net benefit</a:t>
                      </a:r>
                    </a:p>
                  </a:txBody>
                  <a:tcPr anchor="ctr">
                    <a:solidFill>
                      <a:srgbClr val="FFFFFF"/>
                    </a:solidFill>
                  </a:tcPr>
                </a:tc>
                <a:tc>
                  <a:txBody>
                    <a:bodyPr/>
                    <a:lstStyle/>
                    <a:p>
                      <a:r>
                        <a:rPr sz="1800" b="0">
                          <a:solidFill>
                            <a:srgbClr val="112A46"/>
                          </a:solidFill>
                          <a:latin typeface="Arial"/>
                          <a:ea typeface="Arial"/>
                          <a:cs typeface="Arial"/>
                        </a:rPr>
                        <a:t>−$30</a:t>
                      </a:r>
                    </a:p>
                  </a:txBody>
                  <a:tcPr anchor="ctr">
                    <a:solidFill>
                      <a:srgbClr val="FFFFFF"/>
                    </a:solidFill>
                  </a:tcPr>
                </a:tc>
                <a:tc>
                  <a:txBody>
                    <a:bodyPr/>
                    <a:lstStyle/>
                    <a:p>
                      <a:r>
                        <a:rPr sz="1800" b="0">
                          <a:solidFill>
                            <a:srgbClr val="112A46"/>
                          </a:solidFill>
                          <a:latin typeface="Arial"/>
                          <a:ea typeface="Arial"/>
                          <a:cs typeface="Arial"/>
                        </a:rPr>
                        <a:t>$60</a:t>
                      </a:r>
                    </a:p>
                  </a:txBody>
                  <a:tcPr anchor="ctr">
                    <a:solidFill>
                      <a:srgbClr val="FFFFFF"/>
                    </a:solidFill>
                  </a:tcPr>
                </a:tc>
                <a:tc>
                  <a:txBody>
                    <a:bodyPr/>
                    <a:lstStyle/>
                    <a:p>
                      <a:r>
                        <a:rPr sz="1800" b="0">
                          <a:solidFill>
                            <a:srgbClr val="112A46"/>
                          </a:solidFill>
                          <a:latin typeface="Arial"/>
                          <a:ea typeface="Arial"/>
                          <a:cs typeface="Arial"/>
                        </a:rPr>
                        <a:t>$150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8" name="Assumes $60k annual software plus $30k setup. Benefit is recurrin">
            <a:extLst>
              <a:ext uri="{FF2B5EF4-FFF2-40B4-BE49-F238E27FC236}">
                <a16:creationId xmlns:a16="http://schemas.microsoft.com/office/drawing/2014/main" id="{EA9890D8-00B0-455E-95A9-3FE59441CBB3}"/>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Assumes $60k annual software plus $30k setup. Benefit is recurring cost avoided. Attribution and pricing require validation.</a:t>
            </a:r>
          </a:p>
        </p:txBody>
      </p:sp>
    </p:spTree>
    <p:extLst>
      <p:ext uri="{BB962C8B-B14F-4D97-AF65-F5344CB8AC3E}">
        <p14:creationId xmlns:p14="http://schemas.microsoft.com/office/powerpoint/2010/main" val="1437877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5C44EF-1422-4393-8774-FE748CDEB248}"/>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The investment case has clear risks to test">
            <a:extLst>
              <a:ext uri="{FF2B5EF4-FFF2-40B4-BE49-F238E27FC236}">
                <a16:creationId xmlns:a16="http://schemas.microsoft.com/office/drawing/2014/main" id="{789EE0EC-3849-462E-9CB5-DE145BA4AD36}"/>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The investment case has clear risks to test</a:t>
            </a:r>
          </a:p>
        </p:txBody>
      </p:sp>
      <p:sp>
        <p:nvSpPr>
          <p:cNvPr id="3" name="Appendix: success requires useful outcomes and repeatable deliver">
            <a:extLst>
              <a:ext uri="{FF2B5EF4-FFF2-40B4-BE49-F238E27FC236}">
                <a16:creationId xmlns:a16="http://schemas.microsoft.com/office/drawing/2014/main" id="{1ADB4AC7-A70D-4396-BBD9-A98884AEB13D}"/>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Appendix: success requires useful outcomes and repeatable delivery, not only working AI.</a:t>
            </a:r>
          </a:p>
        </p:txBody>
      </p:sp>
      <p:sp>
        <p:nvSpPr>
          <p:cNvPr id="4" name="Rectangle 3">
            <a:extLst>
              <a:ext uri="{FF2B5EF4-FFF2-40B4-BE49-F238E27FC236}">
                <a16:creationId xmlns:a16="http://schemas.microsoft.com/office/drawing/2014/main" id="{94411B2C-A250-4D36-9B35-12E320B5FACE}"/>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CCD6D62E-27B8-4058-80BD-FE8490B3C324}"/>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24">
            <a:extLst>
              <a:ext uri="{FF2B5EF4-FFF2-40B4-BE49-F238E27FC236}">
                <a16:creationId xmlns:a16="http://schemas.microsoft.com/office/drawing/2014/main" id="{5781AE46-23E6-4E05-A5E1-EE85C4533E2A}"/>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24</a:t>
            </a:r>
          </a:p>
        </p:txBody>
      </p:sp>
      <p:graphicFrame>
        <p:nvGraphicFramePr>
          <p:cNvPr id="14" name="Table 13"/>
          <p:cNvGraphicFramePr/>
          <p:nvPr/>
        </p:nvGraphicFramePr>
        <p:xfrm>
          <a:off x="609600" y="2190750"/>
          <a:ext cx="10972800" cy="3848100"/>
        </p:xfrm>
        <a:graphic>
          <a:graphicData uri="http://schemas.openxmlformats.org/drawingml/2006/table">
            <a:tbl>
              <a:tblPr/>
              <a:tblGrid>
                <a:gridCol w="2343150">
                  <a:extLst>
                    <a:ext uri="{9D8B030D-6E8A-4147-A177-3AD203B41FA5}">
                      <a16:colId xmlns:a16="http://schemas.microsoft.com/office/drawing/2014/main" val="20000"/>
                    </a:ext>
                  </a:extLst>
                </a:gridCol>
                <a:gridCol w="4714875">
                  <a:extLst>
                    <a:ext uri="{9D8B030D-6E8A-4147-A177-3AD203B41FA5}">
                      <a16:colId xmlns:a16="http://schemas.microsoft.com/office/drawing/2014/main" val="20001"/>
                    </a:ext>
                  </a:extLst>
                </a:gridCol>
                <a:gridCol w="3914775">
                  <a:extLst>
                    <a:ext uri="{9D8B030D-6E8A-4147-A177-3AD203B41FA5}">
                      <a16:colId xmlns:a16="http://schemas.microsoft.com/office/drawing/2014/main" val="20002"/>
                    </a:ext>
                  </a:extLst>
                </a:gridCol>
              </a:tblGrid>
              <a:tr h="495300">
                <a:tc>
                  <a:txBody>
                    <a:bodyPr/>
                    <a:lstStyle/>
                    <a:p>
                      <a:r>
                        <a:rPr sz="1500" b="1">
                          <a:solidFill>
                            <a:srgbClr val="FFFFFF"/>
                          </a:solidFill>
                          <a:latin typeface="Arial"/>
                          <a:ea typeface="Arial"/>
                          <a:cs typeface="Arial"/>
                        </a:rPr>
                        <a:t>Risk</a:t>
                      </a:r>
                    </a:p>
                  </a:txBody>
                  <a:tcPr anchor="ctr">
                    <a:solidFill>
                      <a:srgbClr val="112A46"/>
                    </a:solidFill>
                  </a:tcPr>
                </a:tc>
                <a:tc>
                  <a:txBody>
                    <a:bodyPr/>
                    <a:lstStyle/>
                    <a:p>
                      <a:r>
                        <a:rPr sz="1500" b="1">
                          <a:solidFill>
                            <a:srgbClr val="FFFFFF"/>
                          </a:solidFill>
                          <a:latin typeface="Arial"/>
                          <a:ea typeface="Arial"/>
                          <a:cs typeface="Arial"/>
                        </a:rPr>
                        <a:t>What would challenge the thesis</a:t>
                      </a:r>
                    </a:p>
                  </a:txBody>
                  <a:tcPr anchor="ctr">
                    <a:solidFill>
                      <a:srgbClr val="112A46"/>
                    </a:solidFill>
                  </a:tcPr>
                </a:tc>
                <a:tc>
                  <a:txBody>
                    <a:bodyPr/>
                    <a:lstStyle/>
                    <a:p>
                      <a:r>
                        <a:rPr sz="1500" b="1">
                          <a:solidFill>
                            <a:srgbClr val="FFFFFF"/>
                          </a:solidFill>
                          <a:latin typeface="Arial"/>
                          <a:ea typeface="Arial"/>
                          <a:cs typeface="Arial"/>
                        </a:rPr>
                        <a:t>Evidence needed</a:t>
                      </a:r>
                    </a:p>
                  </a:txBody>
                  <a:tcPr anchor="ctr">
                    <a:solidFill>
                      <a:srgbClr val="112A46"/>
                    </a:solidFill>
                  </a:tcPr>
                </a:tc>
                <a:extLst>
                  <a:ext uri="{0D108BD9-81ED-4DB2-BD59-A6C34878D82A}">
                    <a16:rowId xmlns:a16="http://schemas.microsoft.com/office/drawing/2014/main" val="10000"/>
                  </a:ext>
                </a:extLst>
              </a:tr>
              <a:tr h="670560">
                <a:tc>
                  <a:txBody>
                    <a:bodyPr/>
                    <a:lstStyle/>
                    <a:p>
                      <a:r>
                        <a:rPr sz="1650" b="1">
                          <a:solidFill>
                            <a:srgbClr val="112A46"/>
                          </a:solidFill>
                          <a:latin typeface="Arial"/>
                          <a:ea typeface="Arial"/>
                          <a:cs typeface="Arial"/>
                        </a:rPr>
                        <a:t>Integration effort</a:t>
                      </a:r>
                    </a:p>
                  </a:txBody>
                  <a:tcPr anchor="ctr">
                    <a:solidFill>
                      <a:srgbClr val="FFFFFF"/>
                    </a:solidFill>
                  </a:tcPr>
                </a:tc>
                <a:tc>
                  <a:txBody>
                    <a:bodyPr/>
                    <a:lstStyle/>
                    <a:p>
                      <a:r>
                        <a:rPr sz="1650" b="0">
                          <a:solidFill>
                            <a:srgbClr val="112A46"/>
                          </a:solidFill>
                          <a:latin typeface="Arial"/>
                          <a:ea typeface="Arial"/>
                          <a:cs typeface="Arial"/>
                        </a:rPr>
                        <a:t>Each customer requires extensive bespoke work</a:t>
                      </a:r>
                    </a:p>
                  </a:txBody>
                  <a:tcPr anchor="ctr">
                    <a:solidFill>
                      <a:srgbClr val="FFFFFF"/>
                    </a:solidFill>
                  </a:tcPr>
                </a:tc>
                <a:tc>
                  <a:txBody>
                    <a:bodyPr/>
                    <a:lstStyle/>
                    <a:p>
                      <a:r>
                        <a:rPr sz="1650" b="0">
                          <a:solidFill>
                            <a:srgbClr val="112A46"/>
                          </a:solidFill>
                          <a:latin typeface="Arial"/>
                          <a:ea typeface="Arial"/>
                          <a:cs typeface="Arial"/>
                        </a:rPr>
                        <a:t>Setup hours fall on similar deployments</a:t>
                      </a:r>
                    </a:p>
                  </a:txBody>
                  <a:tcPr anchor="ctr">
                    <a:solidFill>
                      <a:srgbClr val="FFFFFF"/>
                    </a:solidFill>
                  </a:tcPr>
                </a:tc>
                <a:extLst>
                  <a:ext uri="{0D108BD9-81ED-4DB2-BD59-A6C34878D82A}">
                    <a16:rowId xmlns:a16="http://schemas.microsoft.com/office/drawing/2014/main" val="10001"/>
                  </a:ext>
                </a:extLst>
              </a:tr>
              <a:tr h="670560">
                <a:tc>
                  <a:txBody>
                    <a:bodyPr/>
                    <a:lstStyle/>
                    <a:p>
                      <a:r>
                        <a:rPr sz="1650" b="1">
                          <a:solidFill>
                            <a:srgbClr val="112A46"/>
                          </a:solidFill>
                          <a:latin typeface="Arial"/>
                          <a:ea typeface="Arial"/>
                          <a:cs typeface="Arial"/>
                        </a:rPr>
                        <a:t>Unreliable context</a:t>
                      </a:r>
                    </a:p>
                  </a:txBody>
                  <a:tcPr anchor="ctr">
                    <a:solidFill>
                      <a:srgbClr val="F2F5F7"/>
                    </a:solidFill>
                  </a:tcPr>
                </a:tc>
                <a:tc>
                  <a:txBody>
                    <a:bodyPr/>
                    <a:lstStyle/>
                    <a:p>
                      <a:r>
                        <a:rPr sz="1650" b="0">
                          <a:solidFill>
                            <a:srgbClr val="112A46"/>
                          </a:solidFill>
                          <a:latin typeface="Arial"/>
                          <a:ea typeface="Arial"/>
                          <a:cs typeface="Arial"/>
                        </a:rPr>
                        <a:t>Wrong identities or stale evidence distort answers</a:t>
                      </a:r>
                    </a:p>
                  </a:txBody>
                  <a:tcPr anchor="ctr">
                    <a:solidFill>
                      <a:srgbClr val="F2F5F7"/>
                    </a:solidFill>
                  </a:tcPr>
                </a:tc>
                <a:tc>
                  <a:txBody>
                    <a:bodyPr/>
                    <a:lstStyle/>
                    <a:p>
                      <a:r>
                        <a:rPr sz="1650" b="0">
                          <a:solidFill>
                            <a:srgbClr val="112A46"/>
                          </a:solidFill>
                          <a:latin typeface="Arial"/>
                          <a:ea typeface="Arial"/>
                          <a:cs typeface="Arial"/>
                        </a:rPr>
                        <a:t>Owners verify records and explanations</a:t>
                      </a:r>
                    </a:p>
                  </a:txBody>
                  <a:tcPr anchor="ctr">
                    <a:solidFill>
                      <a:srgbClr val="F2F5F7"/>
                    </a:solidFill>
                  </a:tcPr>
                </a:tc>
                <a:extLst>
                  <a:ext uri="{0D108BD9-81ED-4DB2-BD59-A6C34878D82A}">
                    <a16:rowId xmlns:a16="http://schemas.microsoft.com/office/drawing/2014/main" val="10002"/>
                  </a:ext>
                </a:extLst>
              </a:tr>
              <a:tr h="670560">
                <a:tc>
                  <a:txBody>
                    <a:bodyPr/>
                    <a:lstStyle/>
                    <a:p>
                      <a:r>
                        <a:rPr sz="1650" b="1">
                          <a:solidFill>
                            <a:srgbClr val="112A46"/>
                          </a:solidFill>
                          <a:latin typeface="Arial"/>
                          <a:ea typeface="Arial"/>
                          <a:cs typeface="Arial"/>
                        </a:rPr>
                        <a:t>False improvement</a:t>
                      </a:r>
                    </a:p>
                  </a:txBody>
                  <a:tcPr anchor="ctr">
                    <a:solidFill>
                      <a:srgbClr val="FFFFFF"/>
                    </a:solidFill>
                  </a:tcPr>
                </a:tc>
                <a:tc>
                  <a:txBody>
                    <a:bodyPr/>
                    <a:lstStyle/>
                    <a:p>
                      <a:r>
                        <a:rPr sz="1650" b="0">
                          <a:solidFill>
                            <a:srgbClr val="112A46"/>
                          </a:solidFill>
                          <a:latin typeface="Arial"/>
                          <a:ea typeface="Arial"/>
                          <a:cs typeface="Arial"/>
                        </a:rPr>
                        <a:t>A metric improves while cost or risk worsens</a:t>
                      </a:r>
                    </a:p>
                  </a:txBody>
                  <a:tcPr anchor="ctr">
                    <a:solidFill>
                      <a:srgbClr val="FFFFFF"/>
                    </a:solidFill>
                  </a:tcPr>
                </a:tc>
                <a:tc>
                  <a:txBody>
                    <a:bodyPr/>
                    <a:lstStyle/>
                    <a:p>
                      <a:r>
                        <a:rPr sz="1650" b="0">
                          <a:solidFill>
                            <a:srgbClr val="112A46"/>
                          </a:solidFill>
                          <a:latin typeface="Arial"/>
                          <a:ea typeface="Arial"/>
                          <a:cs typeface="Arial"/>
                        </a:rPr>
                        <a:t>Baseline and counter-metrics hold up</a:t>
                      </a:r>
                    </a:p>
                  </a:txBody>
                  <a:tcPr anchor="ctr">
                    <a:solidFill>
                      <a:srgbClr val="FFFFFF"/>
                    </a:solidFill>
                  </a:tcPr>
                </a:tc>
                <a:extLst>
                  <a:ext uri="{0D108BD9-81ED-4DB2-BD59-A6C34878D82A}">
                    <a16:rowId xmlns:a16="http://schemas.microsoft.com/office/drawing/2014/main" val="10003"/>
                  </a:ext>
                </a:extLst>
              </a:tr>
              <a:tr h="670560">
                <a:tc>
                  <a:txBody>
                    <a:bodyPr/>
                    <a:lstStyle/>
                    <a:p>
                      <a:r>
                        <a:rPr sz="1650" b="1">
                          <a:solidFill>
                            <a:srgbClr val="112A46"/>
                          </a:solidFill>
                          <a:latin typeface="Arial"/>
                          <a:ea typeface="Arial"/>
                          <a:cs typeface="Arial"/>
                        </a:rPr>
                        <a:t>Weak economics</a:t>
                      </a:r>
                    </a:p>
                  </a:txBody>
                  <a:tcPr anchor="ctr">
                    <a:solidFill>
                      <a:srgbClr val="F2F5F7"/>
                    </a:solidFill>
                  </a:tcPr>
                </a:tc>
                <a:tc>
                  <a:txBody>
                    <a:bodyPr/>
                    <a:lstStyle/>
                    <a:p>
                      <a:r>
                        <a:rPr sz="1650" b="0">
                          <a:solidFill>
                            <a:srgbClr val="112A46"/>
                          </a:solidFill>
                          <a:latin typeface="Arial"/>
                          <a:ea typeface="Arial"/>
                          <a:cs typeface="Arial"/>
                        </a:rPr>
                        <a:t>Useful output does not justify the full cost</a:t>
                      </a:r>
                    </a:p>
                  </a:txBody>
                  <a:tcPr anchor="ctr">
                    <a:solidFill>
                      <a:srgbClr val="F2F5F7"/>
                    </a:solidFill>
                  </a:tcPr>
                </a:tc>
                <a:tc>
                  <a:txBody>
                    <a:bodyPr/>
                    <a:lstStyle/>
                    <a:p>
                      <a:r>
                        <a:rPr sz="1650" b="0">
                          <a:solidFill>
                            <a:srgbClr val="112A46"/>
                          </a:solidFill>
                          <a:latin typeface="Arial"/>
                          <a:ea typeface="Arial"/>
                          <a:cs typeface="Arial"/>
                        </a:rPr>
                        <a:t>Customers choose paid continuation</a:t>
                      </a:r>
                    </a:p>
                  </a:txBody>
                  <a:tcPr anchor="ctr">
                    <a:solidFill>
                      <a:srgbClr val="F2F5F7"/>
                    </a:solidFill>
                  </a:tcPr>
                </a:tc>
                <a:extLst>
                  <a:ext uri="{0D108BD9-81ED-4DB2-BD59-A6C34878D82A}">
                    <a16:rowId xmlns:a16="http://schemas.microsoft.com/office/drawing/2014/main" val="10004"/>
                  </a:ext>
                </a:extLst>
              </a:tr>
              <a:tr h="670560">
                <a:tc>
                  <a:txBody>
                    <a:bodyPr/>
                    <a:lstStyle/>
                    <a:p>
                      <a:r>
                        <a:rPr sz="1650" b="1">
                          <a:solidFill>
                            <a:srgbClr val="112A46"/>
                          </a:solidFill>
                          <a:latin typeface="Arial"/>
                          <a:ea typeface="Arial"/>
                          <a:cs typeface="Arial"/>
                        </a:rPr>
                        <a:t>Competitive pressure</a:t>
                      </a:r>
                    </a:p>
                  </a:txBody>
                  <a:tcPr anchor="ctr">
                    <a:solidFill>
                      <a:srgbClr val="FFFFFF"/>
                    </a:solidFill>
                  </a:tcPr>
                </a:tc>
                <a:tc>
                  <a:txBody>
                    <a:bodyPr/>
                    <a:lstStyle/>
                    <a:p>
                      <a:r>
                        <a:rPr sz="1650" b="0">
                          <a:solidFill>
                            <a:srgbClr val="112A46"/>
                          </a:solidFill>
                          <a:latin typeface="Arial"/>
                          <a:ea typeface="Arial"/>
                          <a:cs typeface="Arial"/>
                        </a:rPr>
                        <a:t>An incumbent solves the same problem more easily</a:t>
                      </a:r>
                    </a:p>
                  </a:txBody>
                  <a:tcPr anchor="ctr">
                    <a:solidFill>
                      <a:srgbClr val="FFFFFF"/>
                    </a:solidFill>
                  </a:tcPr>
                </a:tc>
                <a:tc>
                  <a:txBody>
                    <a:bodyPr/>
                    <a:lstStyle/>
                    <a:p>
                      <a:r>
                        <a:rPr sz="1650" b="0">
                          <a:solidFill>
                            <a:srgbClr val="112A46"/>
                          </a:solidFill>
                          <a:latin typeface="Arial"/>
                          <a:ea typeface="Arial"/>
                          <a:cs typeface="Arial"/>
                        </a:rPr>
                        <a:t>A defensible reason to choose Glinx</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44072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2ED088A-EDE7-4C39-918E-B4187AD4136A}"/>
              </a:ext>
            </a:extLst>
          </p:cNvPr>
          <p:cNvSpPr>
            <a:spLocks noGrp="1"/>
          </p:cNvSpPr>
          <p:nvPr/>
        </p:nvSpPr>
        <p:spPr>
          <a:xfrm>
            <a:off x="609600" y="333375"/>
            <a:ext cx="419100" cy="47625"/>
          </a:xfrm>
          <a:prstGeom prst="rect">
            <a:avLst/>
          </a:prstGeom>
          <a:solidFill>
            <a:srgbClr val="087F87"/>
          </a:solidFill>
          <a:ln w="0">
            <a:noFill/>
          </a:ln>
        </p:spPr>
        <p:txBody>
          <a:bodyPr/>
          <a:lstStyle/>
          <a:p>
            <a:endParaRPr lang="en-US"/>
          </a:p>
        </p:txBody>
      </p:sp>
      <p:sp>
        <p:nvSpPr>
          <p:cNvPr id="2" name="Selected sources and supporting material">
            <a:extLst>
              <a:ext uri="{FF2B5EF4-FFF2-40B4-BE49-F238E27FC236}">
                <a16:creationId xmlns:a16="http://schemas.microsoft.com/office/drawing/2014/main" id="{3E98814B-C461-42FE-93B6-018AE8C03FF0}"/>
              </a:ext>
            </a:extLst>
          </p:cNvPr>
          <p:cNvSpPr>
            <a:spLocks noGrp="1"/>
          </p:cNvSpPr>
          <p:nvPr/>
        </p:nvSpPr>
        <p:spPr>
          <a:xfrm>
            <a:off x="609600" y="552450"/>
            <a:ext cx="10972800" cy="990600"/>
          </a:xfrm>
          <a:prstGeom prst="rect">
            <a:avLst/>
          </a:prstGeom>
          <a:noFill/>
          <a:ln w="0">
            <a:noFill/>
          </a:ln>
        </p:spPr>
        <p:txBody>
          <a:bodyPr wrap="square" lIns="0" tIns="0" rIns="0" bIns="0" anchor="t">
            <a:noAutofit/>
          </a:bodyPr>
          <a:lstStyle/>
          <a:p>
            <a:pPr algn="l">
              <a:defRPr sz="3225" b="1">
                <a:solidFill>
                  <a:srgbClr val="112A46"/>
                </a:solidFill>
                <a:latin typeface="Arial"/>
                <a:ea typeface="Arial"/>
                <a:cs typeface="Arial"/>
              </a:defRPr>
            </a:pPr>
            <a:r>
              <a:rPr sz="3225" b="1">
                <a:solidFill>
                  <a:srgbClr val="112A46"/>
                </a:solidFill>
                <a:latin typeface="Arial"/>
                <a:ea typeface="Arial"/>
                <a:cs typeface="Arial"/>
              </a:rPr>
              <a:t>Selected sources and supporting material</a:t>
            </a:r>
          </a:p>
        </p:txBody>
      </p:sp>
      <p:sp>
        <p:nvSpPr>
          <p:cNvPr id="3" name="Appendix: source detail and presentation talking points appear in">
            <a:extLst>
              <a:ext uri="{FF2B5EF4-FFF2-40B4-BE49-F238E27FC236}">
                <a16:creationId xmlns:a16="http://schemas.microsoft.com/office/drawing/2014/main" id="{64A46A50-03A7-44E6-8DA5-6EEDA65AA308}"/>
              </a:ext>
            </a:extLst>
          </p:cNvPr>
          <p:cNvSpPr>
            <a:spLocks noGrp="1"/>
          </p:cNvSpPr>
          <p:nvPr/>
        </p:nvSpPr>
        <p:spPr>
          <a:xfrm>
            <a:off x="609600" y="1562100"/>
            <a:ext cx="10972800" cy="457200"/>
          </a:xfrm>
          <a:prstGeom prst="rect">
            <a:avLst/>
          </a:prstGeom>
          <a:noFill/>
          <a:ln w="0">
            <a:noFill/>
          </a:ln>
        </p:spPr>
        <p:txBody>
          <a:bodyPr wrap="square" lIns="0" tIns="0" rIns="0" bIns="0" anchor="t">
            <a:noAutofit/>
          </a:bodyPr>
          <a:lstStyle/>
          <a:p>
            <a:pPr algn="l">
              <a:defRPr sz="1650" b="0">
                <a:solidFill>
                  <a:srgbClr val="536274"/>
                </a:solidFill>
                <a:latin typeface="Arial"/>
                <a:ea typeface="Arial"/>
                <a:cs typeface="Arial"/>
              </a:defRPr>
            </a:pPr>
            <a:r>
              <a:rPr sz="1650" b="0">
                <a:solidFill>
                  <a:srgbClr val="536274"/>
                </a:solidFill>
                <a:latin typeface="Arial"/>
                <a:ea typeface="Arial"/>
                <a:cs typeface="Arial"/>
              </a:rPr>
              <a:t>Appendix: source detail and presentation talking points appear in the slide notes.</a:t>
            </a:r>
          </a:p>
        </p:txBody>
      </p:sp>
      <p:sp>
        <p:nvSpPr>
          <p:cNvPr id="4" name="Rectangle 3">
            <a:extLst>
              <a:ext uri="{FF2B5EF4-FFF2-40B4-BE49-F238E27FC236}">
                <a16:creationId xmlns:a16="http://schemas.microsoft.com/office/drawing/2014/main" id="{4DEEE71B-8DEF-4D6B-8105-14F24963A73C}"/>
              </a:ext>
            </a:extLst>
          </p:cNvPr>
          <p:cNvSpPr>
            <a:spLocks noGrp="1"/>
          </p:cNvSpPr>
          <p:nvPr/>
        </p:nvSpPr>
        <p:spPr>
          <a:xfrm>
            <a:off x="609600" y="6438900"/>
            <a:ext cx="10972800" cy="9525"/>
          </a:xfrm>
          <a:prstGeom prst="rect">
            <a:avLst/>
          </a:prstGeom>
          <a:solidFill>
            <a:srgbClr val="D8E0E6"/>
          </a:solidFill>
          <a:ln w="0">
            <a:noFill/>
          </a:ln>
        </p:spPr>
        <p:txBody>
          <a:bodyPr/>
          <a:lstStyle/>
          <a:p>
            <a:endParaRPr lang="en-US"/>
          </a:p>
        </p:txBody>
      </p:sp>
      <p:sp>
        <p:nvSpPr>
          <p:cNvPr id="5" name="GLINX AI">
            <a:extLst>
              <a:ext uri="{FF2B5EF4-FFF2-40B4-BE49-F238E27FC236}">
                <a16:creationId xmlns:a16="http://schemas.microsoft.com/office/drawing/2014/main" id="{C4669EBC-C234-48A0-8F92-6BA19AA6B7B3}"/>
              </a:ext>
            </a:extLst>
          </p:cNvPr>
          <p:cNvSpPr>
            <a:spLocks noGrp="1"/>
          </p:cNvSpPr>
          <p:nvPr/>
        </p:nvSpPr>
        <p:spPr>
          <a:xfrm>
            <a:off x="609600" y="6543675"/>
            <a:ext cx="1809750" cy="190500"/>
          </a:xfrm>
          <a:prstGeom prst="rect">
            <a:avLst/>
          </a:prstGeom>
          <a:noFill/>
          <a:ln w="0">
            <a:noFill/>
          </a:ln>
        </p:spPr>
        <p:txBody>
          <a:bodyPr wrap="square" lIns="0" tIns="0" rIns="0" bIns="0" anchor="t">
            <a:noAutofit/>
          </a:bodyPr>
          <a:lstStyle/>
          <a:p>
            <a:pPr algn="l">
              <a:defRPr sz="975" b="1">
                <a:solidFill>
                  <a:srgbClr val="112A46"/>
                </a:solidFill>
                <a:latin typeface="Arial"/>
                <a:ea typeface="Arial"/>
                <a:cs typeface="Arial"/>
              </a:defRPr>
            </a:pPr>
            <a:r>
              <a:rPr sz="975" b="1">
                <a:solidFill>
                  <a:srgbClr val="112A46"/>
                </a:solidFill>
                <a:latin typeface="Arial"/>
                <a:ea typeface="Arial"/>
                <a:cs typeface="Arial"/>
              </a:rPr>
              <a:t>GLINX AI</a:t>
            </a:r>
          </a:p>
        </p:txBody>
      </p:sp>
      <p:sp>
        <p:nvSpPr>
          <p:cNvPr id="6" name="25">
            <a:extLst>
              <a:ext uri="{FF2B5EF4-FFF2-40B4-BE49-F238E27FC236}">
                <a16:creationId xmlns:a16="http://schemas.microsoft.com/office/drawing/2014/main" id="{90F05454-C2F5-482F-A34C-8F5DA69B06F7}"/>
              </a:ext>
            </a:extLst>
          </p:cNvPr>
          <p:cNvSpPr>
            <a:spLocks noGrp="1"/>
          </p:cNvSpPr>
          <p:nvPr/>
        </p:nvSpPr>
        <p:spPr>
          <a:xfrm>
            <a:off x="11049000" y="6543675"/>
            <a:ext cx="533400" cy="190500"/>
          </a:xfrm>
          <a:prstGeom prst="rect">
            <a:avLst/>
          </a:prstGeom>
          <a:noFill/>
          <a:ln w="0">
            <a:noFill/>
          </a:ln>
        </p:spPr>
        <p:txBody>
          <a:bodyPr wrap="square" lIns="0" tIns="0" rIns="0" bIns="0" anchor="t">
            <a:noAutofit/>
          </a:bodyPr>
          <a:lstStyle/>
          <a:p>
            <a:pPr algn="r">
              <a:defRPr sz="975" b="0">
                <a:solidFill>
                  <a:srgbClr val="536274"/>
                </a:solidFill>
                <a:latin typeface="Arial"/>
                <a:ea typeface="Arial"/>
                <a:cs typeface="Arial"/>
              </a:defRPr>
            </a:pPr>
            <a:r>
              <a:rPr sz="975" b="0">
                <a:solidFill>
                  <a:srgbClr val="536274"/>
                </a:solidFill>
                <a:latin typeface="Arial"/>
                <a:ea typeface="Arial"/>
                <a:cs typeface="Arial"/>
              </a:rPr>
              <a:t>25</a:t>
            </a:r>
          </a:p>
        </p:txBody>
      </p:sp>
      <p:sp>
        <p:nvSpPr>
          <p:cNvPr id="7" name="Glinx architecture and current prototype">
            <a:extLst>
              <a:ext uri="{FF2B5EF4-FFF2-40B4-BE49-F238E27FC236}">
                <a16:creationId xmlns:a16="http://schemas.microsoft.com/office/drawing/2014/main" id="{05CBCD67-716E-42D9-892E-FF1F1332A82F}"/>
              </a:ext>
            </a:extLst>
          </p:cNvPr>
          <p:cNvSpPr>
            <a:spLocks noGrp="1"/>
          </p:cNvSpPr>
          <p:nvPr/>
        </p:nvSpPr>
        <p:spPr>
          <a:xfrm>
            <a:off x="609600" y="2181225"/>
            <a:ext cx="5143500" cy="361950"/>
          </a:xfrm>
          <a:prstGeom prst="rect">
            <a:avLst/>
          </a:prstGeom>
          <a:noFill/>
          <a:ln w="0">
            <a:noFill/>
          </a:ln>
        </p:spPr>
        <p:txBody>
          <a:bodyPr wrap="square" lIns="0" tIns="0" rIns="0" bIns="0" anchor="t">
            <a:noAutofit/>
          </a:bodyPr>
          <a:lstStyle/>
          <a:p>
            <a:pPr algn="l">
              <a:defRPr sz="1650" b="1">
                <a:solidFill>
                  <a:srgbClr val="087F87"/>
                </a:solidFill>
                <a:latin typeface="Arial"/>
                <a:ea typeface="Arial"/>
                <a:cs typeface="Arial"/>
              </a:defRPr>
            </a:pPr>
            <a:r>
              <a:rPr sz="1650" b="1">
                <a:solidFill>
                  <a:srgbClr val="087F87"/>
                </a:solidFill>
                <a:latin typeface="Arial"/>
                <a:ea typeface="Arial"/>
                <a:cs typeface="Arial"/>
                <a:hlinkClick r:id="rId3"/>
              </a:rPr>
              <a:t>Glinx architecture and current prototype</a:t>
            </a:r>
          </a:p>
        </p:txBody>
      </p:sp>
      <p:sp>
        <p:nvSpPr>
          <p:cNvPr id="8" name="Source code, scope and roadmap boundaries">
            <a:extLst>
              <a:ext uri="{FF2B5EF4-FFF2-40B4-BE49-F238E27FC236}">
                <a16:creationId xmlns:a16="http://schemas.microsoft.com/office/drawing/2014/main" id="{21DED46E-6F51-4BE4-A74A-0C62D83C27DA}"/>
              </a:ext>
            </a:extLst>
          </p:cNvPr>
          <p:cNvSpPr>
            <a:spLocks noGrp="1"/>
          </p:cNvSpPr>
          <p:nvPr/>
        </p:nvSpPr>
        <p:spPr>
          <a:xfrm>
            <a:off x="6105525" y="2181225"/>
            <a:ext cx="5476875" cy="371475"/>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Source code, scope and roadmap boundaries</a:t>
            </a:r>
          </a:p>
        </p:txBody>
      </p:sp>
      <p:sp>
        <p:nvSpPr>
          <p:cNvPr id="9" name="Rectangle 8">
            <a:extLst>
              <a:ext uri="{FF2B5EF4-FFF2-40B4-BE49-F238E27FC236}">
                <a16:creationId xmlns:a16="http://schemas.microsoft.com/office/drawing/2014/main" id="{6AB75155-D458-4096-9FFA-69E7E41032B5}"/>
              </a:ext>
            </a:extLst>
          </p:cNvPr>
          <p:cNvSpPr>
            <a:spLocks noGrp="1"/>
          </p:cNvSpPr>
          <p:nvPr/>
        </p:nvSpPr>
        <p:spPr>
          <a:xfrm>
            <a:off x="609600" y="2581275"/>
            <a:ext cx="10972800" cy="9525"/>
          </a:xfrm>
          <a:prstGeom prst="rect">
            <a:avLst/>
          </a:prstGeom>
          <a:solidFill>
            <a:srgbClr val="D8E0E6"/>
          </a:solidFill>
          <a:ln w="0">
            <a:noFill/>
          </a:ln>
        </p:spPr>
        <p:txBody>
          <a:bodyPr/>
          <a:lstStyle/>
          <a:p>
            <a:endParaRPr lang="en-US"/>
          </a:p>
        </p:txBody>
      </p:sp>
      <p:sp>
        <p:nvSpPr>
          <p:cNvPr id="10" name="Glinx validation record">
            <a:extLst>
              <a:ext uri="{FF2B5EF4-FFF2-40B4-BE49-F238E27FC236}">
                <a16:creationId xmlns:a16="http://schemas.microsoft.com/office/drawing/2014/main" id="{6C67D04A-1E99-474E-8C10-51774D702FB6}"/>
              </a:ext>
            </a:extLst>
          </p:cNvPr>
          <p:cNvSpPr>
            <a:spLocks noGrp="1"/>
          </p:cNvSpPr>
          <p:nvPr/>
        </p:nvSpPr>
        <p:spPr>
          <a:xfrm>
            <a:off x="609600" y="2705100"/>
            <a:ext cx="5143500" cy="361950"/>
          </a:xfrm>
          <a:prstGeom prst="rect">
            <a:avLst/>
          </a:prstGeom>
          <a:noFill/>
          <a:ln w="0">
            <a:noFill/>
          </a:ln>
        </p:spPr>
        <p:txBody>
          <a:bodyPr wrap="square" lIns="0" tIns="0" rIns="0" bIns="0" anchor="t">
            <a:noAutofit/>
          </a:bodyPr>
          <a:lstStyle/>
          <a:p>
            <a:pPr algn="l">
              <a:defRPr sz="1650" b="1">
                <a:solidFill>
                  <a:srgbClr val="087F87"/>
                </a:solidFill>
                <a:latin typeface="Arial"/>
                <a:ea typeface="Arial"/>
                <a:cs typeface="Arial"/>
              </a:defRPr>
            </a:pPr>
            <a:r>
              <a:rPr sz="1650" b="1">
                <a:solidFill>
                  <a:srgbClr val="087F87"/>
                </a:solidFill>
                <a:latin typeface="Arial"/>
                <a:ea typeface="Arial"/>
                <a:cs typeface="Arial"/>
                <a:hlinkClick r:id="rId4"/>
              </a:rPr>
              <a:t>Glinx validation record</a:t>
            </a:r>
          </a:p>
        </p:txBody>
      </p:sp>
      <p:sp>
        <p:nvSpPr>
          <p:cNvPr id="11" name="Local engineering checks and remaining validation">
            <a:extLst>
              <a:ext uri="{FF2B5EF4-FFF2-40B4-BE49-F238E27FC236}">
                <a16:creationId xmlns:a16="http://schemas.microsoft.com/office/drawing/2014/main" id="{8AA88ADF-7FD7-4803-8071-FC532DE05CF0}"/>
              </a:ext>
            </a:extLst>
          </p:cNvPr>
          <p:cNvSpPr>
            <a:spLocks noGrp="1"/>
          </p:cNvSpPr>
          <p:nvPr/>
        </p:nvSpPr>
        <p:spPr>
          <a:xfrm>
            <a:off x="6105525" y="2705100"/>
            <a:ext cx="5476875" cy="371475"/>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Local engineering checks and remaining validation</a:t>
            </a:r>
          </a:p>
        </p:txBody>
      </p:sp>
      <p:sp>
        <p:nvSpPr>
          <p:cNvPr id="12" name="Rectangle 11">
            <a:extLst>
              <a:ext uri="{FF2B5EF4-FFF2-40B4-BE49-F238E27FC236}">
                <a16:creationId xmlns:a16="http://schemas.microsoft.com/office/drawing/2014/main" id="{BFF1C263-CFDC-4483-820C-B586978A5C81}"/>
              </a:ext>
            </a:extLst>
          </p:cNvPr>
          <p:cNvSpPr>
            <a:spLocks noGrp="1"/>
          </p:cNvSpPr>
          <p:nvPr/>
        </p:nvSpPr>
        <p:spPr>
          <a:xfrm>
            <a:off x="609600" y="3105150"/>
            <a:ext cx="10972800" cy="9525"/>
          </a:xfrm>
          <a:prstGeom prst="rect">
            <a:avLst/>
          </a:prstGeom>
          <a:solidFill>
            <a:srgbClr val="D8E0E6"/>
          </a:solidFill>
          <a:ln w="0">
            <a:noFill/>
          </a:ln>
        </p:spPr>
        <p:txBody>
          <a:bodyPr/>
          <a:lstStyle/>
          <a:p>
            <a:endParaRPr lang="en-US"/>
          </a:p>
        </p:txBody>
      </p:sp>
      <p:sp>
        <p:nvSpPr>
          <p:cNvPr id="13" name="Stanford HAI, 2026 AI Index">
            <a:extLst>
              <a:ext uri="{FF2B5EF4-FFF2-40B4-BE49-F238E27FC236}">
                <a16:creationId xmlns:a16="http://schemas.microsoft.com/office/drawing/2014/main" id="{0C16F219-BE07-48FF-82A7-511CA6CA33B7}"/>
              </a:ext>
            </a:extLst>
          </p:cNvPr>
          <p:cNvSpPr>
            <a:spLocks noGrp="1"/>
          </p:cNvSpPr>
          <p:nvPr/>
        </p:nvSpPr>
        <p:spPr>
          <a:xfrm>
            <a:off x="609600" y="3228975"/>
            <a:ext cx="5143500" cy="361950"/>
          </a:xfrm>
          <a:prstGeom prst="rect">
            <a:avLst/>
          </a:prstGeom>
          <a:noFill/>
          <a:ln w="0">
            <a:noFill/>
          </a:ln>
        </p:spPr>
        <p:txBody>
          <a:bodyPr wrap="square" lIns="0" tIns="0" rIns="0" bIns="0" anchor="t">
            <a:noAutofit/>
          </a:bodyPr>
          <a:lstStyle/>
          <a:p>
            <a:pPr algn="l">
              <a:defRPr sz="1650" b="1">
                <a:solidFill>
                  <a:srgbClr val="087F87"/>
                </a:solidFill>
                <a:latin typeface="Arial"/>
                <a:ea typeface="Arial"/>
                <a:cs typeface="Arial"/>
              </a:defRPr>
            </a:pPr>
            <a:r>
              <a:rPr sz="1650" b="1">
                <a:solidFill>
                  <a:srgbClr val="087F87"/>
                </a:solidFill>
                <a:latin typeface="Arial"/>
                <a:ea typeface="Arial"/>
                <a:cs typeface="Arial"/>
                <a:hlinkClick r:id="rId5"/>
              </a:rPr>
              <a:t>Stanford HAI, 2026 AI Index</a:t>
            </a:r>
          </a:p>
        </p:txBody>
      </p:sp>
      <p:sp>
        <p:nvSpPr>
          <p:cNvPr id="14" name="AI adoption and agent-deployment context">
            <a:extLst>
              <a:ext uri="{FF2B5EF4-FFF2-40B4-BE49-F238E27FC236}">
                <a16:creationId xmlns:a16="http://schemas.microsoft.com/office/drawing/2014/main" id="{89AC806A-CCC1-4C73-8BB4-97F20239A316}"/>
              </a:ext>
            </a:extLst>
          </p:cNvPr>
          <p:cNvSpPr>
            <a:spLocks noGrp="1"/>
          </p:cNvSpPr>
          <p:nvPr/>
        </p:nvSpPr>
        <p:spPr>
          <a:xfrm>
            <a:off x="6105525" y="3228975"/>
            <a:ext cx="5476875" cy="371475"/>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AI adoption and agent-deployment context</a:t>
            </a:r>
          </a:p>
        </p:txBody>
      </p:sp>
      <p:sp>
        <p:nvSpPr>
          <p:cNvPr id="15" name="Rectangle 14">
            <a:extLst>
              <a:ext uri="{FF2B5EF4-FFF2-40B4-BE49-F238E27FC236}">
                <a16:creationId xmlns:a16="http://schemas.microsoft.com/office/drawing/2014/main" id="{D2C41631-C6F3-4A19-ACA6-A44EEE9787BD}"/>
              </a:ext>
            </a:extLst>
          </p:cNvPr>
          <p:cNvSpPr>
            <a:spLocks noGrp="1"/>
          </p:cNvSpPr>
          <p:nvPr/>
        </p:nvSpPr>
        <p:spPr>
          <a:xfrm>
            <a:off x="609600" y="3629025"/>
            <a:ext cx="10972800" cy="9525"/>
          </a:xfrm>
          <a:prstGeom prst="rect">
            <a:avLst/>
          </a:prstGeom>
          <a:solidFill>
            <a:srgbClr val="D8E0E6"/>
          </a:solidFill>
          <a:ln w="0">
            <a:noFill/>
          </a:ln>
        </p:spPr>
        <p:txBody>
          <a:bodyPr/>
          <a:lstStyle/>
          <a:p>
            <a:endParaRPr lang="en-US"/>
          </a:p>
        </p:txBody>
      </p:sp>
      <p:sp>
        <p:nvSpPr>
          <p:cNvPr id="16" name="NAM manufacturing facts / Census 2022">
            <a:extLst>
              <a:ext uri="{FF2B5EF4-FFF2-40B4-BE49-F238E27FC236}">
                <a16:creationId xmlns:a16="http://schemas.microsoft.com/office/drawing/2014/main" id="{C4935176-D31F-4BD7-B066-9679F17196D8}"/>
              </a:ext>
            </a:extLst>
          </p:cNvPr>
          <p:cNvSpPr>
            <a:spLocks noGrp="1"/>
          </p:cNvSpPr>
          <p:nvPr/>
        </p:nvSpPr>
        <p:spPr>
          <a:xfrm>
            <a:off x="609600" y="3752850"/>
            <a:ext cx="5143500" cy="361950"/>
          </a:xfrm>
          <a:prstGeom prst="rect">
            <a:avLst/>
          </a:prstGeom>
          <a:noFill/>
          <a:ln w="0">
            <a:noFill/>
          </a:ln>
        </p:spPr>
        <p:txBody>
          <a:bodyPr wrap="square" lIns="0" tIns="0" rIns="0" bIns="0" anchor="t">
            <a:noAutofit/>
          </a:bodyPr>
          <a:lstStyle/>
          <a:p>
            <a:pPr algn="l">
              <a:defRPr sz="1650" b="1">
                <a:solidFill>
                  <a:srgbClr val="087F87"/>
                </a:solidFill>
                <a:latin typeface="Arial"/>
                <a:ea typeface="Arial"/>
                <a:cs typeface="Arial"/>
              </a:defRPr>
            </a:pPr>
            <a:r>
              <a:rPr sz="1650" b="1">
                <a:solidFill>
                  <a:srgbClr val="087F87"/>
                </a:solidFill>
                <a:latin typeface="Arial"/>
                <a:ea typeface="Arial"/>
                <a:cs typeface="Arial"/>
                <a:hlinkClick r:id="rId6"/>
              </a:rPr>
              <a:t>NAM manufacturing facts / Census 2022</a:t>
            </a:r>
          </a:p>
        </p:txBody>
      </p:sp>
      <p:sp>
        <p:nvSpPr>
          <p:cNvPr id="17" name="Firm counts behind the illustrative market calculation">
            <a:extLst>
              <a:ext uri="{FF2B5EF4-FFF2-40B4-BE49-F238E27FC236}">
                <a16:creationId xmlns:a16="http://schemas.microsoft.com/office/drawing/2014/main" id="{02871FFD-0715-4FCD-8A29-4C1F7E773955}"/>
              </a:ext>
            </a:extLst>
          </p:cNvPr>
          <p:cNvSpPr>
            <a:spLocks noGrp="1"/>
          </p:cNvSpPr>
          <p:nvPr/>
        </p:nvSpPr>
        <p:spPr>
          <a:xfrm>
            <a:off x="6105525" y="3752850"/>
            <a:ext cx="5476875" cy="371475"/>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Firm counts behind the illustrative market calculation</a:t>
            </a:r>
          </a:p>
        </p:txBody>
      </p:sp>
      <p:sp>
        <p:nvSpPr>
          <p:cNvPr id="18" name="Rectangle 17">
            <a:extLst>
              <a:ext uri="{FF2B5EF4-FFF2-40B4-BE49-F238E27FC236}">
                <a16:creationId xmlns:a16="http://schemas.microsoft.com/office/drawing/2014/main" id="{329FC53F-953D-4329-A268-479824E6810F}"/>
              </a:ext>
            </a:extLst>
          </p:cNvPr>
          <p:cNvSpPr>
            <a:spLocks noGrp="1"/>
          </p:cNvSpPr>
          <p:nvPr/>
        </p:nvSpPr>
        <p:spPr>
          <a:xfrm>
            <a:off x="609600" y="4152900"/>
            <a:ext cx="10972800" cy="9525"/>
          </a:xfrm>
          <a:prstGeom prst="rect">
            <a:avLst/>
          </a:prstGeom>
          <a:solidFill>
            <a:srgbClr val="D8E0E6"/>
          </a:solidFill>
          <a:ln w="0">
            <a:noFill/>
          </a:ln>
        </p:spPr>
        <p:txBody>
          <a:bodyPr/>
          <a:lstStyle/>
          <a:p>
            <a:endParaRPr lang="en-US"/>
          </a:p>
        </p:txBody>
      </p:sp>
      <p:sp>
        <p:nvSpPr>
          <p:cNvPr id="19" name="Palantir Ontology">
            <a:extLst>
              <a:ext uri="{FF2B5EF4-FFF2-40B4-BE49-F238E27FC236}">
                <a16:creationId xmlns:a16="http://schemas.microsoft.com/office/drawing/2014/main" id="{F1AA8BA7-F02B-4688-B80C-0C12EA9530B7}"/>
              </a:ext>
            </a:extLst>
          </p:cNvPr>
          <p:cNvSpPr>
            <a:spLocks noGrp="1"/>
          </p:cNvSpPr>
          <p:nvPr/>
        </p:nvSpPr>
        <p:spPr>
          <a:xfrm>
            <a:off x="609600" y="4276725"/>
            <a:ext cx="5143500" cy="361950"/>
          </a:xfrm>
          <a:prstGeom prst="rect">
            <a:avLst/>
          </a:prstGeom>
          <a:noFill/>
          <a:ln w="0">
            <a:noFill/>
          </a:ln>
        </p:spPr>
        <p:txBody>
          <a:bodyPr wrap="square" lIns="0" tIns="0" rIns="0" bIns="0" anchor="t">
            <a:noAutofit/>
          </a:bodyPr>
          <a:lstStyle/>
          <a:p>
            <a:pPr algn="l">
              <a:defRPr sz="1650" b="1">
                <a:solidFill>
                  <a:srgbClr val="087F87"/>
                </a:solidFill>
                <a:latin typeface="Arial"/>
                <a:ea typeface="Arial"/>
                <a:cs typeface="Arial"/>
              </a:defRPr>
            </a:pPr>
            <a:r>
              <a:rPr sz="1650" b="1">
                <a:solidFill>
                  <a:srgbClr val="087F87"/>
                </a:solidFill>
                <a:latin typeface="Arial"/>
                <a:ea typeface="Arial"/>
                <a:cs typeface="Arial"/>
                <a:hlinkClick r:id="rId7"/>
              </a:rPr>
              <a:t>Palantir Ontology</a:t>
            </a:r>
          </a:p>
        </p:txBody>
      </p:sp>
      <p:sp>
        <p:nvSpPr>
          <p:cNvPr id="20" name="Official description of ontology and actions">
            <a:extLst>
              <a:ext uri="{FF2B5EF4-FFF2-40B4-BE49-F238E27FC236}">
                <a16:creationId xmlns:a16="http://schemas.microsoft.com/office/drawing/2014/main" id="{30C7F6B5-2EC2-4267-8DE5-985AAA59ED4A}"/>
              </a:ext>
            </a:extLst>
          </p:cNvPr>
          <p:cNvSpPr>
            <a:spLocks noGrp="1"/>
          </p:cNvSpPr>
          <p:nvPr/>
        </p:nvSpPr>
        <p:spPr>
          <a:xfrm>
            <a:off x="6105525" y="4276725"/>
            <a:ext cx="5476875" cy="371475"/>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Official description of ontology and actions</a:t>
            </a:r>
          </a:p>
        </p:txBody>
      </p:sp>
      <p:sp>
        <p:nvSpPr>
          <p:cNvPr id="21" name="Rectangle 20">
            <a:extLst>
              <a:ext uri="{FF2B5EF4-FFF2-40B4-BE49-F238E27FC236}">
                <a16:creationId xmlns:a16="http://schemas.microsoft.com/office/drawing/2014/main" id="{2A5ED898-1E6B-410A-9DB2-13240BBC2654}"/>
              </a:ext>
            </a:extLst>
          </p:cNvPr>
          <p:cNvSpPr>
            <a:spLocks noGrp="1"/>
          </p:cNvSpPr>
          <p:nvPr/>
        </p:nvSpPr>
        <p:spPr>
          <a:xfrm>
            <a:off x="609600" y="4676775"/>
            <a:ext cx="10972800" cy="9525"/>
          </a:xfrm>
          <a:prstGeom prst="rect">
            <a:avLst/>
          </a:prstGeom>
          <a:solidFill>
            <a:srgbClr val="D8E0E6"/>
          </a:solidFill>
          <a:ln w="0">
            <a:noFill/>
          </a:ln>
        </p:spPr>
        <p:txBody>
          <a:bodyPr/>
          <a:lstStyle/>
          <a:p>
            <a:endParaRPr lang="en-US"/>
          </a:p>
        </p:txBody>
      </p:sp>
      <p:sp>
        <p:nvSpPr>
          <p:cNvPr id="22" name="SAP Joule">
            <a:extLst>
              <a:ext uri="{FF2B5EF4-FFF2-40B4-BE49-F238E27FC236}">
                <a16:creationId xmlns:a16="http://schemas.microsoft.com/office/drawing/2014/main" id="{38D83DAE-7A4B-4804-BDDA-C1E34923D720}"/>
              </a:ext>
            </a:extLst>
          </p:cNvPr>
          <p:cNvSpPr>
            <a:spLocks noGrp="1"/>
          </p:cNvSpPr>
          <p:nvPr/>
        </p:nvSpPr>
        <p:spPr>
          <a:xfrm>
            <a:off x="609600" y="4800600"/>
            <a:ext cx="5143500" cy="361950"/>
          </a:xfrm>
          <a:prstGeom prst="rect">
            <a:avLst/>
          </a:prstGeom>
          <a:noFill/>
          <a:ln w="0">
            <a:noFill/>
          </a:ln>
        </p:spPr>
        <p:txBody>
          <a:bodyPr wrap="square" lIns="0" tIns="0" rIns="0" bIns="0" anchor="t">
            <a:noAutofit/>
          </a:bodyPr>
          <a:lstStyle/>
          <a:p>
            <a:pPr algn="l">
              <a:defRPr sz="1650" b="1">
                <a:solidFill>
                  <a:srgbClr val="087F87"/>
                </a:solidFill>
                <a:latin typeface="Arial"/>
                <a:ea typeface="Arial"/>
                <a:cs typeface="Arial"/>
              </a:defRPr>
            </a:pPr>
            <a:r>
              <a:rPr sz="1650" b="1">
                <a:solidFill>
                  <a:srgbClr val="087F87"/>
                </a:solidFill>
                <a:latin typeface="Arial"/>
                <a:ea typeface="Arial"/>
                <a:cs typeface="Arial"/>
                <a:hlinkClick r:id="rId8"/>
              </a:rPr>
              <a:t>SAP Joule</a:t>
            </a:r>
          </a:p>
        </p:txBody>
      </p:sp>
      <p:sp>
        <p:nvSpPr>
          <p:cNvPr id="23" name="Official description of business-context agents">
            <a:extLst>
              <a:ext uri="{FF2B5EF4-FFF2-40B4-BE49-F238E27FC236}">
                <a16:creationId xmlns:a16="http://schemas.microsoft.com/office/drawing/2014/main" id="{CE0966F4-62CC-45A8-8AB2-6BAAC8B39794}"/>
              </a:ext>
            </a:extLst>
          </p:cNvPr>
          <p:cNvSpPr>
            <a:spLocks noGrp="1"/>
          </p:cNvSpPr>
          <p:nvPr/>
        </p:nvSpPr>
        <p:spPr>
          <a:xfrm>
            <a:off x="6105525" y="4800600"/>
            <a:ext cx="5476875" cy="371475"/>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Official description of business-context agents</a:t>
            </a:r>
          </a:p>
        </p:txBody>
      </p:sp>
      <p:sp>
        <p:nvSpPr>
          <p:cNvPr id="24" name="Rectangle 23">
            <a:extLst>
              <a:ext uri="{FF2B5EF4-FFF2-40B4-BE49-F238E27FC236}">
                <a16:creationId xmlns:a16="http://schemas.microsoft.com/office/drawing/2014/main" id="{7F10A36A-EB84-43FE-BC5C-ED5B97838DA3}"/>
              </a:ext>
            </a:extLst>
          </p:cNvPr>
          <p:cNvSpPr>
            <a:spLocks noGrp="1"/>
          </p:cNvSpPr>
          <p:nvPr/>
        </p:nvSpPr>
        <p:spPr>
          <a:xfrm>
            <a:off x="609600" y="5200650"/>
            <a:ext cx="10972800" cy="9525"/>
          </a:xfrm>
          <a:prstGeom prst="rect">
            <a:avLst/>
          </a:prstGeom>
          <a:solidFill>
            <a:srgbClr val="D8E0E6"/>
          </a:solidFill>
          <a:ln w="0">
            <a:noFill/>
          </a:ln>
        </p:spPr>
        <p:txBody>
          <a:bodyPr/>
          <a:lstStyle/>
          <a:p>
            <a:endParaRPr lang="en-US"/>
          </a:p>
        </p:txBody>
      </p:sp>
      <p:sp>
        <p:nvSpPr>
          <p:cNvPr id="25" name="Microsoft Copilot Studio">
            <a:extLst>
              <a:ext uri="{FF2B5EF4-FFF2-40B4-BE49-F238E27FC236}">
                <a16:creationId xmlns:a16="http://schemas.microsoft.com/office/drawing/2014/main" id="{60712F4B-1A04-411F-9DF4-0CED2948BFD9}"/>
              </a:ext>
            </a:extLst>
          </p:cNvPr>
          <p:cNvSpPr>
            <a:spLocks noGrp="1"/>
          </p:cNvSpPr>
          <p:nvPr/>
        </p:nvSpPr>
        <p:spPr>
          <a:xfrm>
            <a:off x="609600" y="5324475"/>
            <a:ext cx="5143500" cy="361950"/>
          </a:xfrm>
          <a:prstGeom prst="rect">
            <a:avLst/>
          </a:prstGeom>
          <a:noFill/>
          <a:ln w="0">
            <a:noFill/>
          </a:ln>
        </p:spPr>
        <p:txBody>
          <a:bodyPr wrap="square" lIns="0" tIns="0" rIns="0" bIns="0" anchor="t">
            <a:noAutofit/>
          </a:bodyPr>
          <a:lstStyle/>
          <a:p>
            <a:pPr algn="l">
              <a:defRPr sz="1650" b="1">
                <a:solidFill>
                  <a:srgbClr val="087F87"/>
                </a:solidFill>
                <a:latin typeface="Arial"/>
                <a:ea typeface="Arial"/>
                <a:cs typeface="Arial"/>
              </a:defRPr>
            </a:pPr>
            <a:r>
              <a:rPr sz="1650" b="1">
                <a:solidFill>
                  <a:srgbClr val="087F87"/>
                </a:solidFill>
                <a:latin typeface="Arial"/>
                <a:ea typeface="Arial"/>
                <a:cs typeface="Arial"/>
                <a:hlinkClick r:id="rId9"/>
              </a:rPr>
              <a:t>Microsoft Copilot Studio</a:t>
            </a:r>
          </a:p>
        </p:txBody>
      </p:sp>
      <p:sp>
        <p:nvSpPr>
          <p:cNvPr id="26" name="Official description of connected agent development">
            <a:extLst>
              <a:ext uri="{FF2B5EF4-FFF2-40B4-BE49-F238E27FC236}">
                <a16:creationId xmlns:a16="http://schemas.microsoft.com/office/drawing/2014/main" id="{02314266-9A5F-49E1-BCCC-F10C48228C28}"/>
              </a:ext>
            </a:extLst>
          </p:cNvPr>
          <p:cNvSpPr>
            <a:spLocks noGrp="1"/>
          </p:cNvSpPr>
          <p:nvPr/>
        </p:nvSpPr>
        <p:spPr>
          <a:xfrm>
            <a:off x="6105525" y="5324475"/>
            <a:ext cx="5476875" cy="371475"/>
          </a:xfrm>
          <a:prstGeom prst="rect">
            <a:avLst/>
          </a:prstGeom>
          <a:noFill/>
          <a:ln w="0">
            <a:noFill/>
          </a:ln>
        </p:spPr>
        <p:txBody>
          <a:bodyPr wrap="square" lIns="0" tIns="0" rIns="0" bIns="0" anchor="t">
            <a:noAutofit/>
          </a:bodyPr>
          <a:lstStyle/>
          <a:p>
            <a:pPr algn="l">
              <a:defRPr sz="1500" b="0">
                <a:solidFill>
                  <a:srgbClr val="536274"/>
                </a:solidFill>
                <a:latin typeface="Arial"/>
                <a:ea typeface="Arial"/>
                <a:cs typeface="Arial"/>
              </a:defRPr>
            </a:pPr>
            <a:r>
              <a:rPr sz="1500" b="0">
                <a:solidFill>
                  <a:srgbClr val="536274"/>
                </a:solidFill>
                <a:latin typeface="Arial"/>
                <a:ea typeface="Arial"/>
                <a:cs typeface="Arial"/>
              </a:rPr>
              <a:t>Official description of connected agent development</a:t>
            </a:r>
          </a:p>
        </p:txBody>
      </p:sp>
      <p:sp>
        <p:nvSpPr>
          <p:cNvPr id="27" name="Rectangle 26">
            <a:extLst>
              <a:ext uri="{FF2B5EF4-FFF2-40B4-BE49-F238E27FC236}">
                <a16:creationId xmlns:a16="http://schemas.microsoft.com/office/drawing/2014/main" id="{F1310362-3B5C-4AC9-BAC8-C322DAA45E48}"/>
              </a:ext>
            </a:extLst>
          </p:cNvPr>
          <p:cNvSpPr>
            <a:spLocks noGrp="1"/>
          </p:cNvSpPr>
          <p:nvPr/>
        </p:nvSpPr>
        <p:spPr>
          <a:xfrm>
            <a:off x="609600" y="5724525"/>
            <a:ext cx="10972800" cy="9525"/>
          </a:xfrm>
          <a:prstGeom prst="rect">
            <a:avLst/>
          </a:prstGeom>
          <a:solidFill>
            <a:srgbClr val="D8E0E6"/>
          </a:solidFill>
          <a:ln w="0">
            <a:noFill/>
          </a:ln>
        </p:spPr>
        <p:txBody>
          <a:bodyPr/>
          <a:lstStyle/>
          <a:p>
            <a:endParaRPr lang="en-US"/>
          </a:p>
        </p:txBody>
      </p:sp>
      <p:sp>
        <p:nvSpPr>
          <p:cNvPr id="28" name="The operating-model image and founder background come from Denny ">
            <a:extLst>
              <a:ext uri="{FF2B5EF4-FFF2-40B4-BE49-F238E27FC236}">
                <a16:creationId xmlns:a16="http://schemas.microsoft.com/office/drawing/2014/main" id="{E064E908-680C-4316-8C45-8D076E9018E5}"/>
              </a:ext>
            </a:extLst>
          </p:cNvPr>
          <p:cNvSpPr>
            <a:spLocks noGrp="1"/>
          </p:cNvSpPr>
          <p:nvPr/>
        </p:nvSpPr>
        <p:spPr>
          <a:xfrm>
            <a:off x="609600" y="6067425"/>
            <a:ext cx="10972800" cy="342900"/>
          </a:xfrm>
          <a:prstGeom prst="rect">
            <a:avLst/>
          </a:prstGeom>
          <a:noFill/>
          <a:ln w="0">
            <a:noFill/>
          </a:ln>
        </p:spPr>
        <p:txBody>
          <a:bodyPr wrap="square" lIns="0" tIns="0" rIns="0" bIns="0" anchor="t">
            <a:noAutofit/>
          </a:bodyPr>
          <a:lstStyle/>
          <a:p>
            <a:pPr algn="l">
              <a:defRPr sz="1275" b="0">
                <a:solidFill>
                  <a:srgbClr val="536274"/>
                </a:solidFill>
                <a:latin typeface="Arial"/>
                <a:ea typeface="Arial"/>
                <a:cs typeface="Arial"/>
              </a:defRPr>
            </a:pPr>
            <a:r>
              <a:rPr sz="1275" b="0">
                <a:solidFill>
                  <a:srgbClr val="536274"/>
                </a:solidFill>
                <a:latin typeface="Arial"/>
                <a:ea typeface="Arial"/>
                <a:cs typeface="Arial"/>
              </a:rPr>
              <a:t>The operating-model image and founder background come from Denny Garcia. External sources accessed September 9, 2026.</a:t>
            </a:r>
          </a:p>
        </p:txBody>
      </p:sp>
    </p:spTree>
    <p:extLst>
      <p:ext uri="{BB962C8B-B14F-4D97-AF65-F5344CB8AC3E}">
        <p14:creationId xmlns:p14="http://schemas.microsoft.com/office/powerpoint/2010/main" val="16822482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5802</Words>
  <Application>Microsoft Office PowerPoint</Application>
  <DocSecurity>0</DocSecurity>
  <PresentationFormat>Widescreen</PresentationFormat>
  <Paragraphs>574</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Denny Garcia</cp:lastModifiedBy>
  <cp:revision>1</cp:revision>
  <dcterms:created xsi:type="dcterms:W3CDTF">2026-09-09T14:21:24Z</dcterms:created>
  <dcterms:modified xsi:type="dcterms:W3CDTF">2026-09-10T14:40:09Z</dcterms:modified>
</cp:coreProperties>
</file>