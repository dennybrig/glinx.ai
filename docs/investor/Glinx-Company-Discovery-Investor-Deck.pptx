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f46596d3db4930" /><Relationship Type="http://schemas.openxmlformats.org/officeDocument/2006/relationships/extended-properties" Target="/docProps/app.xml" Id="Raafa1d5f4b8a4650" /><Relationship Type="http://schemas.openxmlformats.org/officeDocument/2006/relationships/officeDocument" Target="/ppt/presentation.xml" Id="R3bcf028a37f84bae" /></Relationships>
</file>

<file path=ppt/presentation.xml><?xml version="1.0" encoding="utf-8"?>
<p:presentation xmlns:p="http://schemas.openxmlformats.org/presentationml/2006/main">
  <p:sldMasterIdLst>
    <p:sldMasterId xmlns:r="http://schemas.openxmlformats.org/officeDocument/2006/relationships" id="2147483648" r:id="R4d8a5b9544a24222"/>
  </p:sldMasterIdLst>
  <p:notesMasterIdLst>
    <p:notesMasterId xmlns:r="http://schemas.openxmlformats.org/officeDocument/2006/relationships" r:id="R1cfe7b94bd6440dc"/>
  </p:notesMasterIdLst>
  <p:sldIdLst>
    <p:sldId xmlns:r="http://schemas.openxmlformats.org/officeDocument/2006/relationships" id="256" r:id="R769038a3c7e64094"/>
    <p:sldId xmlns:r="http://schemas.openxmlformats.org/officeDocument/2006/relationships" id="257" r:id="Rf710d13f1e624f0b"/>
    <p:sldId xmlns:r="http://schemas.openxmlformats.org/officeDocument/2006/relationships" id="258" r:id="Re9b2905fe4824417"/>
    <p:sldId xmlns:r="http://schemas.openxmlformats.org/officeDocument/2006/relationships" id="259" r:id="R243eed27f6ee4540"/>
    <p:sldId xmlns:r="http://schemas.openxmlformats.org/officeDocument/2006/relationships" id="260" r:id="Rca729186020c4d74"/>
    <p:sldId xmlns:r="http://schemas.openxmlformats.org/officeDocument/2006/relationships" id="261" r:id="Rad48deaf670e4a66"/>
    <p:sldId xmlns:r="http://schemas.openxmlformats.org/officeDocument/2006/relationships" id="262" r:id="Rae85534961924bb0"/>
    <p:sldId xmlns:r="http://schemas.openxmlformats.org/officeDocument/2006/relationships" id="263" r:id="Ra0c429b1cead480f"/>
    <p:sldId xmlns:r="http://schemas.openxmlformats.org/officeDocument/2006/relationships" id="264" r:id="R0e65f767e0b84678"/>
    <p:sldId xmlns:r="http://schemas.openxmlformats.org/officeDocument/2006/relationships" id="265" r:id="R333f04e3d2ba411e"/>
    <p:sldId xmlns:r="http://schemas.openxmlformats.org/officeDocument/2006/relationships" id="266" r:id="R89943a153b5d4c81"/>
    <p:sldId xmlns:r="http://schemas.openxmlformats.org/officeDocument/2006/relationships" id="267" r:id="R8fd436ba272f4657"/>
    <p:sldId xmlns:r="http://schemas.openxmlformats.org/officeDocument/2006/relationships" id="268" r:id="Rffe5a9bcb6c04adf"/>
    <p:sldId xmlns:r="http://schemas.openxmlformats.org/officeDocument/2006/relationships" id="269" r:id="Rb7b238aaf4fa4aa6"/>
    <p:sldId xmlns:r="http://schemas.openxmlformats.org/officeDocument/2006/relationships" id="270" r:id="Ra7596f1c873648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f6b469d70944a1" /><Relationship Type="http://schemas.openxmlformats.org/officeDocument/2006/relationships/slideMaster" Target="/ppt/slideMasters/slideMaster1.xml" Id="R4d8a5b9544a24222" /><Relationship Type="http://schemas.openxmlformats.org/officeDocument/2006/relationships/notesMaster" Target="/ppt/notesMasters/notesMaster1.xml" Id="R1cfe7b94bd6440dc" /><Relationship Type="http://schemas.openxmlformats.org/officeDocument/2006/relationships/presProps" Target="/ppt/presProps.xml" Id="R080bb4eb3008436d" /><Relationship Type="http://schemas.openxmlformats.org/officeDocument/2006/relationships/tableStyles" Target="/ppt/tableStyles.xml" Id="R818517d56ec44f00" /><Relationship Type="http://schemas.openxmlformats.org/officeDocument/2006/relationships/slide" Target="/ppt/slides/slide1.xml" Id="R769038a3c7e64094" /><Relationship Type="http://schemas.openxmlformats.org/officeDocument/2006/relationships/slide" Target="/ppt/slides/slide2.xml" Id="Rf710d13f1e624f0b" /><Relationship Type="http://schemas.openxmlformats.org/officeDocument/2006/relationships/slide" Target="/ppt/slides/slide3.xml" Id="Re9b2905fe4824417" /><Relationship Type="http://schemas.openxmlformats.org/officeDocument/2006/relationships/slide" Target="/ppt/slides/slide4.xml" Id="R243eed27f6ee4540" /><Relationship Type="http://schemas.openxmlformats.org/officeDocument/2006/relationships/slide" Target="/ppt/slides/slide5.xml" Id="Rca729186020c4d74" /><Relationship Type="http://schemas.openxmlformats.org/officeDocument/2006/relationships/slide" Target="/ppt/slides/slide6.xml" Id="Rad48deaf670e4a66" /><Relationship Type="http://schemas.openxmlformats.org/officeDocument/2006/relationships/slide" Target="/ppt/slides/slide7.xml" Id="Rae85534961924bb0" /><Relationship Type="http://schemas.openxmlformats.org/officeDocument/2006/relationships/slide" Target="/ppt/slides/slide8.xml" Id="Ra0c429b1cead480f" /><Relationship Type="http://schemas.openxmlformats.org/officeDocument/2006/relationships/slide" Target="/ppt/slides/slide9.xml" Id="R0e65f767e0b84678" /><Relationship Type="http://schemas.openxmlformats.org/officeDocument/2006/relationships/slide" Target="/ppt/slides/slide10.xml" Id="R333f04e3d2ba411e" /><Relationship Type="http://schemas.openxmlformats.org/officeDocument/2006/relationships/slide" Target="/ppt/slides/slide11.xml" Id="R89943a153b5d4c81" /><Relationship Type="http://schemas.openxmlformats.org/officeDocument/2006/relationships/slide" Target="/ppt/slides/slide12.xml" Id="R8fd436ba272f4657" /><Relationship Type="http://schemas.openxmlformats.org/officeDocument/2006/relationships/slide" Target="/ppt/slides/slide13.xml" Id="Rffe5a9bcb6c04adf" /><Relationship Type="http://schemas.openxmlformats.org/officeDocument/2006/relationships/slide" Target="/ppt/slides/slide14.xml" Id="Rb7b238aaf4fa4aa6" /><Relationship Type="http://schemas.openxmlformats.org/officeDocument/2006/relationships/slide" Target="/ppt/slides/slide15.xml" Id="Ra7596f1c873648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f0e97eb42145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891ba97deb49c3" /><Relationship Type="http://schemas.openxmlformats.org/officeDocument/2006/relationships/notesMaster" Target="/ppt/notesMasters/notesMaster1.xml" Id="Rb9857fa4c32a4b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3d526aa86b4c9d" /><Relationship Type="http://schemas.openxmlformats.org/officeDocument/2006/relationships/notesMaster" Target="/ppt/notesMasters/notesMaster1.xml" Id="R35b4d314e68949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40960671c64ab9" /><Relationship Type="http://schemas.openxmlformats.org/officeDocument/2006/relationships/notesMaster" Target="/ppt/notesMasters/notesMaster1.xml" Id="Rc47a54f6d5c84a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5658d5ddf3426f" /><Relationship Type="http://schemas.openxmlformats.org/officeDocument/2006/relationships/notesMaster" Target="/ppt/notesMasters/notesMaster1.xml" Id="Re38a9db3ba7648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f9c572e4a84171" /><Relationship Type="http://schemas.openxmlformats.org/officeDocument/2006/relationships/notesMaster" Target="/ppt/notesMasters/notesMaster1.xml" Id="R62648122ca7446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bdb4772c94406b" /><Relationship Type="http://schemas.openxmlformats.org/officeDocument/2006/relationships/notesMaster" Target="/ppt/notesMasters/notesMaster1.xml" Id="R089d11d0ed7447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1d5ac9ae7e4c2d" /><Relationship Type="http://schemas.openxmlformats.org/officeDocument/2006/relationships/notesMaster" Target="/ppt/notesMasters/notesMaster1.xml" Id="Rfd9ee2fd215041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bebb3c6d334e18" /><Relationship Type="http://schemas.openxmlformats.org/officeDocument/2006/relationships/notesMaster" Target="/ppt/notesMasters/notesMaster1.xml" Id="R8357c6ebf0c744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d745110e5b4783" /><Relationship Type="http://schemas.openxmlformats.org/officeDocument/2006/relationships/notesMaster" Target="/ppt/notesMasters/notesMaster1.xml" Id="R1e1f107015f244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dede8e42d9420a" /><Relationship Type="http://schemas.openxmlformats.org/officeDocument/2006/relationships/notesMaster" Target="/ppt/notesMasters/notesMaster1.xml" Id="Rb1b77407ba5449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952a84e0d9459c" /><Relationship Type="http://schemas.openxmlformats.org/officeDocument/2006/relationships/notesMaster" Target="/ppt/notesMasters/notesMaster1.xml" Id="Rdcd717f2cf3a4a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7eb78c68574080" /><Relationship Type="http://schemas.openxmlformats.org/officeDocument/2006/relationships/notesMaster" Target="/ppt/notesMasters/notesMaster1.xml" Id="R930ce044b56c47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fca77e61164707" /><Relationship Type="http://schemas.openxmlformats.org/officeDocument/2006/relationships/notesMaster" Target="/ppt/notesMasters/notesMaster1.xml" Id="R91094a6b6fd241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82d4c0313243fa" /><Relationship Type="http://schemas.openxmlformats.org/officeDocument/2006/relationships/notesMaster" Target="/ppt/notesMasters/notesMaster1.xml" Id="Rcd77a4b6b7c348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f82efb151b43c1" /><Relationship Type="http://schemas.openxmlformats.org/officeDocument/2006/relationships/notesMaster" Target="/ppt/notesMasters/notesMaster1.xml" Id="R7c16731ce5be46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Glinx is building software that helps a company develop an evidence-backed understanding of itself. Company Discovery is the first product increment. It gives an owner a structured view of the systems the business runs on and the evidence behind that view. This presentation focuses on the current discovery prototype and the next pilot milestone.</a:t>
            </a:r>
          </a:p>
          <a:p xmlns:a="http://schemas.openxmlformats.org/drawingml/2006/main">
            <a:r>
              <a:t/>
            </a:r>
          </a:p>
          <a:p xmlns:a="http://schemas.openxmlformats.org/drawingml/2006/main">
            <a:r>
              <a:t>The cover image is an AI-generated illustration of a fictional manufacturing floor. It does not depict a Glinx customer or a real installation. Glinx uses its own branding. This deck does not imply affiliation with Bain or PwC.</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https://github.com/dennybrig/Glinx.ai/blob/8e49df99fe437d0452892e5034a3c0ca97e56a8c/README.md</a:t>
            </a:r>
          </a:p>
          <a:p xmlns:a="http://schemas.openxmlformats.org/drawingml/2006/main">
            <a:r>
              <a:t>https://github.com/dennybrig/Glinx.ai/blob/8e49df99fe437d0452892e5034a3c0ca97e56a8c/docs/ARCHITECTURE.md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full investment story in about 45 seconds. The problem is fragmented knowledge about operating systems. The product is a local sensing agent and an evidence viewer. The proof is engineering progress, including 17 agent tests and 7 dashboard-model tests, plus a real Linux scan and package installation checks. The next proof point is a customer-approved pilot. The available project evidence does not establish revenue, paying customers, measured savings or willingness to pay. Those remain questions for the pilot.</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https://github.com/dennybrig/Glinx.ai/blob/8e49df99fe437d0452892e5034a3c0ca97e56a8c/README.md</a:t>
            </a:r>
          </a:p>
          <a:p xmlns:a="http://schemas.openxmlformats.org/drawingml/2006/main">
            <a:r>
              <a:t>https://github.com/dennybrig/Glinx.ai/blob/8e49df99fe437d0452892e5034a3c0ca97e56a8c/docs/VALIDATION.md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Glinx's product thesis, rather than a quantified market study. A company may already have IT tools, spreadsheets or knowledgeable employees. Glinx aims to assemble a business-readable inventory with the source evidence and unresolved questions visible. This version records integration statements only when someone supplies separate evidence. It does not measure data flows or automatically prove how systems connect.</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https://github.com/dennybrig/Glinx.ai/blob/8e49df99fe437d0452892e5034a3c0ca97e56a8c/docs/ARCHITECTURE.md</a:t>
            </a:r>
          </a:p>
          <a:p xmlns:a="http://schemas.openxmlformats.org/drawingml/2006/main">
            <a:r>
              <a:t>https://github.com/dennybrig/Glinx.ai/blob/8e49df99fe437d0452892e5034a3c0ca97e56a8c/docs/REPORT-CONTRACT.md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is installable today as a Python package and can also run from a source checkout. The owner explicitly enables the sources for each run. Company administrators provide approval and credentials where a cloud service requires them. The agent then collects metadata, normalizes known product names and writes a local JSON report. The viewer presents the inventory, source outcomes and review questions. This is a manually invoked prototype, with fleet enrollment and managed deployment still ahead.</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https://github.com/dennybrig/Glinx.ai/blob/8e49df99fe437d0452892e5034a3c0ca97e56a8c/README.md</a:t>
            </a:r>
          </a:p>
          <a:p xmlns:a="http://schemas.openxmlformats.org/drawingml/2006/main">
            <a:r>
              <a:t>https://github.com/dennybrig/Glinx.ai/blob/8e49df99fe437d0452892e5034a3c0ca97e56a8c/glinx_discovery/cli.py</a:t>
            </a:r>
          </a:p>
          <a:p xmlns:a="http://schemas.openxmlformats.org/drawingml/2006/main">
            <a:r>
              <a:t>https://github.com/dennybrig/Glinx.ai/blob/8e49df99fe437d0452892e5034a3c0ca97e56a8c/docs/CONNECTORS.md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collector supports Windows installation registry entries, macOS application-bundle names and Linux package names. Windows and macOS behavior still need live pilot validation. The mail-domain collector queries MX records using Cloudflare DNS over HTTPS. Microsoft 365 uses Graph application-read access to inspect enterprise application registrations. It does not read mailboxes. HTTPS discovery is limited to explicitly supplied landing pages and headers. Owner CSV data adds context and reported relationships. These collectors cannot guarantee whole-company coverage from one installation.</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https://github.com/dennybrig/Glinx.ai/blob/8e49df99fe437d0452892e5034a3c0ca97e56a8c/docs/CONNECTORS.md</a:t>
            </a:r>
          </a:p>
          <a:p xmlns:a="http://schemas.openxmlformats.org/drawingml/2006/main">
            <a:r>
              <a:t>https://github.com/dennybrig/Glinx.ai/blob/8e49df99fe437d0452892e5034a3c0ca97e56a8c/glinx_discovery/collectors.py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what local means. The report remains local unless its owner chooses to share it. Enabled cloud connectors still contact their providers, and DNS lookup sends the approved domain name to Cloudflare. HTTPS inspection temporarily reads a landing page for a product fingerprint but does not retain the page content. Credentials stay in process memory and do not enter the report. Installation names and application identifiers can still be sensitive, so pilot teams should review any report before sharing. This slide describes implemented behavior, not a security certification.</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https://github.com/dennybrig/Glinx.ai/blob/8e49df99fe437d0452892e5034a3c0ca97e56a8c/docs/ARCHITECTURE.md</a:t>
            </a:r>
          </a:p>
          <a:p xmlns:a="http://schemas.openxmlformats.org/drawingml/2006/main">
            <a:r>
              <a:t>https://github.com/dennybrig/Glinx.ai/blob/8e49df99fe437d0452892e5034a3c0ca97e56a8c/docs/CONNECTORS.md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establishes the demonstration before any numbers appear to be customer results. Alder Forge is a fictional scenario with 12 systems, 7 business functions, 14 evidence records and 3 owner-reported integration statements. These counts come directly from the packaged sample report. The three integrations are Epicor to SQL Server, an Epicor CSV handoff to Power BI, and a payroll journal export from ADP to QuickBooks. None describes a measured live flow. During the demo, replay the sample and open an evidence panel.</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https://github.com/dennybrig/Glinx.ai/blob/8e49df99fe437d0452892e5034a3c0ca97e56a8c/dist/demo.json</a:t>
            </a:r>
          </a:p>
          <a:p xmlns:a="http://schemas.openxmlformats.org/drawingml/2006/main">
            <a:r>
              <a:t>https://github.com/dennybrig/Glinx.ai/blob/8e49df99fe437d0452892e5034a3c0ca97e56a8c/docs/INVESTOR-DEMO.md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trust mechanism. Observed means a source returned a record, such as an installation entry or an enterprise application registration. Owner reported means a person supplied a statement. Inferred means a fingerprint suggests a product or provider. Glinx retains each evidence record's state and timestamp. A higher system-level state does not turn every underlying statement into an observation. Detection scores in the UI are rule strengths, not calibrated probabilities. The company map's membership lines do not imply an integration.</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https://github.com/dennybrig/Glinx.ai/blob/8e49df99fe437d0452892e5034a3c0ca97e56a8c/docs/REPORT-CONTRACT.md</a:t>
            </a:r>
          </a:p>
          <a:p xmlns:a="http://schemas.openxmlformats.org/drawingml/2006/main">
            <a:r>
              <a:t>https://github.com/dennybrig/Glinx.ai/blob/8e49df99fe437d0452892e5034a3c0ca97e56a8c/glinx_discovery/model.py</a:t>
            </a:r>
          </a:p>
          <a:p xmlns:a="http://schemas.openxmlformats.org/drawingml/2006/main">
            <a:r>
              <a:t>https://github.com/dennybrig/Glinx.ai/blob/8e49df99fe437d0452892e5034a3c0ca97e56a8c/dist/demo.json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customer benefits and a commercial hypothesis. No measured savings, price point, paying customer or recurring revenue is claimed. The first pilot should record time and owner effort rather than promise an unsupported productivity percentage. The fictional sample includes three unassigned systems and reported manual transfers that show the kind of question an owner can investigate. Manufacturing is a proposed initial customer focus consistent with the founder's operating background and the demo. The software's wider scope can expand to other businesses. Ongoing monitoring and subscription economics require further product and customer validation.</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https://github.com/dennybrig/Glinx.ai/blob/8e49df99fe437d0452892e5034a3c0ca97e56a8c/docs/THREE-DAY-PLAN.md</a:t>
            </a:r>
          </a:p>
          <a:p xmlns:a="http://schemas.openxmlformats.org/drawingml/2006/main">
            <a:r>
              <a:t>https://github.com/dennybrig/Glinx.ai/blob/8e49df99fe437d0452892e5034a3c0ca97e56a8c/dist/model.js</a:t>
            </a:r>
          </a:p>
          <a:p xmlns:a="http://schemas.openxmlformats.org/drawingml/2006/main">
            <a:r>
              <a:t>https://github.com/dennybrig/Glinx.ai/blob/8e49df99fe437d0452892e5034a3c0ca97e56a8c/dist/demo.json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proof precise. The implementation record reports 17 Python agent tests and 7 JavaScript model tests. A real Linux scan examined 693 package entries and returned one endpoint record in the development environment. That environment was not a representative company inventory and no network source was enabled. The built wheel installed into a fresh environment and served its packaged assets and report routes. Microsoft and DNS behavior used synthetic responses for validation. The original session did not execute Windows/macOS inventory against real machines or use a real Microsoft tenant. The original dashboard also needs a rehearsal in the presentation browser. These are engineering results, not customer traction.</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self-awareness operationally. The long-term goal is a company model that can describe its identity, assess its condition and learn from history. The current increment implements the initial Sense stage. Understand, Decide, Act and Learn are a roadmap, not delivered features. The present inventory questions use deterministic rules and do not invoke an LLM. Future reasoning should preserve source-native evidence, permissions and provenance, with human authority governing actions.</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https://github.com/dennybrig/Glinx.ai/blob/8e49df99fe437d0452892e5034a3c0ca97e56a8c/docs/ARCHITECTURE.md</a:t>
            </a:r>
          </a:p>
          <a:p xmlns:a="http://schemas.openxmlformats.org/drawingml/2006/main">
            <a:r>
              <a:t>https://github.com/dennybrig/Glinx.ai/blob/8e49df99fe437d0452892e5034a3c0ca97e56a8c/README.md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pilot design. It does not imply an existing customer commitment or an agreed delivery date. Select a company with a willing owner, an administrator and a clearly bounded set of systems. Compare discovery results against an owner-reviewed baseline. Add approved identity metadata and build a native ERP metadata connector chosen for that company. The present product can identify ERP presence through inventory and fingerprints but does not read ERP transactions. Conclude with an explicit customer decision on usefulness and a paid next phase.</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https://github.com/dennybrig/Glinx.ai/blob/8e49df99fe437d0452892e5034a3c0ca97e56a8c/docs/THREE-DAY-PLAN.md</a:t>
            </a:r>
          </a:p>
          <a:p xmlns:a="http://schemas.openxmlformats.org/drawingml/2006/main">
            <a:r>
              <a:t>https://github.com/dennybrig/Glinx.ai/blob/8e49df99fe437d0452892e5034a3c0ca97e56a8c/docs/CONNECTORS.md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for a design-partner introduction and clarity about what pilot evidence would support a next investment decision. No fundraising amount or valuation is proposed because neither has been defined. The demo and source links are private: Denny can present the demo through screen sharing, and collaborators need repository access. For the live demonstration, replay the fictional company, inspect Epicor, review evidence and gaps, then import a reviewed real report if one is available. Do not present sample results as a live company scan.</a:t>
            </a:r>
          </a:p>
          <a:p xmlns:a="http://schemas.openxmlformats.org/drawingml/2006/main">
            <a:r>
              <a:t/>
            </a:r>
          </a:p>
          <a:p xmlns:a="http://schemas.openxmlformats.org/drawingml/2006/main">
            <a:r>
              <a:t>Demo: https://glinx-discovery.dennybrig.chatgpt.site</a:t>
            </a:r>
          </a:p>
          <a:p xmlns:a="http://schemas.openxmlformats.org/drawingml/2006/main">
            <a:r>
              <a:t>Repository: https://github.com/dennybrig/Glinx.ai</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https://github.com/dennybrig/Glinx.ai/blob/8e49df99fe437d0452892e5034a3c0ca97e56a8c/docs/INVESTOR-DEMO.md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if the investor asks about scope, present capability or implementation credibility. Give the exact current answer before discussing the roadmap. Keep the distinction between sample data, implemented code and live-tenant validation clear. The repository includes CI configuration for multiple operating systems, but that configuration alone is not evidence that the original session validated real customer machines.</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https://github.com/dennybrig/Glinx.ai/blob/8e49df99fe437d0452892e5034a3c0ca97e56a8c/docs/INVESTOR-DEMO.md</a:t>
            </a:r>
          </a:p>
          <a:p xmlns:a="http://schemas.openxmlformats.org/drawingml/2006/main">
            <a:r>
              <a:t>https://github.com/dennybrig/Glinx.ai/blob/8e49df99fe437d0452892e5034a3c0ca97e56a8c/docs/VALIDATION.md</a:t>
            </a:r>
          </a:p>
          <a:p xmlns:a="http://schemas.openxmlformats.org/drawingml/2006/main">
            <a:r>
              <a:t>https://github.com/dennybrig/Glinx.ai/blob/8e49df99fe437d0452892e5034a3c0ca97e56a8c/README.md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Agree with the company on how to measure a successful pilot before beginning. Do not claim a percentage of whole-company coverage when the total is unknown. Assess discovery against a bounded owner-reviewed list and report both misses and false matches. Track setup effort and every required permission. Ask the company to identify a useful follow-up decision and whether it would pay for continued work. These criteria are proposals for evaluation, not existing pilot results.</a:t>
            </a:r>
          </a:p>
          <a:p xmlns:a="http://schemas.openxmlformats.org/drawingml/2006/main">
            <a:r>
              <a:t/>
            </a:r>
          </a:p>
          <a:p xmlns:a="http://schemas.openxmlformats.org/drawingml/2006/main">
            <a:r>
              <a:t>Sources</a:t>
            </a:r>
          </a:p>
          <a:p xmlns:a="http://schemas.openxmlformats.org/drawingml/2006/main">
            <a:r>
              <a:t>https://github.com/dennybrig/Glinx.ai/blob/8e49df99fe437d0452892e5034a3c0ca97e56a8c/docs/THREE-DAY-PLAN.md</a:t>
            </a:r>
          </a:p>
          <a:p xmlns:a="http://schemas.openxmlformats.org/drawingml/2006/main">
            <a:r>
              <a:t>https://github.com/dennybrig/Glinx.ai/blob/8e49df99fe437d0452892e5034a3c0ca97e56a8c/docs/REPORT-CONTRACT.md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c26aa8030747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4b9a1f8cab4702" /><Relationship Type="http://schemas.openxmlformats.org/officeDocument/2006/relationships/slideLayout" Target="/ppt/slideLayouts/slideLayout1.xml" Id="R4927d44e21cf49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27d44e21cf49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a0ecc64a3f45de" /><Relationship Type="http://schemas.openxmlformats.org/officeDocument/2006/relationships/image" Target="/ppt/media/image.jpeg" Id="Re77ca2c0f43b4e2f" /><Relationship Type="http://schemas.openxmlformats.org/officeDocument/2006/relationships/notesSlide" Target="/ppt/notesSlides/notesSlide1.xml" Id="R92b8136be02146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e219cd22974783" /><Relationship Type="http://schemas.openxmlformats.org/officeDocument/2006/relationships/notesSlide" Target="/ppt/notesSlides/notesSlide2.xml" Id="R884eaa4e30f14d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edf82501ae4e7d" /><Relationship Type="http://schemas.openxmlformats.org/officeDocument/2006/relationships/notesSlide" Target="/ppt/notesSlides/notesSlide3.xml" Id="Ra75a3482e29241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5dac5201ee4aea" /><Relationship Type="http://schemas.openxmlformats.org/officeDocument/2006/relationships/notesSlide" Target="/ppt/notesSlides/notesSlide4.xml" Id="Rbddb99797d4e4b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3b4b1fe3a8433d" /><Relationship Type="http://schemas.openxmlformats.org/officeDocument/2006/relationships/notesSlide" Target="/ppt/notesSlides/notesSlide5.xml" Id="Rbb1bc5c9244342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226ccba23d46d7" /><Relationship Type="http://schemas.openxmlformats.org/officeDocument/2006/relationships/notesSlide" Target="/ppt/notesSlides/notesSlide6.xml" Id="Rcfea6f2c324d42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d31983db884594" /><Relationship Type="http://schemas.openxmlformats.org/officeDocument/2006/relationships/notesSlide" Target="/ppt/notesSlides/notesSlide7.xml" Id="R124a384a117f41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64746285954f16" /><Relationship Type="http://schemas.openxmlformats.org/officeDocument/2006/relationships/notesSlide" Target="/ppt/notesSlides/notesSlide8.xml" Id="Re9ec9bf084514a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c3cef5ebf14654" /><Relationship Type="http://schemas.openxmlformats.org/officeDocument/2006/relationships/notesSlide" Target="/ppt/notesSlides/notesSlide9.xml" Id="Rd2f338bf4b9f41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f6a20ee91641cb" /><Relationship Type="http://schemas.openxmlformats.org/officeDocument/2006/relationships/notesSlide" Target="/ppt/notesSlides/notesSlide10.xml" Id="R4dceeadce72c4b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59f724dd7bc4980" /><Relationship Type="http://schemas.openxmlformats.org/officeDocument/2006/relationships/notesSlide" Target="/ppt/notesSlides/notesSlide11.xml" Id="R606067391f5949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509173de59452e" /><Relationship Type="http://schemas.openxmlformats.org/officeDocument/2006/relationships/notesSlide" Target="/ppt/notesSlides/notesSlide12.xml" Id="Ra024c2f4984748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77202ad178444b8" /><Relationship Type="http://schemas.openxmlformats.org/officeDocument/2006/relationships/hyperlink" Target="https://glinx-discovery.dennybrig.chatgpt.site" TargetMode="External" Id="Ref3cf7af619a4cd6" /><Relationship Type="http://schemas.openxmlformats.org/officeDocument/2006/relationships/hyperlink" Target="https://github.com/dennybrig/Glinx.ai" TargetMode="External" Id="R2ea23e9403024e98" /><Relationship Type="http://schemas.openxmlformats.org/officeDocument/2006/relationships/notesSlide" Target="/ppt/notesSlides/notesSlide13.xml" Id="R7f37f3f2ea2641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1744b42971b405e" /><Relationship Type="http://schemas.openxmlformats.org/officeDocument/2006/relationships/notesSlide" Target="/ppt/notesSlides/notesSlide14.xml" Id="R91ea8817004248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d7d6d4d04834ad8" /><Relationship Type="http://schemas.openxmlformats.org/officeDocument/2006/relationships/notesSlide" Target="/ppt/notesSlides/notesSlide15.xml" Id="Rec819d31600a4c3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53DC11-D122-42A3-99D2-7E8D8059897E}"/>
              </a:ext>
            </a:extLst>
          </p:cNvPr>
          <p:cNvSpPr>
            <a:spLocks xmlns:a="http://schemas.openxmlformats.org/drawingml/2006/main" noGrp="1"/>
          </p:cNvSpPr>
          <p:nvPr/>
        </p:nvSpPr>
        <p:spPr>
          <a:xfrm xmlns:a="http://schemas.openxmlformats.org/drawingml/2006/main">
            <a:off x="647700" y="552450"/>
            <a:ext cx="4572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GLINX">
            <a:extLst xmlns:a="http://schemas.openxmlformats.org/drawingml/2006/main">
              <a:ext uri="{FF2B5EF4-FFF2-40B4-BE49-F238E27FC236}">
                <a16:creationId xmlns:a16="http://schemas.microsoft.com/office/drawing/2014/main" id="{C91BA007-519F-4998-ACEC-ED80AC479828}"/>
              </a:ext>
            </a:extLst>
          </p:cNvPr>
          <p:cNvSpPr>
            <a:spLocks xmlns:a="http://schemas.openxmlformats.org/drawingml/2006/main" noGrp="1"/>
          </p:cNvSpPr>
          <p:nvPr/>
        </p:nvSpPr>
        <p:spPr>
          <a:xfrm xmlns:a="http://schemas.openxmlformats.org/drawingml/2006/main">
            <a:off x="647700" y="828675"/>
            <a:ext cx="428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BA1326"/>
                </a:solidFill>
                <a:latin typeface="Arial"/>
                <a:ea typeface="Arial"/>
                <a:cs typeface="Arial"/>
              </a:defRPr>
            </a:pPr>
            <a:r>
              <a:rPr sz="2925" b="1">
                <a:solidFill>
                  <a:srgbClr val="BA1326"/>
                </a:solidFill>
                <a:latin typeface="Arial"/>
                <a:ea typeface="Arial"/>
                <a:cs typeface="Arial"/>
              </a:rPr>
              <a:t>GLINX</a:t>
            </a:r>
          </a:p>
        </p:txBody>
      </p:sp>
      <p:sp>
        <p:nvSpPr>
          <p:cNvPr id="3" name="Company&#10;Discovery">
            <a:extLst xmlns:a="http://schemas.openxmlformats.org/drawingml/2006/main">
              <a:ext uri="{FF2B5EF4-FFF2-40B4-BE49-F238E27FC236}">
                <a16:creationId xmlns:a16="http://schemas.microsoft.com/office/drawing/2014/main" id="{CA9760D2-B4A6-4FC7-98C2-9AAEFC4592FF}"/>
              </a:ext>
            </a:extLst>
          </p:cNvPr>
          <p:cNvSpPr>
            <a:spLocks xmlns:a="http://schemas.openxmlformats.org/drawingml/2006/main" noGrp="1"/>
          </p:cNvSpPr>
          <p:nvPr/>
        </p:nvSpPr>
        <p:spPr>
          <a:xfrm xmlns:a="http://schemas.openxmlformats.org/drawingml/2006/main">
            <a:off x="647700" y="2200275"/>
            <a:ext cx="70485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25272B"/>
                </a:solidFill>
                <a:latin typeface="Arial"/>
                <a:ea typeface="Arial"/>
                <a:cs typeface="Arial"/>
              </a:defRPr>
            </a:pPr>
            <a:r>
              <a:rPr sz="5250" b="1">
                <a:solidFill>
                  <a:srgbClr val="25272B"/>
                </a:solidFill>
                <a:latin typeface="Arial"/>
                <a:ea typeface="Arial"/>
                <a:cs typeface="Arial"/>
              </a:rPr>
              <a:t>Company</a:t>
            </a:r>
          </a:p>
          <a:p xmlns:a="http://schemas.openxmlformats.org/drawingml/2006/main">
            <a:pPr algn="l">
              <a:defRPr sz="5250" b="1">
                <a:solidFill>
                  <a:srgbClr val="25272B"/>
                </a:solidFill>
                <a:latin typeface="Arial"/>
                <a:ea typeface="Arial"/>
                <a:cs typeface="Arial"/>
              </a:defRPr>
            </a:pPr>
            <a:r>
              <a:rPr sz="5250" b="1">
                <a:solidFill>
                  <a:srgbClr val="25272B"/>
                </a:solidFill>
                <a:latin typeface="Arial"/>
                <a:ea typeface="Arial"/>
                <a:cs typeface="Arial"/>
              </a:rPr>
              <a:t>Discovery</a:t>
            </a:r>
          </a:p>
        </p:txBody>
      </p:sp>
      <p:sp>
        <p:nvSpPr>
          <p:cNvPr id="4" name="A clear view of the systems&#10;that run a compan">
            <a:extLst xmlns:a="http://schemas.openxmlformats.org/drawingml/2006/main">
              <a:ext uri="{FF2B5EF4-FFF2-40B4-BE49-F238E27FC236}">
                <a16:creationId xmlns:a16="http://schemas.microsoft.com/office/drawing/2014/main" id="{F58CEB1E-828A-4226-86D9-84069A219A10}"/>
              </a:ext>
            </a:extLst>
          </p:cNvPr>
          <p:cNvSpPr>
            <a:spLocks xmlns:a="http://schemas.openxmlformats.org/drawingml/2006/main" noGrp="1"/>
          </p:cNvSpPr>
          <p:nvPr/>
        </p:nvSpPr>
        <p:spPr>
          <a:xfrm xmlns:a="http://schemas.openxmlformats.org/drawingml/2006/main">
            <a:off x="647700" y="423862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64696F"/>
                </a:solidFill>
                <a:latin typeface="Arial"/>
                <a:ea typeface="Arial"/>
                <a:cs typeface="Arial"/>
              </a:defRPr>
            </a:pPr>
            <a:r>
              <a:rPr sz="2475" b="0">
                <a:solidFill>
                  <a:srgbClr val="64696F"/>
                </a:solidFill>
                <a:latin typeface="Arial"/>
                <a:ea typeface="Arial"/>
                <a:cs typeface="Arial"/>
              </a:rPr>
              <a:t>A clear view of the systems</a:t>
            </a:r>
          </a:p>
          <a:p xmlns:a="http://schemas.openxmlformats.org/drawingml/2006/main">
            <a:pPr algn="l">
              <a:defRPr sz="2475" b="0">
                <a:solidFill>
                  <a:srgbClr val="64696F"/>
                </a:solidFill>
                <a:latin typeface="Arial"/>
                <a:ea typeface="Arial"/>
                <a:cs typeface="Arial"/>
              </a:defRPr>
            </a:pPr>
            <a:r>
              <a:rPr sz="2475" b="0">
                <a:solidFill>
                  <a:srgbClr val="64696F"/>
                </a:solidFill>
                <a:latin typeface="Arial"/>
                <a:ea typeface="Arial"/>
                <a:cs typeface="Arial"/>
              </a:rPr>
              <a:t>that run a company</a:t>
            </a:r>
          </a:p>
        </p:txBody>
      </p:sp>
      <p:sp>
        <p:nvSpPr>
          <p:cNvPr id="5" name="Investor briefing&#10;Denny Garcia&#10;September 2026">
            <a:extLst xmlns:a="http://schemas.openxmlformats.org/drawingml/2006/main">
              <a:ext uri="{FF2B5EF4-FFF2-40B4-BE49-F238E27FC236}">
                <a16:creationId xmlns:a16="http://schemas.microsoft.com/office/drawing/2014/main" id="{376128D6-0CBC-480E-A4C0-486A411EC202}"/>
              </a:ext>
            </a:extLst>
          </p:cNvPr>
          <p:cNvSpPr>
            <a:spLocks xmlns:a="http://schemas.openxmlformats.org/drawingml/2006/main" noGrp="1"/>
          </p:cNvSpPr>
          <p:nvPr/>
        </p:nvSpPr>
        <p:spPr>
          <a:xfrm xmlns:a="http://schemas.openxmlformats.org/drawingml/2006/main">
            <a:off x="647700" y="5724525"/>
            <a:ext cx="619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4696F"/>
                </a:solidFill>
                <a:latin typeface="Arial"/>
                <a:ea typeface="Arial"/>
                <a:cs typeface="Arial"/>
              </a:defRPr>
            </a:pPr>
            <a:r>
              <a:rPr sz="1350" b="0">
                <a:solidFill>
                  <a:srgbClr val="64696F"/>
                </a:solidFill>
                <a:latin typeface="Arial"/>
                <a:ea typeface="Arial"/>
                <a:cs typeface="Arial"/>
              </a:rPr>
              <a:t>Investor briefing</a:t>
            </a:r>
          </a:p>
          <a:p xmlns:a="http://schemas.openxmlformats.org/drawingml/2006/main">
            <a:pPr algn="l">
              <a:defRPr sz="1350" b="0">
                <a:solidFill>
                  <a:srgbClr val="64696F"/>
                </a:solidFill>
                <a:latin typeface="Arial"/>
                <a:ea typeface="Arial"/>
                <a:cs typeface="Arial"/>
              </a:defRPr>
            </a:pPr>
            <a:r>
              <a:rPr sz="1350" b="0">
                <a:solidFill>
                  <a:srgbClr val="64696F"/>
                </a:solidFill>
                <a:latin typeface="Arial"/>
                <a:ea typeface="Arial"/>
                <a:cs typeface="Arial"/>
              </a:rPr>
              <a:t>Denny Garcia</a:t>
            </a:r>
          </a:p>
          <a:p xmlns:a="http://schemas.openxmlformats.org/drawingml/2006/main">
            <a:pPr algn="l">
              <a:defRPr sz="1350" b="0">
                <a:solidFill>
                  <a:srgbClr val="64696F"/>
                </a:solidFill>
                <a:latin typeface="Arial"/>
                <a:ea typeface="Arial"/>
                <a:cs typeface="Arial"/>
              </a:defRPr>
            </a:pPr>
            <a:r>
              <a:rPr sz="1350" b="0">
                <a:solidFill>
                  <a:srgbClr val="64696F"/>
                </a:solidFill>
                <a:latin typeface="Arial"/>
                <a:ea typeface="Arial"/>
                <a:cs typeface="Arial"/>
              </a:rPr>
              <a:t>September 2026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77ca2c0f43b4e2f"/>
          <a:srcRect xmlns:a="http://schemas.openxmlformats.org/drawingml/2006/main" l="11296" t="0" r="11296" b="0"/>
          <a:stretch xmlns:a="http://schemas.openxmlformats.org/drawingml/2006/main">
            <a:fillRect l="0" t="0" r="0" b="0"/>
          </a:stretch>
        </p:blipFill>
        <p:spPr>
          <a:xfrm xmlns:a="http://schemas.openxmlformats.org/drawingml/2006/main">
            <a:off x="8210550" y="0"/>
            <a:ext cx="3981450" cy="6858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B6C1506-DB68-4E9C-A5A4-8FD3EB5A74A0}"/>
              </a:ext>
            </a:extLst>
          </p:cNvPr>
          <p:cNvSpPr>
            <a:spLocks xmlns:a="http://schemas.openxmlformats.org/drawingml/2006/main" noGrp="1"/>
          </p:cNvSpPr>
          <p:nvPr/>
        </p:nvSpPr>
        <p:spPr>
          <a:xfrm xmlns:a="http://schemas.openxmlformats.org/drawingml/2006/main">
            <a:off x="8096250" y="0"/>
            <a:ext cx="114300" cy="6858000"/>
          </a:xfrm>
          <a:prstGeom xmlns:a="http://schemas.openxmlformats.org/drawingml/2006/main" prst="rect">
            <a:avLst/>
          </a:prstGeom>
          <a:solidFill xmlns:a="http://schemas.openxmlformats.org/drawingml/2006/main">
            <a:srgbClr val="BA1326"/>
          </a:solidFill>
          <a:ln xmlns:a="http://schemas.openxmlformats.org/drawingml/2006/main" w="0">
            <a:noFill/>
          </a:ln>
        </p:spPr>
      </p:sp>
    </p:spTree>
    <p:extLst>
      <p:ext uri="{BB962C8B-B14F-4D97-AF65-F5344CB8AC3E}">
        <p14:creationId xmlns:p14="http://schemas.microsoft.com/office/powerpoint/2010/main" val="5357856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E3ACBCD-E9CA-439B-AA2F-04F25D4FA6B1}"/>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Glinx starts with a practical first product">
            <a:extLst xmlns:a="http://schemas.openxmlformats.org/drawingml/2006/main">
              <a:ext uri="{FF2B5EF4-FFF2-40B4-BE49-F238E27FC236}">
                <a16:creationId xmlns:a16="http://schemas.microsoft.com/office/drawing/2014/main" id="{A03B6B7E-8CD5-4B85-A933-0DC57C8AFD8D}"/>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Glinx starts with a practical first product</a:t>
            </a:r>
          </a:p>
        </p:txBody>
      </p:sp>
      <p:sp>
        <p:nvSpPr>
          <p:cNvPr id="3" name="Company Discovery turns approved system recor">
            <a:extLst xmlns:a="http://schemas.openxmlformats.org/drawingml/2006/main">
              <a:ext uri="{FF2B5EF4-FFF2-40B4-BE49-F238E27FC236}">
                <a16:creationId xmlns:a16="http://schemas.microsoft.com/office/drawing/2014/main" id="{DFB2E67E-D753-4FE5-9B1B-979F88E61761}"/>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Company Discovery turns approved system records into a company inventory with evidence.</a:t>
            </a:r>
          </a:p>
        </p:txBody>
      </p:sp>
      <p:sp>
        <p:nvSpPr>
          <p:cNvPr id="4" name="">
            <a:extLst xmlns:a="http://schemas.openxmlformats.org/drawingml/2006/main">
              <a:ext uri="{FF2B5EF4-FFF2-40B4-BE49-F238E27FC236}">
                <a16:creationId xmlns:a16="http://schemas.microsoft.com/office/drawing/2014/main" id="{34B8EA62-5770-416D-82F0-A7D245927624}"/>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D4A7B75A-F5CA-4BDA-86B4-96A88135652F}"/>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2B4FBE0D-BE7B-4A6A-87BD-D75A7EF25825}"/>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02">
            <a:extLst xmlns:a="http://schemas.openxmlformats.org/drawingml/2006/main">
              <a:ext uri="{FF2B5EF4-FFF2-40B4-BE49-F238E27FC236}">
                <a16:creationId xmlns:a16="http://schemas.microsoft.com/office/drawing/2014/main" id="{947A8035-237A-436B-997D-07DF8D3EAF8D}"/>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02</a:t>
            </a:r>
          </a:p>
        </p:txBody>
      </p:sp>
      <p:sp>
        <p:nvSpPr>
          <p:cNvPr id="8" name="01">
            <a:extLst xmlns:a="http://schemas.openxmlformats.org/drawingml/2006/main">
              <a:ext uri="{FF2B5EF4-FFF2-40B4-BE49-F238E27FC236}">
                <a16:creationId xmlns:a16="http://schemas.microsoft.com/office/drawing/2014/main" id="{6E8A3F7E-E06A-418D-8A3B-71B2DD9A88A6}"/>
              </a:ext>
            </a:extLst>
          </p:cNvPr>
          <p:cNvSpPr>
            <a:spLocks xmlns:a="http://schemas.openxmlformats.org/drawingml/2006/main" noGrp="1"/>
          </p:cNvSpPr>
          <p:nvPr/>
        </p:nvSpPr>
        <p:spPr>
          <a:xfrm xmlns:a="http://schemas.openxmlformats.org/drawingml/2006/main">
            <a:off x="647700" y="22002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BA1326"/>
                </a:solidFill>
                <a:latin typeface="Arial"/>
                <a:ea typeface="Arial"/>
                <a:cs typeface="Arial"/>
              </a:defRPr>
            </a:pPr>
            <a:r>
              <a:rPr sz="2400" b="1">
                <a:solidFill>
                  <a:srgbClr val="BA1326"/>
                </a:solidFill>
                <a:latin typeface="Arial"/>
                <a:ea typeface="Arial"/>
                <a:cs typeface="Arial"/>
              </a:rPr>
              <a:t>01</a:t>
            </a:r>
          </a:p>
        </p:txBody>
      </p:sp>
      <p:sp>
        <p:nvSpPr>
          <p:cNvPr id="9" name="The customer problem">
            <a:extLst xmlns:a="http://schemas.openxmlformats.org/drawingml/2006/main">
              <a:ext uri="{FF2B5EF4-FFF2-40B4-BE49-F238E27FC236}">
                <a16:creationId xmlns:a16="http://schemas.microsoft.com/office/drawing/2014/main" id="{C2D7D703-E3D9-464A-BB98-F548BCC49371}"/>
              </a:ext>
            </a:extLst>
          </p:cNvPr>
          <p:cNvSpPr>
            <a:spLocks xmlns:a="http://schemas.openxmlformats.org/drawingml/2006/main" noGrp="1"/>
          </p:cNvSpPr>
          <p:nvPr/>
        </p:nvSpPr>
        <p:spPr>
          <a:xfrm xmlns:a="http://schemas.openxmlformats.org/drawingml/2006/main">
            <a:off x="1428750" y="22002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72B"/>
                </a:solidFill>
                <a:latin typeface="Arial"/>
                <a:ea typeface="Arial"/>
                <a:cs typeface="Arial"/>
              </a:defRPr>
            </a:pPr>
            <a:r>
              <a:rPr sz="2100" b="1">
                <a:solidFill>
                  <a:srgbClr val="25272B"/>
                </a:solidFill>
                <a:latin typeface="Arial"/>
                <a:ea typeface="Arial"/>
                <a:cs typeface="Arial"/>
              </a:rPr>
              <a:t>The customer problem</a:t>
            </a:r>
          </a:p>
        </p:txBody>
      </p:sp>
      <p:sp>
        <p:nvSpPr>
          <p:cNvPr id="10" name="Knowledge of company systems sits across IT r">
            <a:extLst xmlns:a="http://schemas.openxmlformats.org/drawingml/2006/main">
              <a:ext uri="{FF2B5EF4-FFF2-40B4-BE49-F238E27FC236}">
                <a16:creationId xmlns:a16="http://schemas.microsoft.com/office/drawing/2014/main" id="{C8F3DF4B-838A-4FB3-96A6-359ECAE89B94}"/>
              </a:ext>
            </a:extLst>
          </p:cNvPr>
          <p:cNvSpPr>
            <a:spLocks xmlns:a="http://schemas.openxmlformats.org/drawingml/2006/main" noGrp="1"/>
          </p:cNvSpPr>
          <p:nvPr/>
        </p:nvSpPr>
        <p:spPr>
          <a:xfrm xmlns:a="http://schemas.openxmlformats.org/drawingml/2006/main">
            <a:off x="5172075" y="2200275"/>
            <a:ext cx="63722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96F"/>
                </a:solidFill>
                <a:latin typeface="Arial"/>
                <a:ea typeface="Arial"/>
                <a:cs typeface="Arial"/>
              </a:defRPr>
            </a:pPr>
            <a:r>
              <a:rPr sz="1875" b="0">
                <a:solidFill>
                  <a:srgbClr val="64696F"/>
                </a:solidFill>
                <a:latin typeface="Arial"/>
                <a:ea typeface="Arial"/>
                <a:cs typeface="Arial"/>
              </a:rPr>
              <a:t>Knowledge of company systems sits across IT records, applications and individual people.</a:t>
            </a:r>
          </a:p>
        </p:txBody>
      </p:sp>
      <p:sp>
        <p:nvSpPr>
          <p:cNvPr id="11" name="">
            <a:extLst xmlns:a="http://schemas.openxmlformats.org/drawingml/2006/main">
              <a:ext uri="{FF2B5EF4-FFF2-40B4-BE49-F238E27FC236}">
                <a16:creationId xmlns:a16="http://schemas.microsoft.com/office/drawing/2014/main" id="{369538BD-C285-4E34-BDF5-9449D06BBE3A}"/>
              </a:ext>
            </a:extLst>
          </p:cNvPr>
          <p:cNvSpPr>
            <a:spLocks xmlns:a="http://schemas.openxmlformats.org/drawingml/2006/main" noGrp="1"/>
          </p:cNvSpPr>
          <p:nvPr/>
        </p:nvSpPr>
        <p:spPr>
          <a:xfrm xmlns:a="http://schemas.openxmlformats.org/drawingml/2006/main">
            <a:off x="647700" y="305752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12" name="02">
            <a:extLst xmlns:a="http://schemas.openxmlformats.org/drawingml/2006/main">
              <a:ext uri="{FF2B5EF4-FFF2-40B4-BE49-F238E27FC236}">
                <a16:creationId xmlns:a16="http://schemas.microsoft.com/office/drawing/2014/main" id="{13FB036E-F2D0-4A49-8962-D70D108BB0A1}"/>
              </a:ext>
            </a:extLst>
          </p:cNvPr>
          <p:cNvSpPr>
            <a:spLocks xmlns:a="http://schemas.openxmlformats.org/drawingml/2006/main" noGrp="1"/>
          </p:cNvSpPr>
          <p:nvPr/>
        </p:nvSpPr>
        <p:spPr>
          <a:xfrm xmlns:a="http://schemas.openxmlformats.org/drawingml/2006/main">
            <a:off x="647700" y="3190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BA1326"/>
                </a:solidFill>
                <a:latin typeface="Arial"/>
                <a:ea typeface="Arial"/>
                <a:cs typeface="Arial"/>
              </a:defRPr>
            </a:pPr>
            <a:r>
              <a:rPr sz="2400" b="1">
                <a:solidFill>
                  <a:srgbClr val="BA1326"/>
                </a:solidFill>
                <a:latin typeface="Arial"/>
                <a:ea typeface="Arial"/>
                <a:cs typeface="Arial"/>
              </a:rPr>
              <a:t>02</a:t>
            </a:r>
          </a:p>
        </p:txBody>
      </p:sp>
      <p:sp>
        <p:nvSpPr>
          <p:cNvPr id="13" name="The product today">
            <a:extLst xmlns:a="http://schemas.openxmlformats.org/drawingml/2006/main">
              <a:ext uri="{FF2B5EF4-FFF2-40B4-BE49-F238E27FC236}">
                <a16:creationId xmlns:a16="http://schemas.microsoft.com/office/drawing/2014/main" id="{E50BB84A-F77E-4EA4-9227-009879289F4E}"/>
              </a:ext>
            </a:extLst>
          </p:cNvPr>
          <p:cNvSpPr>
            <a:spLocks xmlns:a="http://schemas.openxmlformats.org/drawingml/2006/main" noGrp="1"/>
          </p:cNvSpPr>
          <p:nvPr/>
        </p:nvSpPr>
        <p:spPr>
          <a:xfrm xmlns:a="http://schemas.openxmlformats.org/drawingml/2006/main">
            <a:off x="1428750" y="31908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72B"/>
                </a:solidFill>
                <a:latin typeface="Arial"/>
                <a:ea typeface="Arial"/>
                <a:cs typeface="Arial"/>
              </a:defRPr>
            </a:pPr>
            <a:r>
              <a:rPr sz="2100" b="1">
                <a:solidFill>
                  <a:srgbClr val="25272B"/>
                </a:solidFill>
                <a:latin typeface="Arial"/>
                <a:ea typeface="Arial"/>
                <a:cs typeface="Arial"/>
              </a:rPr>
              <a:t>The product today</a:t>
            </a:r>
          </a:p>
        </p:txBody>
      </p:sp>
      <p:sp>
        <p:nvSpPr>
          <p:cNvPr id="14" name="An owner installs a local agent, enables sour">
            <a:extLst xmlns:a="http://schemas.openxmlformats.org/drawingml/2006/main">
              <a:ext uri="{FF2B5EF4-FFF2-40B4-BE49-F238E27FC236}">
                <a16:creationId xmlns:a16="http://schemas.microsoft.com/office/drawing/2014/main" id="{1FE0AB98-A2C6-4A63-AD24-ABD9D526363F}"/>
              </a:ext>
            </a:extLst>
          </p:cNvPr>
          <p:cNvSpPr>
            <a:spLocks xmlns:a="http://schemas.openxmlformats.org/drawingml/2006/main" noGrp="1"/>
          </p:cNvSpPr>
          <p:nvPr/>
        </p:nvSpPr>
        <p:spPr>
          <a:xfrm xmlns:a="http://schemas.openxmlformats.org/drawingml/2006/main">
            <a:off x="5172075" y="3190875"/>
            <a:ext cx="63722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96F"/>
                </a:solidFill>
                <a:latin typeface="Arial"/>
                <a:ea typeface="Arial"/>
                <a:cs typeface="Arial"/>
              </a:defRPr>
            </a:pPr>
            <a:r>
              <a:rPr sz="1875" b="0">
                <a:solidFill>
                  <a:srgbClr val="64696F"/>
                </a:solidFill>
                <a:latin typeface="Arial"/>
                <a:ea typeface="Arial"/>
                <a:cs typeface="Arial"/>
              </a:rPr>
              <a:t>An owner installs a local agent, enables sources and reviews the resulting systems and gaps.</a:t>
            </a:r>
          </a:p>
        </p:txBody>
      </p:sp>
      <p:sp>
        <p:nvSpPr>
          <p:cNvPr id="15" name="">
            <a:extLst xmlns:a="http://schemas.openxmlformats.org/drawingml/2006/main">
              <a:ext uri="{FF2B5EF4-FFF2-40B4-BE49-F238E27FC236}">
                <a16:creationId xmlns:a16="http://schemas.microsoft.com/office/drawing/2014/main" id="{EACD8264-D69D-48C8-BDC1-E890F0ADB281}"/>
              </a:ext>
            </a:extLst>
          </p:cNvPr>
          <p:cNvSpPr>
            <a:spLocks xmlns:a="http://schemas.openxmlformats.org/drawingml/2006/main" noGrp="1"/>
          </p:cNvSpPr>
          <p:nvPr/>
        </p:nvSpPr>
        <p:spPr>
          <a:xfrm xmlns:a="http://schemas.openxmlformats.org/drawingml/2006/main">
            <a:off x="647700" y="404812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16" name="03">
            <a:extLst xmlns:a="http://schemas.openxmlformats.org/drawingml/2006/main">
              <a:ext uri="{FF2B5EF4-FFF2-40B4-BE49-F238E27FC236}">
                <a16:creationId xmlns:a16="http://schemas.microsoft.com/office/drawing/2014/main" id="{2319126C-76A4-43B8-A764-C5AE3EE24C1D}"/>
              </a:ext>
            </a:extLst>
          </p:cNvPr>
          <p:cNvSpPr>
            <a:spLocks xmlns:a="http://schemas.openxmlformats.org/drawingml/2006/main" noGrp="1"/>
          </p:cNvSpPr>
          <p:nvPr/>
        </p:nvSpPr>
        <p:spPr>
          <a:xfrm xmlns:a="http://schemas.openxmlformats.org/drawingml/2006/main">
            <a:off x="647700" y="41814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BA1326"/>
                </a:solidFill>
                <a:latin typeface="Arial"/>
                <a:ea typeface="Arial"/>
                <a:cs typeface="Arial"/>
              </a:defRPr>
            </a:pPr>
            <a:r>
              <a:rPr sz="2400" b="1">
                <a:solidFill>
                  <a:srgbClr val="BA1326"/>
                </a:solidFill>
                <a:latin typeface="Arial"/>
                <a:ea typeface="Arial"/>
                <a:cs typeface="Arial"/>
              </a:rPr>
              <a:t>03</a:t>
            </a:r>
          </a:p>
        </p:txBody>
      </p:sp>
      <p:sp>
        <p:nvSpPr>
          <p:cNvPr id="17" name="The proof today">
            <a:extLst xmlns:a="http://schemas.openxmlformats.org/drawingml/2006/main">
              <a:ext uri="{FF2B5EF4-FFF2-40B4-BE49-F238E27FC236}">
                <a16:creationId xmlns:a16="http://schemas.microsoft.com/office/drawing/2014/main" id="{0E28F822-CCDA-4B0E-B9D8-7F82BE8AA561}"/>
              </a:ext>
            </a:extLst>
          </p:cNvPr>
          <p:cNvSpPr>
            <a:spLocks xmlns:a="http://schemas.openxmlformats.org/drawingml/2006/main" noGrp="1"/>
          </p:cNvSpPr>
          <p:nvPr/>
        </p:nvSpPr>
        <p:spPr>
          <a:xfrm xmlns:a="http://schemas.openxmlformats.org/drawingml/2006/main">
            <a:off x="1428750" y="41814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72B"/>
                </a:solidFill>
                <a:latin typeface="Arial"/>
                <a:ea typeface="Arial"/>
                <a:cs typeface="Arial"/>
              </a:defRPr>
            </a:pPr>
            <a:r>
              <a:rPr sz="2100" b="1">
                <a:solidFill>
                  <a:srgbClr val="25272B"/>
                </a:solidFill>
                <a:latin typeface="Arial"/>
                <a:ea typeface="Arial"/>
                <a:cs typeface="Arial"/>
              </a:rPr>
              <a:t>The proof today</a:t>
            </a:r>
          </a:p>
        </p:txBody>
      </p:sp>
      <p:sp>
        <p:nvSpPr>
          <p:cNvPr id="18" name="The discovery pipeline and viewer work. Local">
            <a:extLst xmlns:a="http://schemas.openxmlformats.org/drawingml/2006/main">
              <a:ext uri="{FF2B5EF4-FFF2-40B4-BE49-F238E27FC236}">
                <a16:creationId xmlns:a16="http://schemas.microsoft.com/office/drawing/2014/main" id="{8FA4B795-0FAA-4E17-901D-8AC15AE77C16}"/>
              </a:ext>
            </a:extLst>
          </p:cNvPr>
          <p:cNvSpPr>
            <a:spLocks xmlns:a="http://schemas.openxmlformats.org/drawingml/2006/main" noGrp="1"/>
          </p:cNvSpPr>
          <p:nvPr/>
        </p:nvSpPr>
        <p:spPr>
          <a:xfrm xmlns:a="http://schemas.openxmlformats.org/drawingml/2006/main">
            <a:off x="5172075" y="4181475"/>
            <a:ext cx="63722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96F"/>
                </a:solidFill>
                <a:latin typeface="Arial"/>
                <a:ea typeface="Arial"/>
                <a:cs typeface="Arial"/>
              </a:defRPr>
            </a:pPr>
            <a:r>
              <a:rPr sz="1875" b="0">
                <a:solidFill>
                  <a:srgbClr val="64696F"/>
                </a:solidFill>
                <a:latin typeface="Arial"/>
                <a:ea typeface="Arial"/>
                <a:cs typeface="Arial"/>
              </a:rPr>
              <a:t>The discovery pipeline and viewer work. Local validation includes 24 automated tests.</a:t>
            </a:r>
          </a:p>
        </p:txBody>
      </p:sp>
      <p:sp>
        <p:nvSpPr>
          <p:cNvPr id="19" name="">
            <a:extLst xmlns:a="http://schemas.openxmlformats.org/drawingml/2006/main">
              <a:ext uri="{FF2B5EF4-FFF2-40B4-BE49-F238E27FC236}">
                <a16:creationId xmlns:a16="http://schemas.microsoft.com/office/drawing/2014/main" id="{A306E697-17CE-42F0-8A89-EB3E061B4392}"/>
              </a:ext>
            </a:extLst>
          </p:cNvPr>
          <p:cNvSpPr>
            <a:spLocks xmlns:a="http://schemas.openxmlformats.org/drawingml/2006/main" noGrp="1"/>
          </p:cNvSpPr>
          <p:nvPr/>
        </p:nvSpPr>
        <p:spPr>
          <a:xfrm xmlns:a="http://schemas.openxmlformats.org/drawingml/2006/main">
            <a:off x="647700" y="503872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20" name="NEXT PROOF POINT">
            <a:extLst xmlns:a="http://schemas.openxmlformats.org/drawingml/2006/main">
              <a:ext uri="{FF2B5EF4-FFF2-40B4-BE49-F238E27FC236}">
                <a16:creationId xmlns:a16="http://schemas.microsoft.com/office/drawing/2014/main" id="{44E00407-14A6-4F44-9C55-9A73AB13F7A2}"/>
              </a:ext>
            </a:extLst>
          </p:cNvPr>
          <p:cNvSpPr>
            <a:spLocks xmlns:a="http://schemas.openxmlformats.org/drawingml/2006/main" noGrp="1"/>
          </p:cNvSpPr>
          <p:nvPr/>
        </p:nvSpPr>
        <p:spPr>
          <a:xfrm xmlns:a="http://schemas.openxmlformats.org/drawingml/2006/main">
            <a:off x="647700" y="547687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BA1326"/>
                </a:solidFill>
                <a:latin typeface="Arial"/>
                <a:ea typeface="Arial"/>
                <a:cs typeface="Arial"/>
              </a:defRPr>
            </a:pPr>
            <a:r>
              <a:rPr sz="1425" b="1">
                <a:solidFill>
                  <a:srgbClr val="BA1326"/>
                </a:solidFill>
                <a:latin typeface="Arial"/>
                <a:ea typeface="Arial"/>
                <a:cs typeface="Arial"/>
              </a:rPr>
              <a:t>NEXT PROOF POINT</a:t>
            </a:r>
          </a:p>
        </p:txBody>
      </p:sp>
      <p:sp>
        <p:nvSpPr>
          <p:cNvPr id="21" name="A company-approved pilot that validates accur">
            <a:extLst xmlns:a="http://schemas.openxmlformats.org/drawingml/2006/main">
              <a:ext uri="{FF2B5EF4-FFF2-40B4-BE49-F238E27FC236}">
                <a16:creationId xmlns:a16="http://schemas.microsoft.com/office/drawing/2014/main" id="{FF1CEDCE-E4FA-43DF-9145-6D162109AAD1}"/>
              </a:ext>
            </a:extLst>
          </p:cNvPr>
          <p:cNvSpPr>
            <a:spLocks xmlns:a="http://schemas.openxmlformats.org/drawingml/2006/main" noGrp="1"/>
          </p:cNvSpPr>
          <p:nvPr/>
        </p:nvSpPr>
        <p:spPr>
          <a:xfrm xmlns:a="http://schemas.openxmlformats.org/drawingml/2006/main">
            <a:off x="3562350" y="5467350"/>
            <a:ext cx="7981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72B"/>
                </a:solidFill>
                <a:latin typeface="Arial"/>
                <a:ea typeface="Arial"/>
                <a:cs typeface="Arial"/>
              </a:defRPr>
            </a:pPr>
            <a:r>
              <a:rPr sz="2100" b="1">
                <a:solidFill>
                  <a:srgbClr val="25272B"/>
                </a:solidFill>
                <a:latin typeface="Arial"/>
                <a:ea typeface="Arial"/>
                <a:cs typeface="Arial"/>
              </a:rPr>
              <a:t>A company-approved pilot that validates accuracy and customer value</a:t>
            </a:r>
          </a:p>
        </p:txBody>
      </p:sp>
    </p:spTree>
    <p:extLst>
      <p:ext uri="{BB962C8B-B14F-4D97-AF65-F5344CB8AC3E}">
        <p14:creationId xmlns:p14="http://schemas.microsoft.com/office/powerpoint/2010/main" val="5619551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B77D44-82D4-4626-A5DE-FEB4C5BE0044}"/>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Leaders need a reliable map before they can a">
            <a:extLst xmlns:a="http://schemas.openxmlformats.org/drawingml/2006/main">
              <a:ext uri="{FF2B5EF4-FFF2-40B4-BE49-F238E27FC236}">
                <a16:creationId xmlns:a16="http://schemas.microsoft.com/office/drawing/2014/main" id="{57A506C0-9A27-481A-9DB4-AFBB03B6D2AB}"/>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Leaders need a reliable map before they can automate</a:t>
            </a:r>
          </a:p>
        </p:txBody>
      </p:sp>
      <p:sp>
        <p:nvSpPr>
          <p:cNvPr id="3" name="Product thesis: decisions improve when the bu">
            <a:extLst xmlns:a="http://schemas.openxmlformats.org/drawingml/2006/main">
              <a:ext uri="{FF2B5EF4-FFF2-40B4-BE49-F238E27FC236}">
                <a16:creationId xmlns:a16="http://schemas.microsoft.com/office/drawing/2014/main" id="{F88B641D-467A-410B-811C-4106AC2E0EEE}"/>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Product thesis: decisions improve when the business can explain its systems and their role.</a:t>
            </a:r>
          </a:p>
        </p:txBody>
      </p:sp>
      <p:sp>
        <p:nvSpPr>
          <p:cNvPr id="4" name="">
            <a:extLst xmlns:a="http://schemas.openxmlformats.org/drawingml/2006/main">
              <a:ext uri="{FF2B5EF4-FFF2-40B4-BE49-F238E27FC236}">
                <a16:creationId xmlns:a16="http://schemas.microsoft.com/office/drawing/2014/main" id="{6BF80CDB-4182-46FC-9F94-16B5D500B301}"/>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3BA92D9D-93A5-462C-9F16-C29BEA9AAD84}"/>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B9A37A19-699D-45BA-938C-D65D5588C598}"/>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03">
            <a:extLst xmlns:a="http://schemas.openxmlformats.org/drawingml/2006/main">
              <a:ext uri="{FF2B5EF4-FFF2-40B4-BE49-F238E27FC236}">
                <a16:creationId xmlns:a16="http://schemas.microsoft.com/office/drawing/2014/main" id="{72C838CE-5A4A-43C1-859A-B59B27567B38}"/>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03</a:t>
            </a:r>
          </a:p>
        </p:txBody>
      </p:sp>
      <p:graphicFrame>
        <p:nvGraphicFramePr>
          <p:cNvPr id="18" name=""/>
          <p:cNvGraphicFramePr/>
          <p:nvPr/>
        </p:nvGraphicFramePr>
        <p:xfrm>
          <a:off xmlns:a="http://schemas.openxmlformats.org/drawingml/2006/main" x="647700" y="2133600"/>
          <a:ext xmlns:a="http://schemas.openxmlformats.org/drawingml/2006/main" cx="10896600" cy="3352800"/>
        </p:xfrm>
        <a:graphic xmlns:a="http://schemas.openxmlformats.org/drawingml/2006/main">
          <a:graphicData uri="http://schemas.openxmlformats.org/drawingml/2006/table">
            <a:tbl>
              <a:tblPr firstRow="0" bandRow="0"/>
              <a:tblGrid>
                <a:gridCol w="4667250"/>
                <a:gridCol w="6229350"/>
              </a:tblGrid>
              <a:tr h="495300">
                <a:tc>
                  <a:txBody>
                    <a:bodyPr wrap="square" lIns="123825" tIns="85725" rIns="123825" bIns="85725">
                      <a:noAutofit/>
                    </a:bodyPr>
                    <a:lstStyle/>
                    <a:p>
                      <a:r>
                        <a:rPr sz="1500" b="1">
                          <a:solidFill>
                            <a:srgbClr val="FFFFFF"/>
                          </a:solidFill>
                          <a:latin typeface="Arial"/>
                          <a:ea typeface="Arial"/>
                          <a:cs typeface="Arial"/>
                        </a:rPr>
                        <a:t>Question an owner needs answered</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Why the answer matters</a:t>
                      </a:r>
                    </a:p>
                  </a:txBody>
                  <a:tcPr marL="91440" marR="91440" marT="45720" marB="45720" anchor="ctr">
                    <a:solidFill>
                      <a:srgbClr val="25272B"/>
                    </a:solidFill>
                  </a:tcPr>
                </a:tc>
              </a:tr>
              <a:tr h="714375">
                <a:tc>
                  <a:txBody>
                    <a:bodyPr wrap="square" lIns="123825" tIns="85725" rIns="123825" bIns="85725">
                      <a:noAutofit/>
                    </a:bodyPr>
                    <a:lstStyle/>
                    <a:p>
                      <a:r>
                        <a:rPr sz="1875" b="1">
                          <a:solidFill>
                            <a:srgbClr val="25272B"/>
                          </a:solidFill>
                          <a:latin typeface="Arial"/>
                          <a:ea typeface="Arial"/>
                          <a:cs typeface="Arial"/>
                        </a:rPr>
                        <a:t>Which systems run the business?</a:t>
                      </a:r>
                    </a:p>
                  </a:txBody>
                  <a:tcPr marL="91440" marR="91440" marT="45720" marB="45720" anchor="ctr">
                    <a:solidFill>
                      <a:srgbClr val="FFFFFF"/>
                    </a:solidFill>
                  </a:tcPr>
                </a:tc>
                <a:tc>
                  <a:txBody>
                    <a:bodyPr wrap="square" lIns="123825" tIns="85725" rIns="123825" bIns="85725">
                      <a:noAutofit/>
                    </a:bodyPr>
                    <a:lstStyle/>
                    <a:p>
                      <a:r>
                        <a:rPr sz="1875" b="0">
                          <a:solidFill>
                            <a:srgbClr val="25272B"/>
                          </a:solidFill>
                          <a:latin typeface="Arial"/>
                          <a:ea typeface="Arial"/>
                          <a:cs typeface="Arial"/>
                        </a:rPr>
                        <a:t>Establish a shared starting point for process and technology decisions.</a:t>
                      </a:r>
                    </a:p>
                  </a:txBody>
                  <a:tcPr marL="91440" marR="91440" marT="45720" marB="45720" anchor="ctr">
                    <a:solidFill>
                      <a:srgbClr val="FFFFFF"/>
                    </a:solidFill>
                  </a:tcPr>
                </a:tc>
              </a:tr>
              <a:tr h="714375">
                <a:tc>
                  <a:txBody>
                    <a:bodyPr wrap="square" lIns="123825" tIns="85725" rIns="123825" bIns="85725">
                      <a:noAutofit/>
                    </a:bodyPr>
                    <a:lstStyle/>
                    <a:p>
                      <a:r>
                        <a:rPr sz="1875" b="1">
                          <a:solidFill>
                            <a:srgbClr val="25272B"/>
                          </a:solidFill>
                          <a:latin typeface="Arial"/>
                          <a:ea typeface="Arial"/>
                          <a:cs typeface="Arial"/>
                        </a:rPr>
                        <a:t>Who owns each system?</a:t>
                      </a:r>
                    </a:p>
                  </a:txBody>
                  <a:tcPr marL="91440" marR="91440" marT="45720" marB="45720" anchor="ctr">
                    <a:solidFill>
                      <a:srgbClr val="F3F4F5"/>
                    </a:solidFill>
                  </a:tcPr>
                </a:tc>
                <a:tc>
                  <a:txBody>
                    <a:bodyPr wrap="square" lIns="123825" tIns="85725" rIns="123825" bIns="85725">
                      <a:noAutofit/>
                    </a:bodyPr>
                    <a:lstStyle/>
                    <a:p>
                      <a:r>
                        <a:rPr sz="1875" b="0">
                          <a:solidFill>
                            <a:srgbClr val="25272B"/>
                          </a:solidFill>
                          <a:latin typeface="Arial"/>
                          <a:ea typeface="Arial"/>
                          <a:cs typeface="Arial"/>
                        </a:rPr>
                        <a:t>Identify the people who can explain its purpose and approve access.</a:t>
                      </a:r>
                    </a:p>
                  </a:txBody>
                  <a:tcPr marL="91440" marR="91440" marT="45720" marB="45720" anchor="ctr">
                    <a:solidFill>
                      <a:srgbClr val="F3F4F5"/>
                    </a:solidFill>
                  </a:tcPr>
                </a:tc>
              </a:tr>
              <a:tr h="714375">
                <a:tc>
                  <a:txBody>
                    <a:bodyPr wrap="square" lIns="123825" tIns="85725" rIns="123825" bIns="85725">
                      <a:noAutofit/>
                    </a:bodyPr>
                    <a:lstStyle/>
                    <a:p>
                      <a:r>
                        <a:rPr sz="1875" b="1">
                          <a:solidFill>
                            <a:srgbClr val="25272B"/>
                          </a:solidFill>
                          <a:latin typeface="Arial"/>
                          <a:ea typeface="Arial"/>
                          <a:cs typeface="Arial"/>
                        </a:rPr>
                        <a:t>How do systems exchange information?</a:t>
                      </a:r>
                    </a:p>
                  </a:txBody>
                  <a:tcPr marL="91440" marR="91440" marT="45720" marB="45720" anchor="ctr">
                    <a:solidFill>
                      <a:srgbClr val="FFFFFF"/>
                    </a:solidFill>
                  </a:tcPr>
                </a:tc>
                <a:tc>
                  <a:txBody>
                    <a:bodyPr wrap="square" lIns="123825" tIns="85725" rIns="123825" bIns="85725">
                      <a:noAutofit/>
                    </a:bodyPr>
                    <a:lstStyle/>
                    <a:p>
                      <a:r>
                        <a:rPr sz="1875" b="0">
                          <a:solidFill>
                            <a:srgbClr val="25272B"/>
                          </a:solidFill>
                          <a:latin typeface="Arial"/>
                          <a:ea typeface="Arial"/>
                          <a:cs typeface="Arial"/>
                        </a:rPr>
                        <a:t>Find the handoffs that deserve closer investigation.</a:t>
                      </a:r>
                    </a:p>
                  </a:txBody>
                  <a:tcPr marL="91440" marR="91440" marT="45720" marB="45720" anchor="ctr">
                    <a:solidFill>
                      <a:srgbClr val="FFFFFF"/>
                    </a:solidFill>
                  </a:tcPr>
                </a:tc>
              </a:tr>
              <a:tr h="714375">
                <a:tc>
                  <a:txBody>
                    <a:bodyPr wrap="square" lIns="123825" tIns="85725" rIns="123825" bIns="85725">
                      <a:noAutofit/>
                    </a:bodyPr>
                    <a:lstStyle/>
                    <a:p>
                      <a:r>
                        <a:rPr sz="1875" b="1">
                          <a:solidFill>
                            <a:srgbClr val="25272B"/>
                          </a:solidFill>
                          <a:latin typeface="Arial"/>
                          <a:ea typeface="Arial"/>
                          <a:cs typeface="Arial"/>
                        </a:rPr>
                        <a:t>What remains outside our view?</a:t>
                      </a:r>
                    </a:p>
                  </a:txBody>
                  <a:tcPr marL="91440" marR="91440" marT="45720" marB="45720" anchor="ctr">
                    <a:solidFill>
                      <a:srgbClr val="F3F4F5"/>
                    </a:solidFill>
                  </a:tcPr>
                </a:tc>
                <a:tc>
                  <a:txBody>
                    <a:bodyPr wrap="square" lIns="123825" tIns="85725" rIns="123825" bIns="85725">
                      <a:noAutofit/>
                    </a:bodyPr>
                    <a:lstStyle/>
                    <a:p>
                      <a:r>
                        <a:rPr sz="1875" b="0">
                          <a:solidFill>
                            <a:srgbClr val="25272B"/>
                          </a:solidFill>
                          <a:latin typeface="Arial"/>
                          <a:ea typeface="Arial"/>
                          <a:cs typeface="Arial"/>
                        </a:rPr>
                        <a:t>Recognize the limits of the current inventory before acting on it.</a:t>
                      </a:r>
                    </a:p>
                  </a:txBody>
                  <a:tcPr marL="91440" marR="91440" marT="45720" marB="45720" anchor="ctr">
                    <a:solidFill>
                      <a:srgbClr val="F3F4F5"/>
                    </a:solidFill>
                  </a:tcPr>
                </a:tc>
              </a:tr>
            </a:tbl>
          </a:graphicData>
        </a:graphic>
      </p:graphicFrame>
      <p:sp>
        <p:nvSpPr>
          <p:cNvPr id="9" name="">
            <a:extLst xmlns:a="http://schemas.openxmlformats.org/drawingml/2006/main">
              <a:ext uri="{FF2B5EF4-FFF2-40B4-BE49-F238E27FC236}">
                <a16:creationId xmlns:a16="http://schemas.microsoft.com/office/drawing/2014/main" id="{21B0C1A9-027A-41C3-97A6-D723DD17D34A}"/>
              </a:ext>
            </a:extLst>
          </p:cNvPr>
          <p:cNvSpPr>
            <a:spLocks xmlns:a="http://schemas.openxmlformats.org/drawingml/2006/main" noGrp="1"/>
          </p:cNvSpPr>
          <p:nvPr/>
        </p:nvSpPr>
        <p:spPr>
          <a:xfrm xmlns:a="http://schemas.openxmlformats.org/drawingml/2006/main">
            <a:off x="647700" y="5705475"/>
            <a:ext cx="47625" cy="495300"/>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10" name="Company Discovery makes these questions expli">
            <a:extLst xmlns:a="http://schemas.openxmlformats.org/drawingml/2006/main">
              <a:ext uri="{FF2B5EF4-FFF2-40B4-BE49-F238E27FC236}">
                <a16:creationId xmlns:a16="http://schemas.microsoft.com/office/drawing/2014/main" id="{B4904B09-E26F-4F2D-A198-60B2EFC2B013}"/>
              </a:ext>
            </a:extLst>
          </p:cNvPr>
          <p:cNvSpPr>
            <a:spLocks xmlns:a="http://schemas.openxmlformats.org/drawingml/2006/main" noGrp="1"/>
          </p:cNvSpPr>
          <p:nvPr/>
        </p:nvSpPr>
        <p:spPr>
          <a:xfrm xmlns:a="http://schemas.openxmlformats.org/drawingml/2006/main">
            <a:off x="838200" y="5743575"/>
            <a:ext cx="1068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5272B"/>
                </a:solidFill>
                <a:latin typeface="Arial"/>
                <a:ea typeface="Arial"/>
                <a:cs typeface="Arial"/>
              </a:defRPr>
            </a:pPr>
            <a:r>
              <a:rPr sz="1800" b="1">
                <a:solidFill>
                  <a:srgbClr val="25272B"/>
                </a:solidFill>
                <a:latin typeface="Arial"/>
                <a:ea typeface="Arial"/>
                <a:cs typeface="Arial"/>
              </a:rPr>
              <a:t>Company Discovery makes these questions explicit and traceable</a:t>
            </a:r>
          </a:p>
        </p:txBody>
      </p:sp>
    </p:spTree>
    <p:extLst>
      <p:ext uri="{BB962C8B-B14F-4D97-AF65-F5344CB8AC3E}">
        <p14:creationId xmlns:p14="http://schemas.microsoft.com/office/powerpoint/2010/main" val="17670980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7682001-E684-4FF3-856B-EBDB40B273F5}"/>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The owner defines the scope of discovery">
            <a:extLst xmlns:a="http://schemas.openxmlformats.org/drawingml/2006/main">
              <a:ext uri="{FF2B5EF4-FFF2-40B4-BE49-F238E27FC236}">
                <a16:creationId xmlns:a16="http://schemas.microsoft.com/office/drawing/2014/main" id="{FFDC2D29-76BF-4419-A300-70B09E779D79}"/>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The owner defines the scope of discovery</a:t>
            </a:r>
          </a:p>
        </p:txBody>
      </p:sp>
      <p:sp>
        <p:nvSpPr>
          <p:cNvPr id="3" name="The current product follows a simple, repeata">
            <a:extLst xmlns:a="http://schemas.openxmlformats.org/drawingml/2006/main">
              <a:ext uri="{FF2B5EF4-FFF2-40B4-BE49-F238E27FC236}">
                <a16:creationId xmlns:a16="http://schemas.microsoft.com/office/drawing/2014/main" id="{AFAB3C59-A657-40F7-8500-ACC29436CCC4}"/>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The current product follows a simple, repeatable workflow.</a:t>
            </a:r>
          </a:p>
        </p:txBody>
      </p:sp>
      <p:sp>
        <p:nvSpPr>
          <p:cNvPr id="4" name="">
            <a:extLst xmlns:a="http://schemas.openxmlformats.org/drawingml/2006/main">
              <a:ext uri="{FF2B5EF4-FFF2-40B4-BE49-F238E27FC236}">
                <a16:creationId xmlns:a16="http://schemas.microsoft.com/office/drawing/2014/main" id="{3CEFD02E-A11D-4196-89B8-D7CC996554C4}"/>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F40D6189-509D-444F-9A47-66871240FD46}"/>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70020F2E-F3C3-4833-B728-FAD3221CA663}"/>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04">
            <a:extLst xmlns:a="http://schemas.openxmlformats.org/drawingml/2006/main">
              <a:ext uri="{FF2B5EF4-FFF2-40B4-BE49-F238E27FC236}">
                <a16:creationId xmlns:a16="http://schemas.microsoft.com/office/drawing/2014/main" id="{D9243FD1-615A-4EC6-8AC9-57604E1F5CB4}"/>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04</a:t>
            </a:r>
          </a:p>
        </p:txBody>
      </p:sp>
      <p:sp>
        <p:nvSpPr>
          <p:cNvPr id="8" name="01">
            <a:extLst xmlns:a="http://schemas.openxmlformats.org/drawingml/2006/main">
              <a:ext uri="{FF2B5EF4-FFF2-40B4-BE49-F238E27FC236}">
                <a16:creationId xmlns:a16="http://schemas.microsoft.com/office/drawing/2014/main" id="{210D4E6F-476F-405D-A48E-10D7CAC79B18}"/>
              </a:ext>
            </a:extLst>
          </p:cNvPr>
          <p:cNvSpPr>
            <a:spLocks xmlns:a="http://schemas.openxmlformats.org/drawingml/2006/main" noGrp="1"/>
          </p:cNvSpPr>
          <p:nvPr/>
        </p:nvSpPr>
        <p:spPr>
          <a:xfrm xmlns:a="http://schemas.openxmlformats.org/drawingml/2006/main">
            <a:off x="647700" y="21336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BA1326"/>
                </a:solidFill>
                <a:latin typeface="Arial"/>
                <a:ea typeface="Arial"/>
                <a:cs typeface="Arial"/>
              </a:defRPr>
            </a:pPr>
            <a:r>
              <a:rPr sz="2400" b="1">
                <a:solidFill>
                  <a:srgbClr val="BA1326"/>
                </a:solidFill>
                <a:latin typeface="Arial"/>
                <a:ea typeface="Arial"/>
                <a:cs typeface="Arial"/>
              </a:rPr>
              <a:t>01</a:t>
            </a:r>
          </a:p>
        </p:txBody>
      </p:sp>
      <p:sp>
        <p:nvSpPr>
          <p:cNvPr id="9" name="Install the agent">
            <a:extLst xmlns:a="http://schemas.openxmlformats.org/drawingml/2006/main">
              <a:ext uri="{FF2B5EF4-FFF2-40B4-BE49-F238E27FC236}">
                <a16:creationId xmlns:a16="http://schemas.microsoft.com/office/drawing/2014/main" id="{B7971DD1-C949-4C59-9493-0A11AD1A8AC7}"/>
              </a:ext>
            </a:extLst>
          </p:cNvPr>
          <p:cNvSpPr>
            <a:spLocks xmlns:a="http://schemas.openxmlformats.org/drawingml/2006/main" noGrp="1"/>
          </p:cNvSpPr>
          <p:nvPr/>
        </p:nvSpPr>
        <p:spPr>
          <a:xfrm xmlns:a="http://schemas.openxmlformats.org/drawingml/2006/main">
            <a:off x="1428750" y="21336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72B"/>
                </a:solidFill>
                <a:latin typeface="Arial"/>
                <a:ea typeface="Arial"/>
                <a:cs typeface="Arial"/>
              </a:defRPr>
            </a:pPr>
            <a:r>
              <a:rPr sz="2100" b="1">
                <a:solidFill>
                  <a:srgbClr val="25272B"/>
                </a:solidFill>
                <a:latin typeface="Arial"/>
                <a:ea typeface="Arial"/>
                <a:cs typeface="Arial"/>
              </a:rPr>
              <a:t>Install the agent</a:t>
            </a:r>
          </a:p>
        </p:txBody>
      </p:sp>
      <p:sp>
        <p:nvSpPr>
          <p:cNvPr id="10" name="Run the Python package on a company-controlle">
            <a:extLst xmlns:a="http://schemas.openxmlformats.org/drawingml/2006/main">
              <a:ext uri="{FF2B5EF4-FFF2-40B4-BE49-F238E27FC236}">
                <a16:creationId xmlns:a16="http://schemas.microsoft.com/office/drawing/2014/main" id="{DA4B8B9A-2526-486B-89F5-983AD9C904DD}"/>
              </a:ext>
            </a:extLst>
          </p:cNvPr>
          <p:cNvSpPr>
            <a:spLocks xmlns:a="http://schemas.openxmlformats.org/drawingml/2006/main" noGrp="1"/>
          </p:cNvSpPr>
          <p:nvPr/>
        </p:nvSpPr>
        <p:spPr>
          <a:xfrm xmlns:a="http://schemas.openxmlformats.org/drawingml/2006/main">
            <a:off x="5219700" y="2133600"/>
            <a:ext cx="6324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96F"/>
                </a:solidFill>
                <a:latin typeface="Arial"/>
                <a:ea typeface="Arial"/>
                <a:cs typeface="Arial"/>
              </a:defRPr>
            </a:pPr>
            <a:r>
              <a:rPr sz="1875" b="0">
                <a:solidFill>
                  <a:srgbClr val="64696F"/>
                </a:solidFill>
                <a:latin typeface="Arial"/>
                <a:ea typeface="Arial"/>
                <a:cs typeface="Arial"/>
              </a:rPr>
              <a:t>Run the Python package on a company-controlled computer.</a:t>
            </a:r>
          </a:p>
        </p:txBody>
      </p:sp>
      <p:sp>
        <p:nvSpPr>
          <p:cNvPr id="11" name="">
            <a:extLst xmlns:a="http://schemas.openxmlformats.org/drawingml/2006/main">
              <a:ext uri="{FF2B5EF4-FFF2-40B4-BE49-F238E27FC236}">
                <a16:creationId xmlns:a16="http://schemas.microsoft.com/office/drawing/2014/main" id="{146A6C32-FFE4-4919-931D-3DB5E24FC205}"/>
              </a:ext>
            </a:extLst>
          </p:cNvPr>
          <p:cNvSpPr>
            <a:spLocks xmlns:a="http://schemas.openxmlformats.org/drawingml/2006/main" noGrp="1"/>
          </p:cNvSpPr>
          <p:nvPr/>
        </p:nvSpPr>
        <p:spPr>
          <a:xfrm xmlns:a="http://schemas.openxmlformats.org/drawingml/2006/main">
            <a:off x="647700" y="2990850"/>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12" name="02">
            <a:extLst xmlns:a="http://schemas.openxmlformats.org/drawingml/2006/main">
              <a:ext uri="{FF2B5EF4-FFF2-40B4-BE49-F238E27FC236}">
                <a16:creationId xmlns:a16="http://schemas.microsoft.com/office/drawing/2014/main" id="{B8555BCF-5CB8-4D80-94A8-9CCFADF9A729}"/>
              </a:ext>
            </a:extLst>
          </p:cNvPr>
          <p:cNvSpPr>
            <a:spLocks xmlns:a="http://schemas.openxmlformats.org/drawingml/2006/main" noGrp="1"/>
          </p:cNvSpPr>
          <p:nvPr/>
        </p:nvSpPr>
        <p:spPr>
          <a:xfrm xmlns:a="http://schemas.openxmlformats.org/drawingml/2006/main">
            <a:off x="647700" y="31242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BA1326"/>
                </a:solidFill>
                <a:latin typeface="Arial"/>
                <a:ea typeface="Arial"/>
                <a:cs typeface="Arial"/>
              </a:defRPr>
            </a:pPr>
            <a:r>
              <a:rPr sz="2400" b="1">
                <a:solidFill>
                  <a:srgbClr val="BA1326"/>
                </a:solidFill>
                <a:latin typeface="Arial"/>
                <a:ea typeface="Arial"/>
                <a:cs typeface="Arial"/>
              </a:rPr>
              <a:t>02</a:t>
            </a:r>
          </a:p>
        </p:txBody>
      </p:sp>
      <p:sp>
        <p:nvSpPr>
          <p:cNvPr id="13" name="Enable approved sources">
            <a:extLst xmlns:a="http://schemas.openxmlformats.org/drawingml/2006/main">
              <a:ext uri="{FF2B5EF4-FFF2-40B4-BE49-F238E27FC236}">
                <a16:creationId xmlns:a16="http://schemas.microsoft.com/office/drawing/2014/main" id="{9E8CE758-BFE7-4AC6-9B59-56CE157E238B}"/>
              </a:ext>
            </a:extLst>
          </p:cNvPr>
          <p:cNvSpPr>
            <a:spLocks xmlns:a="http://schemas.openxmlformats.org/drawingml/2006/main" noGrp="1"/>
          </p:cNvSpPr>
          <p:nvPr/>
        </p:nvSpPr>
        <p:spPr>
          <a:xfrm xmlns:a="http://schemas.openxmlformats.org/drawingml/2006/main">
            <a:off x="1428750" y="31242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72B"/>
                </a:solidFill>
                <a:latin typeface="Arial"/>
                <a:ea typeface="Arial"/>
                <a:cs typeface="Arial"/>
              </a:defRPr>
            </a:pPr>
            <a:r>
              <a:rPr sz="2100" b="1">
                <a:solidFill>
                  <a:srgbClr val="25272B"/>
                </a:solidFill>
                <a:latin typeface="Arial"/>
                <a:ea typeface="Arial"/>
                <a:cs typeface="Arial"/>
              </a:rPr>
              <a:t>Enable approved sources</a:t>
            </a:r>
          </a:p>
        </p:txBody>
      </p:sp>
      <p:sp>
        <p:nvSpPr>
          <p:cNvPr id="14" name="Choose the local inventory, domains, cloud me">
            <a:extLst xmlns:a="http://schemas.openxmlformats.org/drawingml/2006/main">
              <a:ext uri="{FF2B5EF4-FFF2-40B4-BE49-F238E27FC236}">
                <a16:creationId xmlns:a16="http://schemas.microsoft.com/office/drawing/2014/main" id="{878A438D-1171-4811-A45B-8CD77B4A2630}"/>
              </a:ext>
            </a:extLst>
          </p:cNvPr>
          <p:cNvSpPr>
            <a:spLocks xmlns:a="http://schemas.openxmlformats.org/drawingml/2006/main" noGrp="1"/>
          </p:cNvSpPr>
          <p:nvPr/>
        </p:nvSpPr>
        <p:spPr>
          <a:xfrm xmlns:a="http://schemas.openxmlformats.org/drawingml/2006/main">
            <a:off x="5219700" y="3124200"/>
            <a:ext cx="6324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96F"/>
                </a:solidFill>
                <a:latin typeface="Arial"/>
                <a:ea typeface="Arial"/>
                <a:cs typeface="Arial"/>
              </a:defRPr>
            </a:pPr>
            <a:r>
              <a:rPr sz="1875" b="0">
                <a:solidFill>
                  <a:srgbClr val="64696F"/>
                </a:solidFill>
                <a:latin typeface="Arial"/>
                <a:ea typeface="Arial"/>
                <a:cs typeface="Arial"/>
              </a:rPr>
              <a:t>Choose the local inventory, domains, cloud metadata or an owner inventory.</a:t>
            </a:r>
          </a:p>
        </p:txBody>
      </p:sp>
      <p:sp>
        <p:nvSpPr>
          <p:cNvPr id="15" name="">
            <a:extLst xmlns:a="http://schemas.openxmlformats.org/drawingml/2006/main">
              <a:ext uri="{FF2B5EF4-FFF2-40B4-BE49-F238E27FC236}">
                <a16:creationId xmlns:a16="http://schemas.microsoft.com/office/drawing/2014/main" id="{FC23624D-22E7-489B-B3DB-DC2EA501007C}"/>
              </a:ext>
            </a:extLst>
          </p:cNvPr>
          <p:cNvSpPr>
            <a:spLocks xmlns:a="http://schemas.openxmlformats.org/drawingml/2006/main" noGrp="1"/>
          </p:cNvSpPr>
          <p:nvPr/>
        </p:nvSpPr>
        <p:spPr>
          <a:xfrm xmlns:a="http://schemas.openxmlformats.org/drawingml/2006/main">
            <a:off x="647700" y="3981450"/>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16" name="03">
            <a:extLst xmlns:a="http://schemas.openxmlformats.org/drawingml/2006/main">
              <a:ext uri="{FF2B5EF4-FFF2-40B4-BE49-F238E27FC236}">
                <a16:creationId xmlns:a16="http://schemas.microsoft.com/office/drawing/2014/main" id="{D8C563B3-832C-472C-A65B-255877DE487B}"/>
              </a:ext>
            </a:extLst>
          </p:cNvPr>
          <p:cNvSpPr>
            <a:spLocks xmlns:a="http://schemas.openxmlformats.org/drawingml/2006/main" noGrp="1"/>
          </p:cNvSpPr>
          <p:nvPr/>
        </p:nvSpPr>
        <p:spPr>
          <a:xfrm xmlns:a="http://schemas.openxmlformats.org/drawingml/2006/main">
            <a:off x="647700" y="4114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BA1326"/>
                </a:solidFill>
                <a:latin typeface="Arial"/>
                <a:ea typeface="Arial"/>
                <a:cs typeface="Arial"/>
              </a:defRPr>
            </a:pPr>
            <a:r>
              <a:rPr sz="2400" b="1">
                <a:solidFill>
                  <a:srgbClr val="BA1326"/>
                </a:solidFill>
                <a:latin typeface="Arial"/>
                <a:ea typeface="Arial"/>
                <a:cs typeface="Arial"/>
              </a:rPr>
              <a:t>03</a:t>
            </a:r>
          </a:p>
        </p:txBody>
      </p:sp>
      <p:sp>
        <p:nvSpPr>
          <p:cNvPr id="17" name="Collect and organize evidence">
            <a:extLst xmlns:a="http://schemas.openxmlformats.org/drawingml/2006/main">
              <a:ext uri="{FF2B5EF4-FFF2-40B4-BE49-F238E27FC236}">
                <a16:creationId xmlns:a16="http://schemas.microsoft.com/office/drawing/2014/main" id="{E212D014-23B6-4903-A212-33DED37A49F2}"/>
              </a:ext>
            </a:extLst>
          </p:cNvPr>
          <p:cNvSpPr>
            <a:spLocks xmlns:a="http://schemas.openxmlformats.org/drawingml/2006/main" noGrp="1"/>
          </p:cNvSpPr>
          <p:nvPr/>
        </p:nvSpPr>
        <p:spPr>
          <a:xfrm xmlns:a="http://schemas.openxmlformats.org/drawingml/2006/main">
            <a:off x="1428750" y="41148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72B"/>
                </a:solidFill>
                <a:latin typeface="Arial"/>
                <a:ea typeface="Arial"/>
                <a:cs typeface="Arial"/>
              </a:defRPr>
            </a:pPr>
            <a:r>
              <a:rPr sz="2100" b="1">
                <a:solidFill>
                  <a:srgbClr val="25272B"/>
                </a:solidFill>
                <a:latin typeface="Arial"/>
                <a:ea typeface="Arial"/>
                <a:cs typeface="Arial"/>
              </a:rPr>
              <a:t>Collect and organize evidence</a:t>
            </a:r>
          </a:p>
        </p:txBody>
      </p:sp>
      <p:sp>
        <p:nvSpPr>
          <p:cNvPr id="18" name="Identify product names, retain source records">
            <a:extLst xmlns:a="http://schemas.openxmlformats.org/drawingml/2006/main">
              <a:ext uri="{FF2B5EF4-FFF2-40B4-BE49-F238E27FC236}">
                <a16:creationId xmlns:a16="http://schemas.microsoft.com/office/drawing/2014/main" id="{87613880-431E-4388-A792-B364F7DB6324}"/>
              </a:ext>
            </a:extLst>
          </p:cNvPr>
          <p:cNvSpPr>
            <a:spLocks xmlns:a="http://schemas.openxmlformats.org/drawingml/2006/main" noGrp="1"/>
          </p:cNvSpPr>
          <p:nvPr/>
        </p:nvSpPr>
        <p:spPr>
          <a:xfrm xmlns:a="http://schemas.openxmlformats.org/drawingml/2006/main">
            <a:off x="5219700" y="4114800"/>
            <a:ext cx="6324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96F"/>
                </a:solidFill>
                <a:latin typeface="Arial"/>
                <a:ea typeface="Arial"/>
                <a:cs typeface="Arial"/>
              </a:defRPr>
            </a:pPr>
            <a:r>
              <a:rPr sz="1875" b="0">
                <a:solidFill>
                  <a:srgbClr val="64696F"/>
                </a:solidFill>
                <a:latin typeface="Arial"/>
                <a:ea typeface="Arial"/>
                <a:cs typeface="Arial"/>
              </a:rPr>
              <a:t>Identify product names, retain source records and show collection errors.</a:t>
            </a:r>
          </a:p>
        </p:txBody>
      </p:sp>
      <p:sp>
        <p:nvSpPr>
          <p:cNvPr id="19" name="">
            <a:extLst xmlns:a="http://schemas.openxmlformats.org/drawingml/2006/main">
              <a:ext uri="{FF2B5EF4-FFF2-40B4-BE49-F238E27FC236}">
                <a16:creationId xmlns:a16="http://schemas.microsoft.com/office/drawing/2014/main" id="{F78C7594-C109-452D-8125-044C7717A435}"/>
              </a:ext>
            </a:extLst>
          </p:cNvPr>
          <p:cNvSpPr>
            <a:spLocks xmlns:a="http://schemas.openxmlformats.org/drawingml/2006/main" noGrp="1"/>
          </p:cNvSpPr>
          <p:nvPr/>
        </p:nvSpPr>
        <p:spPr>
          <a:xfrm xmlns:a="http://schemas.openxmlformats.org/drawingml/2006/main">
            <a:off x="647700" y="4972050"/>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20" name="04">
            <a:extLst xmlns:a="http://schemas.openxmlformats.org/drawingml/2006/main">
              <a:ext uri="{FF2B5EF4-FFF2-40B4-BE49-F238E27FC236}">
                <a16:creationId xmlns:a16="http://schemas.microsoft.com/office/drawing/2014/main" id="{A0A60150-A5D9-46A6-A04E-6948CB67D738}"/>
              </a:ext>
            </a:extLst>
          </p:cNvPr>
          <p:cNvSpPr>
            <a:spLocks xmlns:a="http://schemas.openxmlformats.org/drawingml/2006/main" noGrp="1"/>
          </p:cNvSpPr>
          <p:nvPr/>
        </p:nvSpPr>
        <p:spPr>
          <a:xfrm xmlns:a="http://schemas.openxmlformats.org/drawingml/2006/main">
            <a:off x="647700" y="51054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BA1326"/>
                </a:solidFill>
                <a:latin typeface="Arial"/>
                <a:ea typeface="Arial"/>
                <a:cs typeface="Arial"/>
              </a:defRPr>
            </a:pPr>
            <a:r>
              <a:rPr sz="2400" b="1">
                <a:solidFill>
                  <a:srgbClr val="BA1326"/>
                </a:solidFill>
                <a:latin typeface="Arial"/>
                <a:ea typeface="Arial"/>
                <a:cs typeface="Arial"/>
              </a:rPr>
              <a:t>04</a:t>
            </a:r>
          </a:p>
        </p:txBody>
      </p:sp>
      <p:sp>
        <p:nvSpPr>
          <p:cNvPr id="21" name="Review the company inventory">
            <a:extLst xmlns:a="http://schemas.openxmlformats.org/drawingml/2006/main">
              <a:ext uri="{FF2B5EF4-FFF2-40B4-BE49-F238E27FC236}">
                <a16:creationId xmlns:a16="http://schemas.microsoft.com/office/drawing/2014/main" id="{D1AE4B8F-014B-4771-94A5-29A15FF46791}"/>
              </a:ext>
            </a:extLst>
          </p:cNvPr>
          <p:cNvSpPr>
            <a:spLocks xmlns:a="http://schemas.openxmlformats.org/drawingml/2006/main" noGrp="1"/>
          </p:cNvSpPr>
          <p:nvPr/>
        </p:nvSpPr>
        <p:spPr>
          <a:xfrm xmlns:a="http://schemas.openxmlformats.org/drawingml/2006/main">
            <a:off x="1428750" y="51054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72B"/>
                </a:solidFill>
                <a:latin typeface="Arial"/>
                <a:ea typeface="Arial"/>
                <a:cs typeface="Arial"/>
              </a:defRPr>
            </a:pPr>
            <a:r>
              <a:rPr sz="2100" b="1">
                <a:solidFill>
                  <a:srgbClr val="25272B"/>
                </a:solidFill>
                <a:latin typeface="Arial"/>
                <a:ea typeface="Arial"/>
                <a:cs typeface="Arial"/>
              </a:rPr>
              <a:t>Review the company inventory</a:t>
            </a:r>
          </a:p>
        </p:txBody>
      </p:sp>
      <p:sp>
        <p:nvSpPr>
          <p:cNvPr id="22" name="Review the map, identify follow-up work and e">
            <a:extLst xmlns:a="http://schemas.openxmlformats.org/drawingml/2006/main">
              <a:ext uri="{FF2B5EF4-FFF2-40B4-BE49-F238E27FC236}">
                <a16:creationId xmlns:a16="http://schemas.microsoft.com/office/drawing/2014/main" id="{45175C3A-CD69-43F6-A68A-BE20E9816EA1}"/>
              </a:ext>
            </a:extLst>
          </p:cNvPr>
          <p:cNvSpPr>
            <a:spLocks xmlns:a="http://schemas.openxmlformats.org/drawingml/2006/main" noGrp="1"/>
          </p:cNvSpPr>
          <p:nvPr/>
        </p:nvSpPr>
        <p:spPr>
          <a:xfrm xmlns:a="http://schemas.openxmlformats.org/drawingml/2006/main">
            <a:off x="5219700" y="5105400"/>
            <a:ext cx="6324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696F"/>
                </a:solidFill>
                <a:latin typeface="Arial"/>
                <a:ea typeface="Arial"/>
                <a:cs typeface="Arial"/>
              </a:defRPr>
            </a:pPr>
            <a:r>
              <a:rPr sz="1875" b="0">
                <a:solidFill>
                  <a:srgbClr val="64696F"/>
                </a:solidFill>
                <a:latin typeface="Arial"/>
                <a:ea typeface="Arial"/>
                <a:cs typeface="Arial"/>
              </a:rPr>
              <a:t>Review the map, identify follow-up work and export the findings.</a:t>
            </a:r>
          </a:p>
        </p:txBody>
      </p:sp>
      <p:sp>
        <p:nvSpPr>
          <p:cNvPr id="23" name="">
            <a:extLst xmlns:a="http://schemas.openxmlformats.org/drawingml/2006/main">
              <a:ext uri="{FF2B5EF4-FFF2-40B4-BE49-F238E27FC236}">
                <a16:creationId xmlns:a16="http://schemas.microsoft.com/office/drawing/2014/main" id="{A5267116-2479-4D5E-B548-CA26C8B7A9C8}"/>
              </a:ext>
            </a:extLst>
          </p:cNvPr>
          <p:cNvSpPr>
            <a:spLocks xmlns:a="http://schemas.openxmlformats.org/drawingml/2006/main" noGrp="1"/>
          </p:cNvSpPr>
          <p:nvPr/>
        </p:nvSpPr>
        <p:spPr>
          <a:xfrm xmlns:a="http://schemas.openxmlformats.org/drawingml/2006/main">
            <a:off x="647700" y="5962650"/>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Tree>
    <p:extLst>
      <p:ext uri="{BB962C8B-B14F-4D97-AF65-F5344CB8AC3E}">
        <p14:creationId xmlns:p14="http://schemas.microsoft.com/office/powerpoint/2010/main" val="6273310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0254BC-83B6-4606-B1F4-17182A370AFE}"/>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Five source types give the agent different vi">
            <a:extLst xmlns:a="http://schemas.openxmlformats.org/drawingml/2006/main">
              <a:ext uri="{FF2B5EF4-FFF2-40B4-BE49-F238E27FC236}">
                <a16:creationId xmlns:a16="http://schemas.microsoft.com/office/drawing/2014/main" id="{3E40980C-2127-4BAD-AEA5-554E80E839A1}"/>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Five source types give the agent different views</a:t>
            </a:r>
          </a:p>
        </p:txBody>
      </p:sp>
      <p:sp>
        <p:nvSpPr>
          <p:cNvPr id="3" name="Each source adds evidence within an approved ">
            <a:extLst xmlns:a="http://schemas.openxmlformats.org/drawingml/2006/main">
              <a:ext uri="{FF2B5EF4-FFF2-40B4-BE49-F238E27FC236}">
                <a16:creationId xmlns:a16="http://schemas.microsoft.com/office/drawing/2014/main" id="{794B90C0-F590-490B-ABF9-C9BCC229814B}"/>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Each source adds evidence within an approved collection boundary.</a:t>
            </a:r>
          </a:p>
        </p:txBody>
      </p:sp>
      <p:sp>
        <p:nvSpPr>
          <p:cNvPr id="4" name="">
            <a:extLst xmlns:a="http://schemas.openxmlformats.org/drawingml/2006/main">
              <a:ext uri="{FF2B5EF4-FFF2-40B4-BE49-F238E27FC236}">
                <a16:creationId xmlns:a16="http://schemas.microsoft.com/office/drawing/2014/main" id="{AD5885AE-ED7E-4C96-9CAC-EB6B2469C7B5}"/>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E0C204E3-2ED0-432B-80A1-C8886BD347B8}"/>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73A12794-BAA6-44FA-A25C-924FD666FD0B}"/>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05">
            <a:extLst xmlns:a="http://schemas.openxmlformats.org/drawingml/2006/main">
              <a:ext uri="{FF2B5EF4-FFF2-40B4-BE49-F238E27FC236}">
                <a16:creationId xmlns:a16="http://schemas.microsoft.com/office/drawing/2014/main" id="{128B741C-66BE-4D7E-B663-17584057C71F}"/>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05</a:t>
            </a:r>
          </a:p>
        </p:txBody>
      </p:sp>
      <p:graphicFrame>
        <p:nvGraphicFramePr>
          <p:cNvPr id="17" name=""/>
          <p:cNvGraphicFramePr/>
          <p:nvPr/>
        </p:nvGraphicFramePr>
        <p:xfrm>
          <a:off xmlns:a="http://schemas.openxmlformats.org/drawingml/2006/main" x="647700" y="2076450"/>
          <a:ext xmlns:a="http://schemas.openxmlformats.org/drawingml/2006/main" cx="10896600" cy="3724275"/>
        </p:xfrm>
        <a:graphic xmlns:a="http://schemas.openxmlformats.org/drawingml/2006/main">
          <a:graphicData uri="http://schemas.openxmlformats.org/drawingml/2006/table">
            <a:tbl>
              <a:tblPr firstRow="0" bandRow="0"/>
              <a:tblGrid>
                <a:gridCol w="2562225"/>
                <a:gridCol w="5191125"/>
                <a:gridCol w="3143250"/>
              </a:tblGrid>
              <a:tr h="495300">
                <a:tc>
                  <a:txBody>
                    <a:bodyPr wrap="square" lIns="123825" tIns="85725" rIns="123825" bIns="85725">
                      <a:noAutofit/>
                    </a:bodyPr>
                    <a:lstStyle/>
                    <a:p>
                      <a:r>
                        <a:rPr sz="1500" b="1">
                          <a:solidFill>
                            <a:srgbClr val="FFFFFF"/>
                          </a:solidFill>
                          <a:latin typeface="Arial"/>
                          <a:ea typeface="Arial"/>
                          <a:cs typeface="Arial"/>
                        </a:rPr>
                        <a:t>Source</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What it can identify</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Access needed</a:t>
                      </a:r>
                    </a:p>
                  </a:txBody>
                  <a:tcPr marL="91440" marR="91440" marT="45720" marB="45720" anchor="ctr">
                    <a:solidFill>
                      <a:srgbClr val="25272B"/>
                    </a:solidFill>
                  </a:tcPr>
                </a:tc>
              </a:tr>
              <a:tr h="645795">
                <a:tc>
                  <a:txBody>
                    <a:bodyPr wrap="square" lIns="123825" tIns="85725" rIns="123825" bIns="85725">
                      <a:noAutofit/>
                    </a:bodyPr>
                    <a:lstStyle/>
                    <a:p>
                      <a:r>
                        <a:rPr sz="1725" b="1">
                          <a:solidFill>
                            <a:srgbClr val="25272B"/>
                          </a:solidFill>
                          <a:latin typeface="Arial"/>
                          <a:ea typeface="Arial"/>
                          <a:cs typeface="Arial"/>
                        </a:rPr>
                        <a:t>Installed apps</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Apps visible on the computer running the scan</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Permission to run locally</a:t>
                      </a:r>
                    </a:p>
                  </a:txBody>
                  <a:tcPr marL="91440" marR="91440" marT="45720" marB="45720" anchor="ctr">
                    <a:solidFill>
                      <a:srgbClr val="FFFFFF"/>
                    </a:solidFill>
                  </a:tcPr>
                </a:tc>
              </a:tr>
              <a:tr h="645795">
                <a:tc>
                  <a:txBody>
                    <a:bodyPr wrap="square" lIns="123825" tIns="85725" rIns="123825" bIns="85725">
                      <a:noAutofit/>
                    </a:bodyPr>
                    <a:lstStyle/>
                    <a:p>
                      <a:r>
                        <a:rPr sz="1725" b="1">
                          <a:solidFill>
                            <a:srgbClr val="25272B"/>
                          </a:solidFill>
                          <a:latin typeface="Arial"/>
                          <a:ea typeface="Arial"/>
                          <a:cs typeface="Arial"/>
                        </a:rPr>
                        <a:t>Mail domain</a:t>
                      </a:r>
                    </a:p>
                  </a:txBody>
                  <a:tcPr marL="91440" marR="91440" marT="45720" marB="45720" anchor="ctr">
                    <a:solidFill>
                      <a:srgbClr val="F3F4F5"/>
                    </a:solidFill>
                  </a:tcPr>
                </a:tc>
                <a:tc>
                  <a:txBody>
                    <a:bodyPr wrap="square" lIns="123825" tIns="85725" rIns="123825" bIns="85725">
                      <a:noAutofit/>
                    </a:bodyPr>
                    <a:lstStyle/>
                    <a:p>
                      <a:r>
                        <a:rPr sz="1725" b="0">
                          <a:solidFill>
                            <a:srgbClr val="25272B"/>
                          </a:solidFill>
                          <a:latin typeface="Arial"/>
                          <a:ea typeface="Arial"/>
                          <a:cs typeface="Arial"/>
                        </a:rPr>
                        <a:t>Email-provider clues from domain records</a:t>
                      </a:r>
                    </a:p>
                  </a:txBody>
                  <a:tcPr marL="91440" marR="91440" marT="45720" marB="45720" anchor="ctr">
                    <a:solidFill>
                      <a:srgbClr val="F3F4F5"/>
                    </a:solidFill>
                  </a:tcPr>
                </a:tc>
                <a:tc>
                  <a:txBody>
                    <a:bodyPr wrap="square" lIns="123825" tIns="85725" rIns="123825" bIns="85725">
                      <a:noAutofit/>
                    </a:bodyPr>
                    <a:lstStyle/>
                    <a:p>
                      <a:r>
                        <a:rPr sz="1725" b="0">
                          <a:solidFill>
                            <a:srgbClr val="25272B"/>
                          </a:solidFill>
                          <a:latin typeface="Arial"/>
                          <a:ea typeface="Arial"/>
                          <a:cs typeface="Arial"/>
                        </a:rPr>
                        <a:t>An approved domain</a:t>
                      </a:r>
                    </a:p>
                  </a:txBody>
                  <a:tcPr marL="91440" marR="91440" marT="45720" marB="45720" anchor="ctr">
                    <a:solidFill>
                      <a:srgbClr val="F3F4F5"/>
                    </a:solidFill>
                  </a:tcPr>
                </a:tc>
              </a:tr>
              <a:tr h="645795">
                <a:tc>
                  <a:txBody>
                    <a:bodyPr wrap="square" lIns="123825" tIns="85725" rIns="123825" bIns="85725">
                      <a:noAutofit/>
                    </a:bodyPr>
                    <a:lstStyle/>
                    <a:p>
                      <a:r>
                        <a:rPr sz="1725" b="1">
                          <a:solidFill>
                            <a:srgbClr val="25272B"/>
                          </a:solidFill>
                          <a:latin typeface="Arial"/>
                          <a:ea typeface="Arial"/>
                          <a:cs typeface="Arial"/>
                        </a:rPr>
                        <a:t>Microsoft 365</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Cloud apps registered in the company account</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Administrator consent</a:t>
                      </a:r>
                    </a:p>
                  </a:txBody>
                  <a:tcPr marL="91440" marR="91440" marT="45720" marB="45720" anchor="ctr">
                    <a:solidFill>
                      <a:srgbClr val="FFFFFF"/>
                    </a:solidFill>
                  </a:tcPr>
                </a:tc>
              </a:tr>
              <a:tr h="645795">
                <a:tc>
                  <a:txBody>
                    <a:bodyPr wrap="square" lIns="123825" tIns="85725" rIns="123825" bIns="85725">
                      <a:noAutofit/>
                    </a:bodyPr>
                    <a:lstStyle/>
                    <a:p>
                      <a:r>
                        <a:rPr sz="1725" b="1">
                          <a:solidFill>
                            <a:srgbClr val="25272B"/>
                          </a:solidFill>
                          <a:latin typeface="Arial"/>
                          <a:ea typeface="Arial"/>
                          <a:cs typeface="Arial"/>
                        </a:rPr>
                        <a:t>Approved websites</a:t>
                      </a:r>
                    </a:p>
                  </a:txBody>
                  <a:tcPr marL="91440" marR="91440" marT="45720" marB="45720" anchor="ctr">
                    <a:solidFill>
                      <a:srgbClr val="F3F4F5"/>
                    </a:solidFill>
                  </a:tcPr>
                </a:tc>
                <a:tc>
                  <a:txBody>
                    <a:bodyPr wrap="square" lIns="123825" tIns="85725" rIns="123825" bIns="85725">
                      <a:noAutofit/>
                    </a:bodyPr>
                    <a:lstStyle/>
                    <a:p>
                      <a:r>
                        <a:rPr sz="1725" b="0">
                          <a:solidFill>
                            <a:srgbClr val="25272B"/>
                          </a:solidFill>
                          <a:latin typeface="Arial"/>
                          <a:ea typeface="Arial"/>
                          <a:cs typeface="Arial"/>
                        </a:rPr>
                        <a:t>Product clues from an approved application website</a:t>
                      </a:r>
                    </a:p>
                  </a:txBody>
                  <a:tcPr marL="91440" marR="91440" marT="45720" marB="45720" anchor="ctr">
                    <a:solidFill>
                      <a:srgbClr val="F3F4F5"/>
                    </a:solidFill>
                  </a:tcPr>
                </a:tc>
                <a:tc>
                  <a:txBody>
                    <a:bodyPr wrap="square" lIns="123825" tIns="85725" rIns="123825" bIns="85725">
                      <a:noAutofit/>
                    </a:bodyPr>
                    <a:lstStyle/>
                    <a:p>
                      <a:r>
                        <a:rPr sz="1725" b="0">
                          <a:solidFill>
                            <a:srgbClr val="25272B"/>
                          </a:solidFill>
                          <a:latin typeface="Arial"/>
                          <a:ea typeface="Arial"/>
                          <a:cs typeface="Arial"/>
                        </a:rPr>
                        <a:t>An approved web address</a:t>
                      </a:r>
                    </a:p>
                  </a:txBody>
                  <a:tcPr marL="91440" marR="91440" marT="45720" marB="45720" anchor="ctr">
                    <a:solidFill>
                      <a:srgbClr val="F3F4F5"/>
                    </a:solidFill>
                  </a:tcPr>
                </a:tc>
              </a:tr>
              <a:tr h="645795">
                <a:tc>
                  <a:txBody>
                    <a:bodyPr wrap="square" lIns="123825" tIns="85725" rIns="123825" bIns="85725">
                      <a:noAutofit/>
                    </a:bodyPr>
                    <a:lstStyle/>
                    <a:p>
                      <a:r>
                        <a:rPr sz="1725" b="1">
                          <a:solidFill>
                            <a:srgbClr val="25272B"/>
                          </a:solidFill>
                          <a:latin typeface="Arial"/>
                          <a:ea typeface="Arial"/>
                          <a:cs typeface="Arial"/>
                        </a:rPr>
                        <a:t>Owner inventory</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Systems, owners and reported connections</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A system list in CSV format</a:t>
                      </a:r>
                    </a:p>
                  </a:txBody>
                  <a:tcPr marL="91440" marR="91440" marT="45720" marB="45720" anchor="ctr">
                    <a:solidFill>
                      <a:srgbClr val="FFFFFF"/>
                    </a:solidFill>
                  </a:tcPr>
                </a:tc>
              </a:tr>
            </a:tbl>
          </a:graphicData>
        </a:graphic>
      </p:graphicFrame>
      <p:sp>
        <p:nvSpPr>
          <p:cNvPr id="9" name="Coverage reflects enabled sources. Other comp">
            <a:extLst xmlns:a="http://schemas.openxmlformats.org/drawingml/2006/main">
              <a:ext uri="{FF2B5EF4-FFF2-40B4-BE49-F238E27FC236}">
                <a16:creationId xmlns:a16="http://schemas.microsoft.com/office/drawing/2014/main" id="{8DC42D0E-4A3F-40FE-9605-AC8AA515C4FC}"/>
              </a:ext>
            </a:extLst>
          </p:cNvPr>
          <p:cNvSpPr>
            <a:spLocks xmlns:a="http://schemas.openxmlformats.org/drawingml/2006/main" noGrp="1"/>
          </p:cNvSpPr>
          <p:nvPr/>
        </p:nvSpPr>
        <p:spPr>
          <a:xfrm xmlns:a="http://schemas.openxmlformats.org/drawingml/2006/main">
            <a:off x="647700" y="5962650"/>
            <a:ext cx="10896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4696F"/>
                </a:solidFill>
                <a:latin typeface="Arial"/>
                <a:ea typeface="Arial"/>
                <a:cs typeface="Arial"/>
              </a:defRPr>
            </a:pPr>
            <a:r>
              <a:rPr sz="1575" b="0">
                <a:solidFill>
                  <a:srgbClr val="64696F"/>
                </a:solidFill>
                <a:latin typeface="Arial"/>
                <a:ea typeface="Arial"/>
                <a:cs typeface="Arial"/>
              </a:rPr>
              <a:t>Coverage reflects enabled sources. Other computers and unconnected systems may remain outside the inventory.</a:t>
            </a:r>
          </a:p>
        </p:txBody>
      </p:sp>
    </p:spTree>
    <p:extLst>
      <p:ext uri="{BB962C8B-B14F-4D97-AF65-F5344CB8AC3E}">
        <p14:creationId xmlns:p14="http://schemas.microsoft.com/office/powerpoint/2010/main" val="13627379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5BC62D-F29E-4FEB-B8E1-054835D046BF}"/>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The discovery report stays local by default">
            <a:extLst xmlns:a="http://schemas.openxmlformats.org/drawingml/2006/main">
              <a:ext uri="{FF2B5EF4-FFF2-40B4-BE49-F238E27FC236}">
                <a16:creationId xmlns:a16="http://schemas.microsoft.com/office/drawing/2014/main" id="{58B4BA3D-B8C6-4E92-83D6-DEFD84436605}"/>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The discovery report stays local by default</a:t>
            </a:r>
          </a:p>
        </p:txBody>
      </p:sp>
      <p:sp>
        <p:nvSpPr>
          <p:cNvPr id="3" name="The owner controls collection scope and any s">
            <a:extLst xmlns:a="http://schemas.openxmlformats.org/drawingml/2006/main">
              <a:ext uri="{FF2B5EF4-FFF2-40B4-BE49-F238E27FC236}">
                <a16:creationId xmlns:a16="http://schemas.microsoft.com/office/drawing/2014/main" id="{36F03007-D3D0-4B32-B014-F976F86DDFAF}"/>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The owner controls collection scope and any sharing of the result.</a:t>
            </a:r>
          </a:p>
        </p:txBody>
      </p:sp>
      <p:sp>
        <p:nvSpPr>
          <p:cNvPr id="4" name="">
            <a:extLst xmlns:a="http://schemas.openxmlformats.org/drawingml/2006/main">
              <a:ext uri="{FF2B5EF4-FFF2-40B4-BE49-F238E27FC236}">
                <a16:creationId xmlns:a16="http://schemas.microsoft.com/office/drawing/2014/main" id="{E3DF802C-C7D6-45EF-A3B2-22C684B36228}"/>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D42F10F1-DFEF-4CA7-97B1-E5A4F92193A5}"/>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DAD0B2BB-B89F-4C1C-A6A0-2B91408CAD20}"/>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06">
            <a:extLst xmlns:a="http://schemas.openxmlformats.org/drawingml/2006/main">
              <a:ext uri="{FF2B5EF4-FFF2-40B4-BE49-F238E27FC236}">
                <a16:creationId xmlns:a16="http://schemas.microsoft.com/office/drawing/2014/main" id="{DD5082C5-DC74-4842-9182-D433E267D78B}"/>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06</a:t>
            </a:r>
          </a:p>
        </p:txBody>
      </p:sp>
      <p:graphicFrame>
        <p:nvGraphicFramePr>
          <p:cNvPr id="17" name=""/>
          <p:cNvGraphicFramePr/>
          <p:nvPr/>
        </p:nvGraphicFramePr>
        <p:xfrm>
          <a:off xmlns:a="http://schemas.openxmlformats.org/drawingml/2006/main" x="647700" y="2085975"/>
          <a:ext xmlns:a="http://schemas.openxmlformats.org/drawingml/2006/main" cx="10896600" cy="3714750"/>
        </p:xfrm>
        <a:graphic xmlns:a="http://schemas.openxmlformats.org/drawingml/2006/main">
          <a:graphicData uri="http://schemas.openxmlformats.org/drawingml/2006/table">
            <a:tbl>
              <a:tblPr firstRow="0" bandRow="0"/>
              <a:tblGrid>
                <a:gridCol w="2781300"/>
                <a:gridCol w="8115300"/>
              </a:tblGrid>
              <a:tr h="495300">
                <a:tc>
                  <a:txBody>
                    <a:bodyPr wrap="square" lIns="123825" tIns="85725" rIns="123825" bIns="85725">
                      <a:noAutofit/>
                    </a:bodyPr>
                    <a:lstStyle/>
                    <a:p>
                      <a:r>
                        <a:rPr sz="1500" b="1">
                          <a:solidFill>
                            <a:srgbClr val="FFFFFF"/>
                          </a:solidFill>
                          <a:latin typeface="Arial"/>
                          <a:ea typeface="Arial"/>
                          <a:cs typeface="Arial"/>
                        </a:rPr>
                        <a:t>Control</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Current behavior</a:t>
                      </a:r>
                    </a:p>
                  </a:txBody>
                  <a:tcPr marL="91440" marR="91440" marT="45720" marB="45720" anchor="ctr">
                    <a:solidFill>
                      <a:srgbClr val="25272B"/>
                    </a:solidFill>
                  </a:tcPr>
                </a:tc>
              </a:tr>
              <a:tr h="643890">
                <a:tc>
                  <a:txBody>
                    <a:bodyPr wrap="square" lIns="123825" tIns="85725" rIns="123825" bIns="85725">
                      <a:noAutofit/>
                    </a:bodyPr>
                    <a:lstStyle/>
                    <a:p>
                      <a:r>
                        <a:rPr sz="1800" b="1">
                          <a:solidFill>
                            <a:srgbClr val="25272B"/>
                          </a:solidFill>
                          <a:latin typeface="Arial"/>
                          <a:ea typeface="Arial"/>
                          <a:cs typeface="Arial"/>
                        </a:rPr>
                        <a:t>Collection scope</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The owner explicitly enables each source.</a:t>
                      </a:r>
                    </a:p>
                  </a:txBody>
                  <a:tcPr marL="91440" marR="91440" marT="45720" marB="45720" anchor="ctr">
                    <a:solidFill>
                      <a:srgbClr val="FFFFFF"/>
                    </a:solidFill>
                  </a:tcPr>
                </a:tc>
              </a:tr>
              <a:tr h="643890">
                <a:tc>
                  <a:txBody>
                    <a:bodyPr wrap="square" lIns="123825" tIns="85725" rIns="123825" bIns="85725">
                      <a:noAutofit/>
                    </a:bodyPr>
                    <a:lstStyle/>
                    <a:p>
                      <a:r>
                        <a:rPr sz="1800" b="1">
                          <a:solidFill>
                            <a:srgbClr val="25272B"/>
                          </a:solidFill>
                          <a:latin typeface="Arial"/>
                          <a:ea typeface="Arial"/>
                          <a:cs typeface="Arial"/>
                        </a:rPr>
                        <a:t>System records</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Application names, source identifiers and approved system clues.</a:t>
                      </a:r>
                    </a:p>
                  </a:txBody>
                  <a:tcPr marL="91440" marR="91440" marT="45720" marB="45720" anchor="ctr">
                    <a:solidFill>
                      <a:srgbClr val="F3F4F5"/>
                    </a:solidFill>
                  </a:tcPr>
                </a:tc>
              </a:tr>
              <a:tr h="643890">
                <a:tc>
                  <a:txBody>
                    <a:bodyPr wrap="square" lIns="123825" tIns="85725" rIns="123825" bIns="85725">
                      <a:noAutofit/>
                    </a:bodyPr>
                    <a:lstStyle/>
                    <a:p>
                      <a:r>
                        <a:rPr sz="1800" b="1">
                          <a:solidFill>
                            <a:srgbClr val="25272B"/>
                          </a:solidFill>
                          <a:latin typeface="Arial"/>
                          <a:ea typeface="Arial"/>
                          <a:cs typeface="Arial"/>
                        </a:rPr>
                        <a:t>Business content</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No email bodies, documents or ERP transaction records.</a:t>
                      </a:r>
                    </a:p>
                  </a:txBody>
                  <a:tcPr marL="91440" marR="91440" marT="45720" marB="45720" anchor="ctr">
                    <a:solidFill>
                      <a:srgbClr val="FFFFFF"/>
                    </a:solidFill>
                  </a:tcPr>
                </a:tc>
              </a:tr>
              <a:tr h="643890">
                <a:tc>
                  <a:txBody>
                    <a:bodyPr wrap="square" lIns="123825" tIns="85725" rIns="123825" bIns="85725">
                      <a:noAutofit/>
                    </a:bodyPr>
                    <a:lstStyle/>
                    <a:p>
                      <a:r>
                        <a:rPr sz="1800" b="1">
                          <a:solidFill>
                            <a:srgbClr val="25272B"/>
                          </a:solidFill>
                          <a:latin typeface="Arial"/>
                          <a:ea typeface="Arial"/>
                          <a:cs typeface="Arial"/>
                        </a:rPr>
                        <a:t>Report location</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A local report file and browser memory. No automatic report upload.</a:t>
                      </a:r>
                    </a:p>
                  </a:txBody>
                  <a:tcPr marL="91440" marR="91440" marT="45720" marB="45720" anchor="ctr">
                    <a:solidFill>
                      <a:srgbClr val="F3F4F5"/>
                    </a:solidFill>
                  </a:tcPr>
                </a:tc>
              </a:tr>
              <a:tr h="643890">
                <a:tc>
                  <a:txBody>
                    <a:bodyPr wrap="square" lIns="123825" tIns="85725" rIns="123825" bIns="85725">
                      <a:noAutofit/>
                    </a:bodyPr>
                    <a:lstStyle/>
                    <a:p>
                      <a:r>
                        <a:rPr sz="1800" b="1">
                          <a:solidFill>
                            <a:srgbClr val="25272B"/>
                          </a:solidFill>
                          <a:latin typeface="Arial"/>
                          <a:ea typeface="Arial"/>
                          <a:cs typeface="Arial"/>
                        </a:rPr>
                        <a:t>Cloud access</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Only enabled connectors contact their providers.</a:t>
                      </a:r>
                    </a:p>
                  </a:txBody>
                  <a:tcPr marL="91440" marR="91440" marT="45720" marB="45720" anchor="ctr">
                    <a:solidFill>
                      <a:srgbClr val="FFFFFF"/>
                    </a:solidFill>
                  </a:tcPr>
                </a:tc>
              </a:tr>
            </a:tbl>
          </a:graphicData>
        </a:graphic>
      </p:graphicFrame>
      <p:sp>
        <p:nvSpPr>
          <p:cNvPr id="9" name="DNS queries send approved domain names to Clo">
            <a:extLst xmlns:a="http://schemas.openxmlformats.org/drawingml/2006/main">
              <a:ext uri="{FF2B5EF4-FFF2-40B4-BE49-F238E27FC236}">
                <a16:creationId xmlns:a16="http://schemas.microsoft.com/office/drawing/2014/main" id="{6651C597-01C0-431C-A438-7C930A729795}"/>
              </a:ext>
            </a:extLst>
          </p:cNvPr>
          <p:cNvSpPr>
            <a:spLocks xmlns:a="http://schemas.openxmlformats.org/drawingml/2006/main" noGrp="1"/>
          </p:cNvSpPr>
          <p:nvPr/>
        </p:nvSpPr>
        <p:spPr>
          <a:xfrm xmlns:a="http://schemas.openxmlformats.org/drawingml/2006/main">
            <a:off x="647700" y="5934075"/>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4696F"/>
                </a:solidFill>
                <a:latin typeface="Arial"/>
                <a:ea typeface="Arial"/>
                <a:cs typeface="Arial"/>
              </a:defRPr>
            </a:pPr>
            <a:r>
              <a:rPr sz="1350" b="0">
                <a:solidFill>
                  <a:srgbClr val="64696F"/>
                </a:solidFill>
                <a:latin typeface="Arial"/>
                <a:ea typeface="Arial"/>
                <a:cs typeface="Arial"/>
              </a:rPr>
              <a:t>DNS queries send approved domain names to Cloudflare. Web inspection reads a bounded landing page without retaining its content.</a:t>
            </a:r>
          </a:p>
        </p:txBody>
      </p:sp>
    </p:spTree>
    <p:extLst>
      <p:ext uri="{BB962C8B-B14F-4D97-AF65-F5344CB8AC3E}">
        <p14:creationId xmlns:p14="http://schemas.microsoft.com/office/powerpoint/2010/main" val="13980281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44F0829-57D3-4AC5-A1A4-71C4597F4757}"/>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A fictional manufacturer makes the product co">
            <a:extLst xmlns:a="http://schemas.openxmlformats.org/drawingml/2006/main">
              <a:ext uri="{FF2B5EF4-FFF2-40B4-BE49-F238E27FC236}">
                <a16:creationId xmlns:a16="http://schemas.microsoft.com/office/drawing/2014/main" id="{A7D25022-770F-4EE6-BBD5-16C48B226FEB}"/>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A fictional manufacturer makes the product concrete</a:t>
            </a:r>
          </a:p>
        </p:txBody>
      </p:sp>
      <p:sp>
        <p:nvSpPr>
          <p:cNvPr id="3" name="Alder Forge is the illustrative company used ">
            <a:extLst xmlns:a="http://schemas.openxmlformats.org/drawingml/2006/main">
              <a:ext uri="{FF2B5EF4-FFF2-40B4-BE49-F238E27FC236}">
                <a16:creationId xmlns:a16="http://schemas.microsoft.com/office/drawing/2014/main" id="{A175568C-7743-45BC-BA2E-E7FCA76160FF}"/>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Alder Forge is the illustrative company used in the investor demo.</a:t>
            </a:r>
          </a:p>
        </p:txBody>
      </p:sp>
      <p:sp>
        <p:nvSpPr>
          <p:cNvPr id="4" name="">
            <a:extLst xmlns:a="http://schemas.openxmlformats.org/drawingml/2006/main">
              <a:ext uri="{FF2B5EF4-FFF2-40B4-BE49-F238E27FC236}">
                <a16:creationId xmlns:a16="http://schemas.microsoft.com/office/drawing/2014/main" id="{837709C9-E2F9-4CAC-BF97-120F6F6888EC}"/>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C88B66B8-48C4-40F8-80E0-8C208D779857}"/>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D5D096A2-C719-43FD-B51B-BC2C5287B5D4}"/>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07">
            <a:extLst xmlns:a="http://schemas.openxmlformats.org/drawingml/2006/main">
              <a:ext uri="{FF2B5EF4-FFF2-40B4-BE49-F238E27FC236}">
                <a16:creationId xmlns:a16="http://schemas.microsoft.com/office/drawing/2014/main" id="{FD551D0A-6AEC-44A6-88C8-A15ABB8EC82B}"/>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07</a:t>
            </a:r>
          </a:p>
        </p:txBody>
      </p:sp>
      <p:sp>
        <p:nvSpPr>
          <p:cNvPr id="8" name="12">
            <a:extLst xmlns:a="http://schemas.openxmlformats.org/drawingml/2006/main">
              <a:ext uri="{FF2B5EF4-FFF2-40B4-BE49-F238E27FC236}">
                <a16:creationId xmlns:a16="http://schemas.microsoft.com/office/drawing/2014/main" id="{41BD70F6-B3EC-49C1-B326-1A9525433841}"/>
              </a:ext>
            </a:extLst>
          </p:cNvPr>
          <p:cNvSpPr>
            <a:spLocks xmlns:a="http://schemas.openxmlformats.org/drawingml/2006/main" noGrp="1"/>
          </p:cNvSpPr>
          <p:nvPr/>
        </p:nvSpPr>
        <p:spPr>
          <a:xfrm xmlns:a="http://schemas.openxmlformats.org/drawingml/2006/main">
            <a:off x="647700" y="214312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BA1326"/>
                </a:solidFill>
                <a:latin typeface="Arial"/>
                <a:ea typeface="Arial"/>
                <a:cs typeface="Arial"/>
              </a:defRPr>
            </a:pPr>
            <a:r>
              <a:rPr sz="4950" b="1">
                <a:solidFill>
                  <a:srgbClr val="BA1326"/>
                </a:solidFill>
                <a:latin typeface="Arial"/>
                <a:ea typeface="Arial"/>
                <a:cs typeface="Arial"/>
              </a:rPr>
              <a:t>12</a:t>
            </a:r>
          </a:p>
        </p:txBody>
      </p:sp>
      <p:sp>
        <p:nvSpPr>
          <p:cNvPr id="9" name="Systems">
            <a:extLst xmlns:a="http://schemas.openxmlformats.org/drawingml/2006/main">
              <a:ext uri="{FF2B5EF4-FFF2-40B4-BE49-F238E27FC236}">
                <a16:creationId xmlns:a16="http://schemas.microsoft.com/office/drawing/2014/main" id="{4F5030F4-C656-4053-BEB2-CF9259F84D8C}"/>
              </a:ext>
            </a:extLst>
          </p:cNvPr>
          <p:cNvSpPr>
            <a:spLocks xmlns:a="http://schemas.openxmlformats.org/drawingml/2006/main" noGrp="1"/>
          </p:cNvSpPr>
          <p:nvPr/>
        </p:nvSpPr>
        <p:spPr>
          <a:xfrm xmlns:a="http://schemas.openxmlformats.org/drawingml/2006/main">
            <a:off x="647700" y="3000375"/>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5272B"/>
                </a:solidFill>
                <a:latin typeface="Arial"/>
                <a:ea typeface="Arial"/>
                <a:cs typeface="Arial"/>
              </a:defRPr>
            </a:pPr>
            <a:r>
              <a:rPr sz="1725" b="1">
                <a:solidFill>
                  <a:srgbClr val="25272B"/>
                </a:solidFill>
                <a:latin typeface="Arial"/>
                <a:ea typeface="Arial"/>
                <a:cs typeface="Arial"/>
              </a:rPr>
              <a:t>Systems</a:t>
            </a:r>
          </a:p>
        </p:txBody>
      </p:sp>
      <p:sp>
        <p:nvSpPr>
          <p:cNvPr id="10" name="7">
            <a:extLst xmlns:a="http://schemas.openxmlformats.org/drawingml/2006/main">
              <a:ext uri="{FF2B5EF4-FFF2-40B4-BE49-F238E27FC236}">
                <a16:creationId xmlns:a16="http://schemas.microsoft.com/office/drawing/2014/main" id="{39B348F0-C2FC-45BC-A450-1A8ED01FDE9E}"/>
              </a:ext>
            </a:extLst>
          </p:cNvPr>
          <p:cNvSpPr>
            <a:spLocks xmlns:a="http://schemas.openxmlformats.org/drawingml/2006/main" noGrp="1"/>
          </p:cNvSpPr>
          <p:nvPr/>
        </p:nvSpPr>
        <p:spPr>
          <a:xfrm xmlns:a="http://schemas.openxmlformats.org/drawingml/2006/main">
            <a:off x="3429000" y="214312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BA1326"/>
                </a:solidFill>
                <a:latin typeface="Arial"/>
                <a:ea typeface="Arial"/>
                <a:cs typeface="Arial"/>
              </a:defRPr>
            </a:pPr>
            <a:r>
              <a:rPr sz="4950" b="1">
                <a:solidFill>
                  <a:srgbClr val="BA1326"/>
                </a:solidFill>
                <a:latin typeface="Arial"/>
                <a:ea typeface="Arial"/>
                <a:cs typeface="Arial"/>
              </a:rPr>
              <a:t>7</a:t>
            </a:r>
          </a:p>
        </p:txBody>
      </p:sp>
      <p:sp>
        <p:nvSpPr>
          <p:cNvPr id="11" name="Business functions">
            <a:extLst xmlns:a="http://schemas.openxmlformats.org/drawingml/2006/main">
              <a:ext uri="{FF2B5EF4-FFF2-40B4-BE49-F238E27FC236}">
                <a16:creationId xmlns:a16="http://schemas.microsoft.com/office/drawing/2014/main" id="{82BF4883-CFE2-473B-8D06-8535D945FFFC}"/>
              </a:ext>
            </a:extLst>
          </p:cNvPr>
          <p:cNvSpPr>
            <a:spLocks xmlns:a="http://schemas.openxmlformats.org/drawingml/2006/main" noGrp="1"/>
          </p:cNvSpPr>
          <p:nvPr/>
        </p:nvSpPr>
        <p:spPr>
          <a:xfrm xmlns:a="http://schemas.openxmlformats.org/drawingml/2006/main">
            <a:off x="3429000" y="3000375"/>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5272B"/>
                </a:solidFill>
                <a:latin typeface="Arial"/>
                <a:ea typeface="Arial"/>
                <a:cs typeface="Arial"/>
              </a:defRPr>
            </a:pPr>
            <a:r>
              <a:rPr sz="1725" b="1">
                <a:solidFill>
                  <a:srgbClr val="25272B"/>
                </a:solidFill>
                <a:latin typeface="Arial"/>
                <a:ea typeface="Arial"/>
                <a:cs typeface="Arial"/>
              </a:rPr>
              <a:t>Business functions</a:t>
            </a:r>
          </a:p>
        </p:txBody>
      </p:sp>
      <p:sp>
        <p:nvSpPr>
          <p:cNvPr id="12" name="14">
            <a:extLst xmlns:a="http://schemas.openxmlformats.org/drawingml/2006/main">
              <a:ext uri="{FF2B5EF4-FFF2-40B4-BE49-F238E27FC236}">
                <a16:creationId xmlns:a16="http://schemas.microsoft.com/office/drawing/2014/main" id="{CED7A977-09F0-4112-8742-E87277611666}"/>
              </a:ext>
            </a:extLst>
          </p:cNvPr>
          <p:cNvSpPr>
            <a:spLocks xmlns:a="http://schemas.openxmlformats.org/drawingml/2006/main" noGrp="1"/>
          </p:cNvSpPr>
          <p:nvPr/>
        </p:nvSpPr>
        <p:spPr>
          <a:xfrm xmlns:a="http://schemas.openxmlformats.org/drawingml/2006/main">
            <a:off x="6210300" y="214312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BA1326"/>
                </a:solidFill>
                <a:latin typeface="Arial"/>
                <a:ea typeface="Arial"/>
                <a:cs typeface="Arial"/>
              </a:defRPr>
            </a:pPr>
            <a:r>
              <a:rPr sz="4950" b="1">
                <a:solidFill>
                  <a:srgbClr val="BA1326"/>
                </a:solidFill>
                <a:latin typeface="Arial"/>
                <a:ea typeface="Arial"/>
                <a:cs typeface="Arial"/>
              </a:rPr>
              <a:t>14</a:t>
            </a:r>
          </a:p>
        </p:txBody>
      </p:sp>
      <p:sp>
        <p:nvSpPr>
          <p:cNvPr id="13" name="Evidence records">
            <a:extLst xmlns:a="http://schemas.openxmlformats.org/drawingml/2006/main">
              <a:ext uri="{FF2B5EF4-FFF2-40B4-BE49-F238E27FC236}">
                <a16:creationId xmlns:a16="http://schemas.microsoft.com/office/drawing/2014/main" id="{49F6D7F6-FFA8-48D4-AC79-BA4482EFFC28}"/>
              </a:ext>
            </a:extLst>
          </p:cNvPr>
          <p:cNvSpPr>
            <a:spLocks xmlns:a="http://schemas.openxmlformats.org/drawingml/2006/main" noGrp="1"/>
          </p:cNvSpPr>
          <p:nvPr/>
        </p:nvSpPr>
        <p:spPr>
          <a:xfrm xmlns:a="http://schemas.openxmlformats.org/drawingml/2006/main">
            <a:off x="6210300" y="3000375"/>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5272B"/>
                </a:solidFill>
                <a:latin typeface="Arial"/>
                <a:ea typeface="Arial"/>
                <a:cs typeface="Arial"/>
              </a:defRPr>
            </a:pPr>
            <a:r>
              <a:rPr sz="1725" b="1">
                <a:solidFill>
                  <a:srgbClr val="25272B"/>
                </a:solidFill>
                <a:latin typeface="Arial"/>
                <a:ea typeface="Arial"/>
                <a:cs typeface="Arial"/>
              </a:rPr>
              <a:t>Evidence records</a:t>
            </a:r>
          </a:p>
        </p:txBody>
      </p:sp>
      <p:sp>
        <p:nvSpPr>
          <p:cNvPr id="14" name="3">
            <a:extLst xmlns:a="http://schemas.openxmlformats.org/drawingml/2006/main">
              <a:ext uri="{FF2B5EF4-FFF2-40B4-BE49-F238E27FC236}">
                <a16:creationId xmlns:a16="http://schemas.microsoft.com/office/drawing/2014/main" id="{215749E8-2FCF-481C-8DB2-5DAD877A8963}"/>
              </a:ext>
            </a:extLst>
          </p:cNvPr>
          <p:cNvSpPr>
            <a:spLocks xmlns:a="http://schemas.openxmlformats.org/drawingml/2006/main" noGrp="1"/>
          </p:cNvSpPr>
          <p:nvPr/>
        </p:nvSpPr>
        <p:spPr>
          <a:xfrm xmlns:a="http://schemas.openxmlformats.org/drawingml/2006/main">
            <a:off x="8991600" y="2143125"/>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BA1326"/>
                </a:solidFill>
                <a:latin typeface="Arial"/>
                <a:ea typeface="Arial"/>
                <a:cs typeface="Arial"/>
              </a:defRPr>
            </a:pPr>
            <a:r>
              <a:rPr sz="4950" b="1">
                <a:solidFill>
                  <a:srgbClr val="BA1326"/>
                </a:solidFill>
                <a:latin typeface="Arial"/>
                <a:ea typeface="Arial"/>
                <a:cs typeface="Arial"/>
              </a:rPr>
              <a:t>3</a:t>
            </a:r>
          </a:p>
        </p:txBody>
      </p:sp>
      <p:sp>
        <p:nvSpPr>
          <p:cNvPr id="15" name="Reported integrations">
            <a:extLst xmlns:a="http://schemas.openxmlformats.org/drawingml/2006/main">
              <a:ext uri="{FF2B5EF4-FFF2-40B4-BE49-F238E27FC236}">
                <a16:creationId xmlns:a16="http://schemas.microsoft.com/office/drawing/2014/main" id="{28932E30-F3BA-445A-9E12-10A81946F7AD}"/>
              </a:ext>
            </a:extLst>
          </p:cNvPr>
          <p:cNvSpPr>
            <a:spLocks xmlns:a="http://schemas.openxmlformats.org/drawingml/2006/main" noGrp="1"/>
          </p:cNvSpPr>
          <p:nvPr/>
        </p:nvSpPr>
        <p:spPr>
          <a:xfrm xmlns:a="http://schemas.openxmlformats.org/drawingml/2006/main">
            <a:off x="8991600" y="3000375"/>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5272B"/>
                </a:solidFill>
                <a:latin typeface="Arial"/>
                <a:ea typeface="Arial"/>
                <a:cs typeface="Arial"/>
              </a:defRPr>
            </a:pPr>
            <a:r>
              <a:rPr sz="1725" b="1">
                <a:solidFill>
                  <a:srgbClr val="25272B"/>
                </a:solidFill>
                <a:latin typeface="Arial"/>
                <a:ea typeface="Arial"/>
                <a:cs typeface="Arial"/>
              </a:rPr>
              <a:t>Reported integrations</a:t>
            </a:r>
          </a:p>
        </p:txBody>
      </p:sp>
      <p:graphicFrame>
        <p:nvGraphicFramePr>
          <p:cNvPr id="33" name=""/>
          <p:cNvGraphicFramePr/>
          <p:nvPr/>
        </p:nvGraphicFramePr>
        <p:xfrm>
          <a:off xmlns:a="http://schemas.openxmlformats.org/drawingml/2006/main" x="647700" y="3705225"/>
          <a:ext xmlns:a="http://schemas.openxmlformats.org/drawingml/2006/main" cx="10896600" cy="1876425"/>
        </p:xfrm>
        <a:graphic xmlns:a="http://schemas.openxmlformats.org/drawingml/2006/main">
          <a:graphicData uri="http://schemas.openxmlformats.org/drawingml/2006/table">
            <a:tbl>
              <a:tblPr firstRow="0" bandRow="0"/>
              <a:tblGrid>
                <a:gridCol w="2800350"/>
                <a:gridCol w="2895600"/>
                <a:gridCol w="5200650"/>
              </a:tblGrid>
              <a:tr h="495300">
                <a:tc>
                  <a:txBody>
                    <a:bodyPr wrap="square" lIns="123825" tIns="85725" rIns="123825" bIns="85725">
                      <a:noAutofit/>
                    </a:bodyPr>
                    <a:lstStyle/>
                    <a:p>
                      <a:r>
                        <a:rPr sz="1500" b="1">
                          <a:solidFill>
                            <a:srgbClr val="FFFFFF"/>
                          </a:solidFill>
                          <a:latin typeface="Arial"/>
                          <a:ea typeface="Arial"/>
                          <a:cs typeface="Arial"/>
                        </a:rPr>
                        <a:t>System</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Business role</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Example evidence</a:t>
                      </a:r>
                    </a:p>
                  </a:txBody>
                  <a:tcPr marL="91440" marR="91440" marT="45720" marB="45720" anchor="ctr">
                    <a:solidFill>
                      <a:srgbClr val="25272B"/>
                    </a:solidFill>
                  </a:tcPr>
                </a:tc>
              </a:tr>
              <a:tr h="460375">
                <a:tc>
                  <a:txBody>
                    <a:bodyPr wrap="square" lIns="123825" tIns="85725" rIns="123825" bIns="85725">
                      <a:noAutofit/>
                    </a:bodyPr>
                    <a:lstStyle/>
                    <a:p>
                      <a:r>
                        <a:rPr sz="1725" b="1">
                          <a:solidFill>
                            <a:srgbClr val="25272B"/>
                          </a:solidFill>
                          <a:latin typeface="Arial"/>
                          <a:ea typeface="Arial"/>
                          <a:cs typeface="Arial"/>
                        </a:rPr>
                        <a:t>Epicor Kinetic</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Core operations (ERP)</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Installation and owner context</a:t>
                      </a:r>
                    </a:p>
                  </a:txBody>
                  <a:tcPr marL="91440" marR="91440" marT="45720" marB="45720" anchor="ctr">
                    <a:solidFill>
                      <a:srgbClr val="FFFFFF"/>
                    </a:solidFill>
                  </a:tcPr>
                </a:tc>
              </a:tr>
              <a:tr h="460375">
                <a:tc>
                  <a:txBody>
                    <a:bodyPr wrap="square" lIns="123825" tIns="85725" rIns="123825" bIns="85725">
                      <a:noAutofit/>
                    </a:bodyPr>
                    <a:lstStyle/>
                    <a:p>
                      <a:r>
                        <a:rPr sz="1725" b="1">
                          <a:solidFill>
                            <a:srgbClr val="25272B"/>
                          </a:solidFill>
                          <a:latin typeface="Arial"/>
                          <a:ea typeface="Arial"/>
                          <a:cs typeface="Arial"/>
                        </a:rPr>
                        <a:t>Microsoft 365</a:t>
                      </a:r>
                    </a:p>
                  </a:txBody>
                  <a:tcPr marL="91440" marR="91440" marT="45720" marB="45720" anchor="ctr">
                    <a:solidFill>
                      <a:srgbClr val="F3F4F5"/>
                    </a:solidFill>
                  </a:tcPr>
                </a:tc>
                <a:tc>
                  <a:txBody>
                    <a:bodyPr wrap="square" lIns="123825" tIns="85725" rIns="123825" bIns="85725">
                      <a:noAutofit/>
                    </a:bodyPr>
                    <a:lstStyle/>
                    <a:p>
                      <a:r>
                        <a:rPr sz="1725" b="0">
                          <a:solidFill>
                            <a:srgbClr val="25272B"/>
                          </a:solidFill>
                          <a:latin typeface="Arial"/>
                          <a:ea typeface="Arial"/>
                          <a:cs typeface="Arial"/>
                        </a:rPr>
                        <a:t>Email</a:t>
                      </a:r>
                    </a:p>
                  </a:txBody>
                  <a:tcPr marL="91440" marR="91440" marT="45720" marB="45720" anchor="ctr">
                    <a:solidFill>
                      <a:srgbClr val="F3F4F5"/>
                    </a:solidFill>
                  </a:tcPr>
                </a:tc>
                <a:tc>
                  <a:txBody>
                    <a:bodyPr wrap="square" lIns="123825" tIns="85725" rIns="123825" bIns="85725">
                      <a:noAutofit/>
                    </a:bodyPr>
                    <a:lstStyle/>
                    <a:p>
                      <a:r>
                        <a:rPr sz="1725" b="0">
                          <a:solidFill>
                            <a:srgbClr val="25272B"/>
                          </a:solidFill>
                          <a:latin typeface="Arial"/>
                          <a:ea typeface="Arial"/>
                          <a:cs typeface="Arial"/>
                        </a:rPr>
                        <a:t>Email-provider clue, pending confirmation</a:t>
                      </a:r>
                    </a:p>
                  </a:txBody>
                  <a:tcPr marL="91440" marR="91440" marT="45720" marB="45720" anchor="ctr">
                    <a:solidFill>
                      <a:srgbClr val="F3F4F5"/>
                    </a:solidFill>
                  </a:tcPr>
                </a:tc>
              </a:tr>
              <a:tr h="460375">
                <a:tc>
                  <a:txBody>
                    <a:bodyPr wrap="square" lIns="123825" tIns="85725" rIns="123825" bIns="85725">
                      <a:noAutofit/>
                    </a:bodyPr>
                    <a:lstStyle/>
                    <a:p>
                      <a:r>
                        <a:rPr sz="1725" b="1">
                          <a:solidFill>
                            <a:srgbClr val="25272B"/>
                          </a:solidFill>
                          <a:latin typeface="Arial"/>
                          <a:ea typeface="Arial"/>
                          <a:cs typeface="Arial"/>
                        </a:rPr>
                        <a:t>Power BI</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Reporting</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Installation and reported CSV handoff</a:t>
                      </a:r>
                    </a:p>
                  </a:txBody>
                  <a:tcPr marL="91440" marR="91440" marT="45720" marB="45720" anchor="ctr">
                    <a:solidFill>
                      <a:srgbClr val="FFFFFF"/>
                    </a:solidFill>
                  </a:tcPr>
                </a:tc>
              </a:tr>
            </a:tbl>
          </a:graphicData>
        </a:graphic>
      </p:graphicFrame>
      <p:sp>
        <p:nvSpPr>
          <p:cNvPr id="17" name="All companies, records and integrations in th">
            <a:extLst xmlns:a="http://schemas.openxmlformats.org/drawingml/2006/main">
              <a:ext uri="{FF2B5EF4-FFF2-40B4-BE49-F238E27FC236}">
                <a16:creationId xmlns:a16="http://schemas.microsoft.com/office/drawing/2014/main" id="{9B492982-2551-45B7-B311-86D2A3C2250A}"/>
              </a:ext>
            </a:extLst>
          </p:cNvPr>
          <p:cNvSpPr>
            <a:spLocks xmlns:a="http://schemas.openxmlformats.org/drawingml/2006/main" noGrp="1"/>
          </p:cNvSpPr>
          <p:nvPr/>
        </p:nvSpPr>
        <p:spPr>
          <a:xfrm xmlns:a="http://schemas.openxmlformats.org/drawingml/2006/main">
            <a:off x="647700" y="5876925"/>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BA1326"/>
                </a:solidFill>
                <a:latin typeface="Arial"/>
                <a:ea typeface="Arial"/>
                <a:cs typeface="Arial"/>
              </a:defRPr>
            </a:pPr>
            <a:r>
              <a:rPr sz="1725" b="1">
                <a:solidFill>
                  <a:srgbClr val="BA1326"/>
                </a:solidFill>
                <a:latin typeface="Arial"/>
                <a:ea typeface="Arial"/>
                <a:cs typeface="Arial"/>
              </a:rPr>
              <a:t>All companies, records and integrations in this scenario are fictional sample data.</a:t>
            </a:r>
          </a:p>
        </p:txBody>
      </p:sp>
    </p:spTree>
    <p:extLst>
      <p:ext uri="{BB962C8B-B14F-4D97-AF65-F5344CB8AC3E}">
        <p14:creationId xmlns:p14="http://schemas.microsoft.com/office/powerpoint/2010/main" val="20608092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E6D45C-3B30-4B98-9F70-88131F28A58A}"/>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Every finding explains what Glinx knows">
            <a:extLst xmlns:a="http://schemas.openxmlformats.org/drawingml/2006/main">
              <a:ext uri="{FF2B5EF4-FFF2-40B4-BE49-F238E27FC236}">
                <a16:creationId xmlns:a16="http://schemas.microsoft.com/office/drawing/2014/main" id="{A3794BFC-367A-44DF-88EF-C8AE5F330D86}"/>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Every finding explains what Glinx knows</a:t>
            </a:r>
          </a:p>
        </p:txBody>
      </p:sp>
      <p:sp>
        <p:nvSpPr>
          <p:cNvPr id="3" name="The product preserves three different kinds o">
            <a:extLst xmlns:a="http://schemas.openxmlformats.org/drawingml/2006/main">
              <a:ext uri="{FF2B5EF4-FFF2-40B4-BE49-F238E27FC236}">
                <a16:creationId xmlns:a16="http://schemas.microsoft.com/office/drawing/2014/main" id="{65B7ED41-8E07-41DE-8F90-81950A662601}"/>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The product preserves three different kinds of evidence.</a:t>
            </a:r>
          </a:p>
        </p:txBody>
      </p:sp>
      <p:sp>
        <p:nvSpPr>
          <p:cNvPr id="4" name="">
            <a:extLst xmlns:a="http://schemas.openxmlformats.org/drawingml/2006/main">
              <a:ext uri="{FF2B5EF4-FFF2-40B4-BE49-F238E27FC236}">
                <a16:creationId xmlns:a16="http://schemas.microsoft.com/office/drawing/2014/main" id="{5B1CCAA9-728D-4397-8FDF-61E45AC5D2D8}"/>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D1AF2977-F73D-4F2B-B28E-C5D40B247A96}"/>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6214BF3F-B572-4429-BE93-480FBC6E4502}"/>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08">
            <a:extLst xmlns:a="http://schemas.openxmlformats.org/drawingml/2006/main">
              <a:ext uri="{FF2B5EF4-FFF2-40B4-BE49-F238E27FC236}">
                <a16:creationId xmlns:a16="http://schemas.microsoft.com/office/drawing/2014/main" id="{BFEEA610-59E6-47D5-8FD1-3142A6A2B09E}"/>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08</a:t>
            </a:r>
          </a:p>
        </p:txBody>
      </p:sp>
      <p:graphicFrame>
        <p:nvGraphicFramePr>
          <p:cNvPr id="18" name=""/>
          <p:cNvGraphicFramePr/>
          <p:nvPr/>
        </p:nvGraphicFramePr>
        <p:xfrm>
          <a:off xmlns:a="http://schemas.openxmlformats.org/drawingml/2006/main" x="647700" y="2143125"/>
          <a:ext xmlns:a="http://schemas.openxmlformats.org/drawingml/2006/main" cx="10896600" cy="3143250"/>
        </p:xfrm>
        <a:graphic xmlns:a="http://schemas.openxmlformats.org/drawingml/2006/main">
          <a:graphicData uri="http://schemas.openxmlformats.org/drawingml/2006/table">
            <a:tbl>
              <a:tblPr firstRow="0" bandRow="0"/>
              <a:tblGrid>
                <a:gridCol w="2238375"/>
                <a:gridCol w="3905250"/>
                <a:gridCol w="4752975"/>
              </a:tblGrid>
              <a:tr h="495300">
                <a:tc>
                  <a:txBody>
                    <a:bodyPr wrap="square" lIns="123825" tIns="85725" rIns="123825" bIns="85725">
                      <a:noAutofit/>
                    </a:bodyPr>
                    <a:lstStyle/>
                    <a:p>
                      <a:r>
                        <a:rPr sz="1500" b="1">
                          <a:solidFill>
                            <a:srgbClr val="FFFFFF"/>
                          </a:solidFill>
                          <a:latin typeface="Arial"/>
                          <a:ea typeface="Arial"/>
                          <a:cs typeface="Arial"/>
                        </a:rPr>
                        <a:t>Evidence state</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Sample finding</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What it establishes</a:t>
                      </a:r>
                    </a:p>
                  </a:txBody>
                  <a:tcPr marL="91440" marR="91440" marT="45720" marB="45720" anchor="ctr">
                    <a:solidFill>
                      <a:srgbClr val="25272B"/>
                    </a:solidFill>
                  </a:tcPr>
                </a:tc>
              </a:tr>
              <a:tr h="882650">
                <a:tc>
                  <a:txBody>
                    <a:bodyPr wrap="square" lIns="123825" tIns="85725" rIns="123825" bIns="85725">
                      <a:noAutofit/>
                    </a:bodyPr>
                    <a:lstStyle/>
                    <a:p>
                      <a:r>
                        <a:rPr sz="1800" b="1">
                          <a:solidFill>
                            <a:srgbClr val="25272B"/>
                          </a:solidFill>
                          <a:latin typeface="Arial"/>
                          <a:ea typeface="Arial"/>
                          <a:cs typeface="Arial"/>
                        </a:rPr>
                        <a:t>Observed</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The endpoint lists an Epicor installation.</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An installation record exists. Confirm active use with its owner.</a:t>
                      </a:r>
                    </a:p>
                  </a:txBody>
                  <a:tcPr marL="91440" marR="91440" marT="45720" marB="45720" anchor="ctr">
                    <a:solidFill>
                      <a:srgbClr val="FFFFFF"/>
                    </a:solidFill>
                  </a:tcPr>
                </a:tc>
              </a:tr>
              <a:tr h="882650">
                <a:tc>
                  <a:txBody>
                    <a:bodyPr wrap="square" lIns="123825" tIns="85725" rIns="123825" bIns="85725">
                      <a:noAutofit/>
                    </a:bodyPr>
                    <a:lstStyle/>
                    <a:p>
                      <a:r>
                        <a:rPr sz="1800" b="1">
                          <a:solidFill>
                            <a:srgbClr val="25272B"/>
                          </a:solidFill>
                          <a:latin typeface="Arial"/>
                          <a:ea typeface="Arial"/>
                          <a:cs typeface="Arial"/>
                        </a:rPr>
                        <a:t>Owner reported</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Finance reports a monthly CSV transfer to Power BI.</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A person supplied a connection statement. Confirm the actual flow.</a:t>
                      </a:r>
                    </a:p>
                  </a:txBody>
                  <a:tcPr marL="91440" marR="91440" marT="45720" marB="45720" anchor="ctr">
                    <a:solidFill>
                      <a:srgbClr val="F3F4F5"/>
                    </a:solidFill>
                  </a:tcPr>
                </a:tc>
              </a:tr>
              <a:tr h="882650">
                <a:tc>
                  <a:txBody>
                    <a:bodyPr wrap="square" lIns="123825" tIns="85725" rIns="123825" bIns="85725">
                      <a:noAutofit/>
                    </a:bodyPr>
                    <a:lstStyle/>
                    <a:p>
                      <a:r>
                        <a:rPr sz="1800" b="1">
                          <a:solidFill>
                            <a:srgbClr val="25272B"/>
                          </a:solidFill>
                          <a:latin typeface="Arial"/>
                          <a:ea typeface="Arial"/>
                          <a:cs typeface="Arial"/>
                        </a:rPr>
                        <a:t>Inferred</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Mail-routing records suggest Microsoft 365.</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A provider clue matches. Confirm the company’s email service.</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8FD9CFED-292C-497F-A836-1BA17C5C0E98}"/>
              </a:ext>
            </a:extLst>
          </p:cNvPr>
          <p:cNvSpPr>
            <a:spLocks xmlns:a="http://schemas.openxmlformats.org/drawingml/2006/main" noGrp="1"/>
          </p:cNvSpPr>
          <p:nvPr/>
        </p:nvSpPr>
        <p:spPr>
          <a:xfrm xmlns:a="http://schemas.openxmlformats.org/drawingml/2006/main">
            <a:off x="647700" y="5581650"/>
            <a:ext cx="47625" cy="495300"/>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10" name="The evidence panel shows the source, time and">
            <a:extLst xmlns:a="http://schemas.openxmlformats.org/drawingml/2006/main">
              <a:ext uri="{FF2B5EF4-FFF2-40B4-BE49-F238E27FC236}">
                <a16:creationId xmlns:a16="http://schemas.microsoft.com/office/drawing/2014/main" id="{F697D7B8-AA00-495D-8524-70259A2C7EBE}"/>
              </a:ext>
            </a:extLst>
          </p:cNvPr>
          <p:cNvSpPr>
            <a:spLocks xmlns:a="http://schemas.openxmlformats.org/drawingml/2006/main" noGrp="1"/>
          </p:cNvSpPr>
          <p:nvPr/>
        </p:nvSpPr>
        <p:spPr>
          <a:xfrm xmlns:a="http://schemas.openxmlformats.org/drawingml/2006/main">
            <a:off x="838200" y="5619750"/>
            <a:ext cx="1068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5272B"/>
                </a:solidFill>
                <a:latin typeface="Arial"/>
                <a:ea typeface="Arial"/>
                <a:cs typeface="Arial"/>
              </a:defRPr>
            </a:pPr>
            <a:r>
              <a:rPr sz="1800" b="1">
                <a:solidFill>
                  <a:srgbClr val="25272B"/>
                </a:solidFill>
                <a:latin typeface="Arial"/>
                <a:ea typeface="Arial"/>
                <a:cs typeface="Arial"/>
              </a:rPr>
              <a:t>The evidence panel shows the source, time and basis of the finding</a:t>
            </a:r>
          </a:p>
        </p:txBody>
      </p:sp>
    </p:spTree>
    <p:extLst>
      <p:ext uri="{BB962C8B-B14F-4D97-AF65-F5344CB8AC3E}">
        <p14:creationId xmlns:p14="http://schemas.microsoft.com/office/powerpoint/2010/main" val="2753416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A34901-4F80-4E3F-9E47-4BF4A8937790}"/>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Customer value is the next hypothesis to test">
            <a:extLst xmlns:a="http://schemas.openxmlformats.org/drawingml/2006/main">
              <a:ext uri="{FF2B5EF4-FFF2-40B4-BE49-F238E27FC236}">
                <a16:creationId xmlns:a16="http://schemas.microsoft.com/office/drawing/2014/main" id="{2B77E41F-125F-44ED-80EF-28F6BC584E5F}"/>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Customer value is the next hypothesis to test</a:t>
            </a:r>
          </a:p>
        </p:txBody>
      </p:sp>
      <p:sp>
        <p:nvSpPr>
          <p:cNvPr id="3" name="Initial customer hypothesis: an owner or oper">
            <a:extLst xmlns:a="http://schemas.openxmlformats.org/drawingml/2006/main">
              <a:ext uri="{FF2B5EF4-FFF2-40B4-BE49-F238E27FC236}">
                <a16:creationId xmlns:a16="http://schemas.microsoft.com/office/drawing/2014/main" id="{E7142ABC-634E-47F4-B798-499103181348}"/>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Initial customer hypothesis: an owner or operations leader in a manufacturing company.</a:t>
            </a:r>
          </a:p>
        </p:txBody>
      </p:sp>
      <p:sp>
        <p:nvSpPr>
          <p:cNvPr id="4" name="">
            <a:extLst xmlns:a="http://schemas.openxmlformats.org/drawingml/2006/main">
              <a:ext uri="{FF2B5EF4-FFF2-40B4-BE49-F238E27FC236}">
                <a16:creationId xmlns:a16="http://schemas.microsoft.com/office/drawing/2014/main" id="{EC084DC4-F866-4030-9ECE-635FC9A4615B}"/>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D8919817-CBDA-437C-A145-E047409DDD3E}"/>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C015DA6C-2172-4594-93D3-CF145ABE5889}"/>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09">
            <a:extLst xmlns:a="http://schemas.openxmlformats.org/drawingml/2006/main">
              <a:ext uri="{FF2B5EF4-FFF2-40B4-BE49-F238E27FC236}">
                <a16:creationId xmlns:a16="http://schemas.microsoft.com/office/drawing/2014/main" id="{5BA76FE7-00F1-4979-9DE6-0E13CAC669EA}"/>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09</a:t>
            </a:r>
          </a:p>
        </p:txBody>
      </p:sp>
      <p:graphicFrame>
        <p:nvGraphicFramePr>
          <p:cNvPr id="18" name=""/>
          <p:cNvGraphicFramePr/>
          <p:nvPr/>
        </p:nvGraphicFramePr>
        <p:xfrm>
          <a:off xmlns:a="http://schemas.openxmlformats.org/drawingml/2006/main" x="647700" y="2095500"/>
          <a:ext xmlns:a="http://schemas.openxmlformats.org/drawingml/2006/main" cx="10896600" cy="3248025"/>
        </p:xfrm>
        <a:graphic xmlns:a="http://schemas.openxmlformats.org/drawingml/2006/main">
          <a:graphicData uri="http://schemas.openxmlformats.org/drawingml/2006/table">
            <a:tbl>
              <a:tblPr firstRow="0" bandRow="0"/>
              <a:tblGrid>
                <a:gridCol w="4543425"/>
                <a:gridCol w="6353175"/>
              </a:tblGrid>
              <a:tr h="495300">
                <a:tc>
                  <a:txBody>
                    <a:bodyPr wrap="square" lIns="123825" tIns="85725" rIns="123825" bIns="85725">
                      <a:noAutofit/>
                    </a:bodyPr>
                    <a:lstStyle/>
                    <a:p>
                      <a:r>
                        <a:rPr sz="1500" b="1">
                          <a:solidFill>
                            <a:srgbClr val="FFFFFF"/>
                          </a:solidFill>
                          <a:latin typeface="Arial"/>
                          <a:ea typeface="Arial"/>
                          <a:cs typeface="Arial"/>
                        </a:rPr>
                        <a:t>Potential customer benefit</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How a pilot can test it</a:t>
                      </a:r>
                    </a:p>
                  </a:txBody>
                  <a:tcPr marL="91440" marR="91440" marT="45720" marB="45720" anchor="ctr">
                    <a:solidFill>
                      <a:srgbClr val="25272B"/>
                    </a:solidFill>
                  </a:tcPr>
                </a:tc>
              </a:tr>
              <a:tr h="688181">
                <a:tc>
                  <a:txBody>
                    <a:bodyPr wrap="square" lIns="123825" tIns="85725" rIns="123825" bIns="85725">
                      <a:noAutofit/>
                    </a:bodyPr>
                    <a:lstStyle/>
                    <a:p>
                      <a:r>
                        <a:rPr sz="1875" b="1">
                          <a:solidFill>
                            <a:srgbClr val="25272B"/>
                          </a:solidFill>
                          <a:latin typeface="Arial"/>
                          <a:ea typeface="Arial"/>
                          <a:cs typeface="Arial"/>
                        </a:rPr>
                        <a:t>Less effort to establish a baseline</a:t>
                      </a:r>
                    </a:p>
                  </a:txBody>
                  <a:tcPr marL="91440" marR="91440" marT="45720" marB="45720" anchor="ctr">
                    <a:solidFill>
                      <a:srgbClr val="FFFFFF"/>
                    </a:solidFill>
                  </a:tcPr>
                </a:tc>
                <a:tc>
                  <a:txBody>
                    <a:bodyPr wrap="square" lIns="123825" tIns="85725" rIns="123825" bIns="85725">
                      <a:noAutofit/>
                    </a:bodyPr>
                    <a:lstStyle/>
                    <a:p>
                      <a:r>
                        <a:rPr sz="1875" b="0">
                          <a:solidFill>
                            <a:srgbClr val="25272B"/>
                          </a:solidFill>
                          <a:latin typeface="Arial"/>
                          <a:ea typeface="Arial"/>
                          <a:cs typeface="Arial"/>
                        </a:rPr>
                        <a:t>Compare the current inventory process with the Glinx process.</a:t>
                      </a:r>
                    </a:p>
                  </a:txBody>
                  <a:tcPr marL="91440" marR="91440" marT="45720" marB="45720" anchor="ctr">
                    <a:solidFill>
                      <a:srgbClr val="FFFFFF"/>
                    </a:solidFill>
                  </a:tcPr>
                </a:tc>
              </a:tr>
              <a:tr h="688181">
                <a:tc>
                  <a:txBody>
                    <a:bodyPr wrap="square" lIns="123825" tIns="85725" rIns="123825" bIns="85725">
                      <a:noAutofit/>
                    </a:bodyPr>
                    <a:lstStyle/>
                    <a:p>
                      <a:r>
                        <a:rPr sz="1875" b="1">
                          <a:solidFill>
                            <a:srgbClr val="25272B"/>
                          </a:solidFill>
                          <a:latin typeface="Arial"/>
                          <a:ea typeface="Arial"/>
                          <a:cs typeface="Arial"/>
                        </a:rPr>
                        <a:t>Clearer system accountability</a:t>
                      </a:r>
                    </a:p>
                  </a:txBody>
                  <a:tcPr marL="91440" marR="91440" marT="45720" marB="45720" anchor="ctr">
                    <a:solidFill>
                      <a:srgbClr val="F3F4F5"/>
                    </a:solidFill>
                  </a:tcPr>
                </a:tc>
                <a:tc>
                  <a:txBody>
                    <a:bodyPr wrap="square" lIns="123825" tIns="85725" rIns="123825" bIns="85725">
                      <a:noAutofit/>
                    </a:bodyPr>
                    <a:lstStyle/>
                    <a:p>
                      <a:r>
                        <a:rPr sz="1875" b="0">
                          <a:solidFill>
                            <a:srgbClr val="25272B"/>
                          </a:solidFill>
                          <a:latin typeface="Arial"/>
                          <a:ea typeface="Arial"/>
                          <a:cs typeface="Arial"/>
                        </a:rPr>
                        <a:t>Review unassigned systems and identify the responsible team.</a:t>
                      </a:r>
                    </a:p>
                  </a:txBody>
                  <a:tcPr marL="91440" marR="91440" marT="45720" marB="45720" anchor="ctr">
                    <a:solidFill>
                      <a:srgbClr val="F3F4F5"/>
                    </a:solidFill>
                  </a:tcPr>
                </a:tc>
              </a:tr>
              <a:tr h="688181">
                <a:tc>
                  <a:txBody>
                    <a:bodyPr wrap="square" lIns="123825" tIns="85725" rIns="123825" bIns="85725">
                      <a:noAutofit/>
                    </a:bodyPr>
                    <a:lstStyle/>
                    <a:p>
                      <a:r>
                        <a:rPr sz="1875" b="1">
                          <a:solidFill>
                            <a:srgbClr val="25272B"/>
                          </a:solidFill>
                          <a:latin typeface="Arial"/>
                          <a:ea typeface="Arial"/>
                          <a:cs typeface="Arial"/>
                        </a:rPr>
                        <a:t>Better integration planning</a:t>
                      </a:r>
                    </a:p>
                  </a:txBody>
                  <a:tcPr marL="91440" marR="91440" marT="45720" marB="45720" anchor="ctr">
                    <a:solidFill>
                      <a:srgbClr val="FFFFFF"/>
                    </a:solidFill>
                  </a:tcPr>
                </a:tc>
                <a:tc>
                  <a:txBody>
                    <a:bodyPr wrap="square" lIns="123825" tIns="85725" rIns="123825" bIns="85725">
                      <a:noAutofit/>
                    </a:bodyPr>
                    <a:lstStyle/>
                    <a:p>
                      <a:r>
                        <a:rPr sz="1875" b="0">
                          <a:solidFill>
                            <a:srgbClr val="25272B"/>
                          </a:solidFill>
                          <a:latin typeface="Arial"/>
                          <a:ea typeface="Arial"/>
                          <a:cs typeface="Arial"/>
                        </a:rPr>
                        <a:t>Confirm a reported handoff and decide whether it warrants deeper work.</a:t>
                      </a:r>
                    </a:p>
                  </a:txBody>
                  <a:tcPr marL="91440" marR="91440" marT="45720" marB="45720" anchor="ctr">
                    <a:solidFill>
                      <a:srgbClr val="FFFFFF"/>
                    </a:solidFill>
                  </a:tcPr>
                </a:tc>
              </a:tr>
              <a:tr h="688181">
                <a:tc>
                  <a:txBody>
                    <a:bodyPr wrap="square" lIns="123825" tIns="85725" rIns="123825" bIns="85725">
                      <a:noAutofit/>
                    </a:bodyPr>
                    <a:lstStyle/>
                    <a:p>
                      <a:r>
                        <a:rPr sz="1875" b="1">
                          <a:solidFill>
                            <a:srgbClr val="25272B"/>
                          </a:solidFill>
                          <a:latin typeface="Arial"/>
                          <a:ea typeface="Arial"/>
                          <a:cs typeface="Arial"/>
                        </a:rPr>
                        <a:t>A stronger starting point for company AI</a:t>
                      </a:r>
                    </a:p>
                  </a:txBody>
                  <a:tcPr marL="91440" marR="91440" marT="45720" marB="45720" anchor="ctr">
                    <a:solidFill>
                      <a:srgbClr val="F3F4F5"/>
                    </a:solidFill>
                  </a:tcPr>
                </a:tc>
                <a:tc>
                  <a:txBody>
                    <a:bodyPr wrap="square" lIns="123825" tIns="85725" rIns="123825" bIns="85725">
                      <a:noAutofit/>
                    </a:bodyPr>
                    <a:lstStyle/>
                    <a:p>
                      <a:r>
                        <a:rPr sz="1875" b="0">
                          <a:solidFill>
                            <a:srgbClr val="25272B"/>
                          </a:solidFill>
                          <a:latin typeface="Arial"/>
                          <a:ea typeface="Arial"/>
                          <a:cs typeface="Arial"/>
                        </a:rPr>
                        <a:t>Identify the source systems and access needed for one business question.</a:t>
                      </a:r>
                    </a:p>
                  </a:txBody>
                  <a:tcPr marL="91440" marR="91440" marT="45720" marB="45720" anchor="ctr">
                    <a:solidFill>
                      <a:srgbClr val="F3F4F5"/>
                    </a:solidFill>
                  </a:tcPr>
                </a:tc>
              </a:tr>
            </a:tbl>
          </a:graphicData>
        </a:graphic>
      </p:graphicFrame>
      <p:sp>
        <p:nvSpPr>
          <p:cNvPr id="9" name="Commercial hypothesis">
            <a:extLst xmlns:a="http://schemas.openxmlformats.org/drawingml/2006/main">
              <a:ext uri="{FF2B5EF4-FFF2-40B4-BE49-F238E27FC236}">
                <a16:creationId xmlns:a16="http://schemas.microsoft.com/office/drawing/2014/main" id="{28EA4757-9821-432F-8D80-3616E97C852B}"/>
              </a:ext>
            </a:extLst>
          </p:cNvPr>
          <p:cNvSpPr>
            <a:spLocks xmlns:a="http://schemas.openxmlformats.org/drawingml/2006/main" noGrp="1"/>
          </p:cNvSpPr>
          <p:nvPr/>
        </p:nvSpPr>
        <p:spPr>
          <a:xfrm xmlns:a="http://schemas.openxmlformats.org/drawingml/2006/main">
            <a:off x="647700" y="56578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BA1326"/>
                </a:solidFill>
                <a:latin typeface="Arial"/>
                <a:ea typeface="Arial"/>
                <a:cs typeface="Arial"/>
              </a:defRPr>
            </a:pPr>
            <a:r>
              <a:rPr sz="1650" b="1">
                <a:solidFill>
                  <a:srgbClr val="BA1326"/>
                </a:solidFill>
                <a:latin typeface="Arial"/>
                <a:ea typeface="Arial"/>
                <a:cs typeface="Arial"/>
              </a:rPr>
              <a:t>Commercial hypothesis</a:t>
            </a:r>
          </a:p>
        </p:txBody>
      </p:sp>
      <p:sp>
        <p:nvSpPr>
          <p:cNvPr id="10" name="Test a paid discovery engagement. Evaluate on">
            <a:extLst xmlns:a="http://schemas.openxmlformats.org/drawingml/2006/main">
              <a:ext uri="{FF2B5EF4-FFF2-40B4-BE49-F238E27FC236}">
                <a16:creationId xmlns:a16="http://schemas.microsoft.com/office/drawing/2014/main" id="{589FF8E4-4839-414F-A5C0-28B8AF09D254}"/>
              </a:ext>
            </a:extLst>
          </p:cNvPr>
          <p:cNvSpPr>
            <a:spLocks xmlns:a="http://schemas.openxmlformats.org/drawingml/2006/main" noGrp="1"/>
          </p:cNvSpPr>
          <p:nvPr/>
        </p:nvSpPr>
        <p:spPr>
          <a:xfrm xmlns:a="http://schemas.openxmlformats.org/drawingml/2006/main">
            <a:off x="3724275" y="5629275"/>
            <a:ext cx="78200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5272B"/>
                </a:solidFill>
                <a:latin typeface="Arial"/>
                <a:ea typeface="Arial"/>
                <a:cs typeface="Arial"/>
              </a:defRPr>
            </a:pPr>
            <a:r>
              <a:rPr sz="1875" b="1">
                <a:solidFill>
                  <a:srgbClr val="25272B"/>
                </a:solidFill>
                <a:latin typeface="Arial"/>
                <a:ea typeface="Arial"/>
                <a:cs typeface="Arial"/>
              </a:rPr>
              <a:t>Test a paid discovery engagement. Evaluate ongoing monitoring after that capability exists.</a:t>
            </a:r>
          </a:p>
        </p:txBody>
      </p:sp>
    </p:spTree>
    <p:extLst>
      <p:ext uri="{BB962C8B-B14F-4D97-AF65-F5344CB8AC3E}">
        <p14:creationId xmlns:p14="http://schemas.microsoft.com/office/powerpoint/2010/main" val="15802742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840C3A2-1DFB-4B41-9408-301EB3925C4A}"/>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The prototype works within a defined scope">
            <a:extLst xmlns:a="http://schemas.openxmlformats.org/drawingml/2006/main">
              <a:ext uri="{FF2B5EF4-FFF2-40B4-BE49-F238E27FC236}">
                <a16:creationId xmlns:a16="http://schemas.microsoft.com/office/drawing/2014/main" id="{8AB3A683-9C0F-41B9-88F9-9DE91D176075}"/>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The prototype works within a defined scope</a:t>
            </a:r>
          </a:p>
        </p:txBody>
      </p:sp>
      <p:sp>
        <p:nvSpPr>
          <p:cNvPr id="3" name="Engineering evidence is available today. Cust">
            <a:extLst xmlns:a="http://schemas.openxmlformats.org/drawingml/2006/main">
              <a:ext uri="{FF2B5EF4-FFF2-40B4-BE49-F238E27FC236}">
                <a16:creationId xmlns:a16="http://schemas.microsoft.com/office/drawing/2014/main" id="{402F7C8D-3209-4A27-8C9C-363ACDED2F43}"/>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Engineering evidence is available today. Customer and tenant validation come next.</a:t>
            </a:r>
          </a:p>
        </p:txBody>
      </p:sp>
      <p:sp>
        <p:nvSpPr>
          <p:cNvPr id="4" name="">
            <a:extLst xmlns:a="http://schemas.openxmlformats.org/drawingml/2006/main">
              <a:ext uri="{FF2B5EF4-FFF2-40B4-BE49-F238E27FC236}">
                <a16:creationId xmlns:a16="http://schemas.microsoft.com/office/drawing/2014/main" id="{540DD65B-1573-4DA2-9710-A2443B964AEA}"/>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3AFFEA8B-A9AE-4CB5-8F6D-6C9F91F54A09}"/>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D8EF58E2-05A6-4B1E-AF96-4F334D2BCB15}"/>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10">
            <a:extLst xmlns:a="http://schemas.openxmlformats.org/drawingml/2006/main">
              <a:ext uri="{FF2B5EF4-FFF2-40B4-BE49-F238E27FC236}">
                <a16:creationId xmlns:a16="http://schemas.microsoft.com/office/drawing/2014/main" id="{031B8223-501B-4D41-B440-86C326C0A83A}"/>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10</a:t>
            </a:r>
          </a:p>
        </p:txBody>
      </p:sp>
      <p:sp>
        <p:nvSpPr>
          <p:cNvPr id="8" name="24">
            <a:extLst xmlns:a="http://schemas.openxmlformats.org/drawingml/2006/main">
              <a:ext uri="{FF2B5EF4-FFF2-40B4-BE49-F238E27FC236}">
                <a16:creationId xmlns:a16="http://schemas.microsoft.com/office/drawing/2014/main" id="{A364063C-604D-488E-A346-5F0DF0559163}"/>
              </a:ext>
            </a:extLst>
          </p:cNvPr>
          <p:cNvSpPr>
            <a:spLocks xmlns:a="http://schemas.openxmlformats.org/drawingml/2006/main" noGrp="1"/>
          </p:cNvSpPr>
          <p:nvPr/>
        </p:nvSpPr>
        <p:spPr>
          <a:xfrm xmlns:a="http://schemas.openxmlformats.org/drawingml/2006/main">
            <a:off x="647700" y="2114550"/>
            <a:ext cx="2095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0" b="1">
                <a:solidFill>
                  <a:srgbClr val="BA1326"/>
                </a:solidFill>
                <a:latin typeface="Arial"/>
                <a:ea typeface="Arial"/>
                <a:cs typeface="Arial"/>
              </a:defRPr>
            </a:pPr>
            <a:r>
              <a:rPr sz="7500" b="1">
                <a:solidFill>
                  <a:srgbClr val="BA1326"/>
                </a:solidFill>
                <a:latin typeface="Arial"/>
                <a:ea typeface="Arial"/>
                <a:cs typeface="Arial"/>
              </a:rPr>
              <a:t>24</a:t>
            </a:r>
          </a:p>
        </p:txBody>
      </p:sp>
      <p:sp>
        <p:nvSpPr>
          <p:cNvPr id="9" name="automated tests passed">
            <a:extLst xmlns:a="http://schemas.openxmlformats.org/drawingml/2006/main">
              <a:ext uri="{FF2B5EF4-FFF2-40B4-BE49-F238E27FC236}">
                <a16:creationId xmlns:a16="http://schemas.microsoft.com/office/drawing/2014/main" id="{2218585A-B415-43C3-9B72-29D247B49804}"/>
              </a:ext>
            </a:extLst>
          </p:cNvPr>
          <p:cNvSpPr>
            <a:spLocks xmlns:a="http://schemas.openxmlformats.org/drawingml/2006/main" noGrp="1"/>
          </p:cNvSpPr>
          <p:nvPr/>
        </p:nvSpPr>
        <p:spPr>
          <a:xfrm xmlns:a="http://schemas.openxmlformats.org/drawingml/2006/main">
            <a:off x="647700" y="3333750"/>
            <a:ext cx="323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5272B"/>
                </a:solidFill>
                <a:latin typeface="Arial"/>
                <a:ea typeface="Arial"/>
                <a:cs typeface="Arial"/>
              </a:defRPr>
            </a:pPr>
            <a:r>
              <a:rPr sz="2175" b="1">
                <a:solidFill>
                  <a:srgbClr val="25272B"/>
                </a:solidFill>
                <a:latin typeface="Arial"/>
                <a:ea typeface="Arial"/>
                <a:cs typeface="Arial"/>
              </a:rPr>
              <a:t>automated tests passed</a:t>
            </a:r>
          </a:p>
        </p:txBody>
      </p:sp>
      <p:sp>
        <p:nvSpPr>
          <p:cNvPr id="10" name="17 agent tests&#10;7 dashboard model tests">
            <a:extLst xmlns:a="http://schemas.openxmlformats.org/drawingml/2006/main">
              <a:ext uri="{FF2B5EF4-FFF2-40B4-BE49-F238E27FC236}">
                <a16:creationId xmlns:a16="http://schemas.microsoft.com/office/drawing/2014/main" id="{B40A46AA-8E1D-48D2-9241-35885BE031AE}"/>
              </a:ext>
            </a:extLst>
          </p:cNvPr>
          <p:cNvSpPr>
            <a:spLocks xmlns:a="http://schemas.openxmlformats.org/drawingml/2006/main" noGrp="1"/>
          </p:cNvSpPr>
          <p:nvPr/>
        </p:nvSpPr>
        <p:spPr>
          <a:xfrm xmlns:a="http://schemas.openxmlformats.org/drawingml/2006/main">
            <a:off x="647700" y="4181475"/>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4696F"/>
                </a:solidFill>
                <a:latin typeface="Arial"/>
                <a:ea typeface="Arial"/>
                <a:cs typeface="Arial"/>
              </a:defRPr>
            </a:pPr>
            <a:r>
              <a:rPr sz="1950" b="0">
                <a:solidFill>
                  <a:srgbClr val="64696F"/>
                </a:solidFill>
                <a:latin typeface="Arial"/>
                <a:ea typeface="Arial"/>
                <a:cs typeface="Arial"/>
              </a:rPr>
              <a:t>17 agent tests</a:t>
            </a:r>
          </a:p>
          <a:p xmlns:a="http://schemas.openxmlformats.org/drawingml/2006/main">
            <a:pPr algn="l">
              <a:defRPr sz="1950" b="0">
                <a:solidFill>
                  <a:srgbClr val="64696F"/>
                </a:solidFill>
                <a:latin typeface="Arial"/>
                <a:ea typeface="Arial"/>
                <a:cs typeface="Arial"/>
              </a:defRPr>
            </a:pPr>
            <a:r>
              <a:rPr sz="1950" b="0">
                <a:solidFill>
                  <a:srgbClr val="64696F"/>
                </a:solidFill>
                <a:latin typeface="Arial"/>
                <a:ea typeface="Arial"/>
                <a:cs typeface="Arial"/>
              </a:rPr>
              <a:t>7 dashboard model tests</a:t>
            </a:r>
          </a:p>
        </p:txBody>
      </p:sp>
      <p:sp>
        <p:nvSpPr>
          <p:cNvPr id="11" name="Also exercised locally">
            <a:extLst xmlns:a="http://schemas.openxmlformats.org/drawingml/2006/main">
              <a:ext uri="{FF2B5EF4-FFF2-40B4-BE49-F238E27FC236}">
                <a16:creationId xmlns:a16="http://schemas.microsoft.com/office/drawing/2014/main" id="{C3E5C596-2C09-4599-BD76-B457BC318FD4}"/>
              </a:ext>
            </a:extLst>
          </p:cNvPr>
          <p:cNvSpPr>
            <a:spLocks xmlns:a="http://schemas.openxmlformats.org/drawingml/2006/main" noGrp="1"/>
          </p:cNvSpPr>
          <p:nvPr/>
        </p:nvSpPr>
        <p:spPr>
          <a:xfrm xmlns:a="http://schemas.openxmlformats.org/drawingml/2006/main">
            <a:off x="4476750" y="2114550"/>
            <a:ext cx="7067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72B"/>
                </a:solidFill>
                <a:latin typeface="Arial"/>
                <a:ea typeface="Arial"/>
                <a:cs typeface="Arial"/>
              </a:defRPr>
            </a:pPr>
            <a:r>
              <a:rPr sz="2100" b="1">
                <a:solidFill>
                  <a:srgbClr val="25272B"/>
                </a:solidFill>
                <a:latin typeface="Arial"/>
                <a:ea typeface="Arial"/>
                <a:cs typeface="Arial"/>
              </a:rPr>
              <a:t>Also exercised locally</a:t>
            </a:r>
          </a:p>
        </p:txBody>
      </p:sp>
      <p:sp>
        <p:nvSpPr>
          <p:cNvPr id="12" name="Real Linux discovery&#10;A clean package installa">
            <a:extLst xmlns:a="http://schemas.openxmlformats.org/drawingml/2006/main">
              <a:ext uri="{FF2B5EF4-FFF2-40B4-BE49-F238E27FC236}">
                <a16:creationId xmlns:a16="http://schemas.microsoft.com/office/drawing/2014/main" id="{6FCC6709-2848-479C-8832-63231A4008D9}"/>
              </a:ext>
            </a:extLst>
          </p:cNvPr>
          <p:cNvSpPr>
            <a:spLocks xmlns:a="http://schemas.openxmlformats.org/drawingml/2006/main" noGrp="1"/>
          </p:cNvSpPr>
          <p:nvPr/>
        </p:nvSpPr>
        <p:spPr>
          <a:xfrm xmlns:a="http://schemas.openxmlformats.org/drawingml/2006/main">
            <a:off x="4476750" y="2676525"/>
            <a:ext cx="70675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4696F"/>
                </a:solidFill>
                <a:latin typeface="Arial"/>
                <a:ea typeface="Arial"/>
                <a:cs typeface="Arial"/>
              </a:defRPr>
            </a:pPr>
            <a:r>
              <a:rPr sz="2100" b="0">
                <a:solidFill>
                  <a:srgbClr val="64696F"/>
                </a:solidFill>
                <a:latin typeface="Arial"/>
                <a:ea typeface="Arial"/>
                <a:cs typeface="Arial"/>
              </a:rPr>
              <a:t>Real Linux discovery</a:t>
            </a:r>
          </a:p>
          <a:p xmlns:a="http://schemas.openxmlformats.org/drawingml/2006/main">
            <a:pPr algn="l">
              <a:defRPr sz="2100" b="0">
                <a:solidFill>
                  <a:srgbClr val="64696F"/>
                </a:solidFill>
                <a:latin typeface="Arial"/>
                <a:ea typeface="Arial"/>
                <a:cs typeface="Arial"/>
              </a:defRPr>
            </a:pPr>
            <a:r>
              <a:rPr sz="2100" b="0">
                <a:solidFill>
                  <a:srgbClr val="64696F"/>
                </a:solidFill>
                <a:latin typeface="Arial"/>
                <a:ea typeface="Arial"/>
                <a:cs typeface="Arial"/>
              </a:rPr>
              <a:t>A clean package installation</a:t>
            </a:r>
          </a:p>
          <a:p xmlns:a="http://schemas.openxmlformats.org/drawingml/2006/main">
            <a:pPr algn="l">
              <a:defRPr sz="2100" b="0">
                <a:solidFill>
                  <a:srgbClr val="64696F"/>
                </a:solidFill>
                <a:latin typeface="Arial"/>
                <a:ea typeface="Arial"/>
                <a:cs typeface="Arial"/>
              </a:defRPr>
            </a:pPr>
            <a:r>
              <a:rPr sz="2100" b="0">
                <a:solidFill>
                  <a:srgbClr val="64696F"/>
                </a:solidFill>
                <a:latin typeface="Arial"/>
                <a:ea typeface="Arial"/>
                <a:cs typeface="Arial"/>
              </a:rPr>
              <a:t>Local report and dashboard serving</a:t>
            </a:r>
          </a:p>
        </p:txBody>
      </p:sp>
      <p:sp>
        <p:nvSpPr>
          <p:cNvPr id="13" name="">
            <a:extLst xmlns:a="http://schemas.openxmlformats.org/drawingml/2006/main">
              <a:ext uri="{FF2B5EF4-FFF2-40B4-BE49-F238E27FC236}">
                <a16:creationId xmlns:a16="http://schemas.microsoft.com/office/drawing/2014/main" id="{18FFCF46-DB7D-4592-A074-D33C7E66E4E1}"/>
              </a:ext>
            </a:extLst>
          </p:cNvPr>
          <p:cNvSpPr>
            <a:spLocks xmlns:a="http://schemas.openxmlformats.org/drawingml/2006/main" noGrp="1"/>
          </p:cNvSpPr>
          <p:nvPr/>
        </p:nvSpPr>
        <p:spPr>
          <a:xfrm xmlns:a="http://schemas.openxmlformats.org/drawingml/2006/main">
            <a:off x="4476750" y="4362450"/>
            <a:ext cx="706755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14" name="Next validation">
            <a:extLst xmlns:a="http://schemas.openxmlformats.org/drawingml/2006/main">
              <a:ext uri="{FF2B5EF4-FFF2-40B4-BE49-F238E27FC236}">
                <a16:creationId xmlns:a16="http://schemas.microsoft.com/office/drawing/2014/main" id="{23AC9D96-9021-4711-8CC9-9BC7F919BDE6}"/>
              </a:ext>
            </a:extLst>
          </p:cNvPr>
          <p:cNvSpPr>
            <a:spLocks xmlns:a="http://schemas.openxmlformats.org/drawingml/2006/main" noGrp="1"/>
          </p:cNvSpPr>
          <p:nvPr/>
        </p:nvSpPr>
        <p:spPr>
          <a:xfrm xmlns:a="http://schemas.openxmlformats.org/drawingml/2006/main">
            <a:off x="4476750" y="4610100"/>
            <a:ext cx="7067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BA1326"/>
                </a:solidFill>
                <a:latin typeface="Arial"/>
                <a:ea typeface="Arial"/>
                <a:cs typeface="Arial"/>
              </a:defRPr>
            </a:pPr>
            <a:r>
              <a:rPr sz="2025" b="1">
                <a:solidFill>
                  <a:srgbClr val="BA1326"/>
                </a:solidFill>
                <a:latin typeface="Arial"/>
                <a:ea typeface="Arial"/>
                <a:cs typeface="Arial"/>
              </a:rPr>
              <a:t>Next validation</a:t>
            </a:r>
          </a:p>
        </p:txBody>
      </p:sp>
      <p:sp>
        <p:nvSpPr>
          <p:cNvPr id="15" name="Windows and macOS endpoints&#10;A live Microsoft ">
            <a:extLst xmlns:a="http://schemas.openxmlformats.org/drawingml/2006/main">
              <a:ext uri="{FF2B5EF4-FFF2-40B4-BE49-F238E27FC236}">
                <a16:creationId xmlns:a16="http://schemas.microsoft.com/office/drawing/2014/main" id="{9CECA9E0-25FC-4548-AFBD-4972139C6959}"/>
              </a:ext>
            </a:extLst>
          </p:cNvPr>
          <p:cNvSpPr>
            <a:spLocks xmlns:a="http://schemas.openxmlformats.org/drawingml/2006/main" noGrp="1"/>
          </p:cNvSpPr>
          <p:nvPr/>
        </p:nvSpPr>
        <p:spPr>
          <a:xfrm xmlns:a="http://schemas.openxmlformats.org/drawingml/2006/main">
            <a:off x="4476750" y="5076825"/>
            <a:ext cx="70675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4696F"/>
                </a:solidFill>
                <a:latin typeface="Arial"/>
                <a:ea typeface="Arial"/>
                <a:cs typeface="Arial"/>
              </a:defRPr>
            </a:pPr>
            <a:r>
              <a:rPr sz="1950" b="0">
                <a:solidFill>
                  <a:srgbClr val="64696F"/>
                </a:solidFill>
                <a:latin typeface="Arial"/>
                <a:ea typeface="Arial"/>
                <a:cs typeface="Arial"/>
              </a:rPr>
              <a:t>Windows and macOS endpoints</a:t>
            </a:r>
          </a:p>
          <a:p xmlns:a="http://schemas.openxmlformats.org/drawingml/2006/main">
            <a:pPr algn="l">
              <a:defRPr sz="1950" b="0">
                <a:solidFill>
                  <a:srgbClr val="64696F"/>
                </a:solidFill>
                <a:latin typeface="Arial"/>
                <a:ea typeface="Arial"/>
                <a:cs typeface="Arial"/>
              </a:defRPr>
            </a:pPr>
            <a:r>
              <a:rPr sz="1950" b="0">
                <a:solidFill>
                  <a:srgbClr val="64696F"/>
                </a:solidFill>
                <a:latin typeface="Arial"/>
                <a:ea typeface="Arial"/>
                <a:cs typeface="Arial"/>
              </a:rPr>
              <a:t>A live Microsoft 365 tenant</a:t>
            </a:r>
          </a:p>
          <a:p xmlns:a="http://schemas.openxmlformats.org/drawingml/2006/main">
            <a:pPr algn="l">
              <a:defRPr sz="1950" b="0">
                <a:solidFill>
                  <a:srgbClr val="64696F"/>
                </a:solidFill>
                <a:latin typeface="Arial"/>
                <a:ea typeface="Arial"/>
                <a:cs typeface="Arial"/>
              </a:defRPr>
            </a:pPr>
            <a:r>
              <a:rPr sz="1950" b="0">
                <a:solidFill>
                  <a:srgbClr val="64696F"/>
                </a:solidFill>
                <a:latin typeface="Arial"/>
                <a:ea typeface="Arial"/>
                <a:cs typeface="Arial"/>
              </a:rPr>
              <a:t>A real company inventory</a:t>
            </a:r>
          </a:p>
        </p:txBody>
      </p:sp>
    </p:spTree>
    <p:extLst>
      <p:ext uri="{BB962C8B-B14F-4D97-AF65-F5344CB8AC3E}">
        <p14:creationId xmlns:p14="http://schemas.microsoft.com/office/powerpoint/2010/main" val="751602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1868BE-BB8B-465A-B950-F64F9978DBB3}"/>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Discovery is the first layer of the wider Gli">
            <a:extLst xmlns:a="http://schemas.openxmlformats.org/drawingml/2006/main">
              <a:ext uri="{FF2B5EF4-FFF2-40B4-BE49-F238E27FC236}">
                <a16:creationId xmlns:a16="http://schemas.microsoft.com/office/drawing/2014/main" id="{9830549B-9796-457A-B9C0-89F084E04FBD}"/>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Discovery is the first layer of the wider Glinx vision</a:t>
            </a:r>
          </a:p>
        </p:txBody>
      </p:sp>
      <p:sp>
        <p:nvSpPr>
          <p:cNvPr id="3" name="Self-awareness means an evidence-backed model">
            <a:extLst xmlns:a="http://schemas.openxmlformats.org/drawingml/2006/main">
              <a:ext uri="{FF2B5EF4-FFF2-40B4-BE49-F238E27FC236}">
                <a16:creationId xmlns:a16="http://schemas.microsoft.com/office/drawing/2014/main" id="{58A06E38-A8F8-449C-A30A-2EA8EADDDA90}"/>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Self-awareness means an evidence-backed model of the company and its operating condition.</a:t>
            </a:r>
          </a:p>
        </p:txBody>
      </p:sp>
      <p:sp>
        <p:nvSpPr>
          <p:cNvPr id="4" name="">
            <a:extLst xmlns:a="http://schemas.openxmlformats.org/drawingml/2006/main">
              <a:ext uri="{FF2B5EF4-FFF2-40B4-BE49-F238E27FC236}">
                <a16:creationId xmlns:a16="http://schemas.microsoft.com/office/drawing/2014/main" id="{7A9A5C02-85A8-4687-B8F0-12C7663B1E7C}"/>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2A1B9985-904F-44FF-B472-E6A68BE5B950}"/>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CADE1372-496E-423A-BEBA-9C61F903DCDE}"/>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11">
            <a:extLst xmlns:a="http://schemas.openxmlformats.org/drawingml/2006/main">
              <a:ext uri="{FF2B5EF4-FFF2-40B4-BE49-F238E27FC236}">
                <a16:creationId xmlns:a16="http://schemas.microsoft.com/office/drawing/2014/main" id="{EFCF3649-5C72-48F7-BD12-4B742790FC58}"/>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11</a:t>
            </a:r>
          </a:p>
        </p:txBody>
      </p:sp>
      <p:graphicFrame>
        <p:nvGraphicFramePr>
          <p:cNvPr id="17" name=""/>
          <p:cNvGraphicFramePr/>
          <p:nvPr/>
        </p:nvGraphicFramePr>
        <p:xfrm>
          <a:off xmlns:a="http://schemas.openxmlformats.org/drawingml/2006/main" x="647700" y="2095500"/>
          <a:ext xmlns:a="http://schemas.openxmlformats.org/drawingml/2006/main" cx="10896600" cy="3743325"/>
        </p:xfrm>
        <a:graphic xmlns:a="http://schemas.openxmlformats.org/drawingml/2006/main">
          <a:graphicData uri="http://schemas.openxmlformats.org/drawingml/2006/table">
            <a:tbl>
              <a:tblPr firstRow="0" bandRow="0"/>
              <a:tblGrid>
                <a:gridCol w="1876425"/>
                <a:gridCol w="5715000"/>
                <a:gridCol w="3305175"/>
              </a:tblGrid>
              <a:tr h="495300">
                <a:tc>
                  <a:txBody>
                    <a:bodyPr wrap="square" lIns="123825" tIns="85725" rIns="123825" bIns="85725">
                      <a:noAutofit/>
                    </a:bodyPr>
                    <a:lstStyle/>
                    <a:p>
                      <a:r>
                        <a:rPr sz="1500" b="1">
                          <a:solidFill>
                            <a:srgbClr val="FFFFFF"/>
                          </a:solidFill>
                          <a:latin typeface="Arial"/>
                          <a:ea typeface="Arial"/>
                          <a:cs typeface="Arial"/>
                        </a:rPr>
                        <a:t>Layer</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Purpose</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Product stage</a:t>
                      </a:r>
                    </a:p>
                  </a:txBody>
                  <a:tcPr marL="91440" marR="91440" marT="45720" marB="45720" anchor="ctr">
                    <a:solidFill>
                      <a:srgbClr val="25272B"/>
                    </a:solidFill>
                  </a:tcPr>
                </a:tc>
              </a:tr>
              <a:tr h="649605">
                <a:tc>
                  <a:txBody>
                    <a:bodyPr wrap="square" lIns="123825" tIns="85725" rIns="123825" bIns="85725">
                      <a:noAutofit/>
                    </a:bodyPr>
                    <a:lstStyle/>
                    <a:p>
                      <a:r>
                        <a:rPr sz="1875" b="1">
                          <a:solidFill>
                            <a:srgbClr val="BA1326"/>
                          </a:solidFill>
                          <a:latin typeface="Arial"/>
                          <a:ea typeface="Arial"/>
                          <a:cs typeface="Arial"/>
                        </a:rPr>
                        <a:t>Sense</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Identify systems and retain the supporting evidence.</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Current discovery prototype</a:t>
                      </a:r>
                    </a:p>
                  </a:txBody>
                  <a:tcPr marL="91440" marR="91440" marT="45720" marB="45720" anchor="ctr">
                    <a:solidFill>
                      <a:srgbClr val="FFFFFF"/>
                    </a:solidFill>
                  </a:tcPr>
                </a:tc>
              </a:tr>
              <a:tr h="649605">
                <a:tc>
                  <a:txBody>
                    <a:bodyPr wrap="square" lIns="123825" tIns="85725" rIns="123825" bIns="85725">
                      <a:noAutofit/>
                    </a:bodyPr>
                    <a:lstStyle/>
                    <a:p>
                      <a:r>
                        <a:rPr sz="1800" b="1">
                          <a:solidFill>
                            <a:srgbClr val="25272B"/>
                          </a:solidFill>
                          <a:latin typeface="Arial"/>
                          <a:ea typeface="Arial"/>
                          <a:cs typeface="Arial"/>
                        </a:rPr>
                        <a:t>Understand</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Explain business information in company context.</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Future capability</a:t>
                      </a:r>
                    </a:p>
                  </a:txBody>
                  <a:tcPr marL="91440" marR="91440" marT="45720" marB="45720" anchor="ctr">
                    <a:solidFill>
                      <a:srgbClr val="F3F4F5"/>
                    </a:solidFill>
                  </a:tcPr>
                </a:tc>
              </a:tr>
              <a:tr h="649605">
                <a:tc>
                  <a:txBody>
                    <a:bodyPr wrap="square" lIns="123825" tIns="85725" rIns="123825" bIns="85725">
                      <a:noAutofit/>
                    </a:bodyPr>
                    <a:lstStyle/>
                    <a:p>
                      <a:r>
                        <a:rPr sz="1800" b="1">
                          <a:solidFill>
                            <a:srgbClr val="25272B"/>
                          </a:solidFill>
                          <a:latin typeface="Arial"/>
                          <a:ea typeface="Arial"/>
                          <a:cs typeface="Arial"/>
                        </a:rPr>
                        <a:t>Decide</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Recommend actions using business evidence.</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Future capability</a:t>
                      </a:r>
                    </a:p>
                  </a:txBody>
                  <a:tcPr marL="91440" marR="91440" marT="45720" marB="45720" anchor="ctr">
                    <a:solidFill>
                      <a:srgbClr val="FFFFFF"/>
                    </a:solidFill>
                  </a:tcPr>
                </a:tc>
              </a:tr>
              <a:tr h="649605">
                <a:tc>
                  <a:txBody>
                    <a:bodyPr wrap="square" lIns="123825" tIns="85725" rIns="123825" bIns="85725">
                      <a:noAutofit/>
                    </a:bodyPr>
                    <a:lstStyle/>
                    <a:p>
                      <a:r>
                        <a:rPr sz="1800" b="1">
                          <a:solidFill>
                            <a:srgbClr val="25272B"/>
                          </a:solidFill>
                          <a:latin typeface="Arial"/>
                          <a:ea typeface="Arial"/>
                          <a:cs typeface="Arial"/>
                        </a:rPr>
                        <a:t>Act</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Carry out approved actions within defined limits.</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Future capability</a:t>
                      </a:r>
                    </a:p>
                  </a:txBody>
                  <a:tcPr marL="91440" marR="91440" marT="45720" marB="45720" anchor="ctr">
                    <a:solidFill>
                      <a:srgbClr val="F3F4F5"/>
                    </a:solidFill>
                  </a:tcPr>
                </a:tc>
              </a:tr>
              <a:tr h="649605">
                <a:tc>
                  <a:txBody>
                    <a:bodyPr wrap="square" lIns="123825" tIns="85725" rIns="123825" bIns="85725">
                      <a:noAutofit/>
                    </a:bodyPr>
                    <a:lstStyle/>
                    <a:p>
                      <a:r>
                        <a:rPr sz="1800" b="1">
                          <a:solidFill>
                            <a:srgbClr val="25272B"/>
                          </a:solidFill>
                          <a:latin typeface="Arial"/>
                          <a:ea typeface="Arial"/>
                          <a:cs typeface="Arial"/>
                        </a:rPr>
                        <a:t>Learn</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Use outcomes to improve the company model.</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Future capability</a:t>
                      </a:r>
                    </a:p>
                  </a:txBody>
                  <a:tcPr marL="91440" marR="91440" marT="45720" marB="45720" anchor="ctr">
                    <a:solidFill>
                      <a:srgbClr val="FFFFFF"/>
                    </a:solidFill>
                  </a:tcPr>
                </a:tc>
              </a:tr>
            </a:tbl>
          </a:graphicData>
        </a:graphic>
      </p:graphicFrame>
      <p:sp>
        <p:nvSpPr>
          <p:cNvPr id="9" name="Discovery supplies the evidence. Business rea">
            <a:extLst xmlns:a="http://schemas.openxmlformats.org/drawingml/2006/main">
              <a:ext uri="{FF2B5EF4-FFF2-40B4-BE49-F238E27FC236}">
                <a16:creationId xmlns:a16="http://schemas.microsoft.com/office/drawing/2014/main" id="{F9241E4E-DB4B-47E1-9A70-5A973E80399C}"/>
              </a:ext>
            </a:extLst>
          </p:cNvPr>
          <p:cNvSpPr>
            <a:spLocks xmlns:a="http://schemas.openxmlformats.org/drawingml/2006/main" noGrp="1"/>
          </p:cNvSpPr>
          <p:nvPr/>
        </p:nvSpPr>
        <p:spPr>
          <a:xfrm xmlns:a="http://schemas.openxmlformats.org/drawingml/2006/main">
            <a:off x="647700" y="594360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4696F"/>
                </a:solidFill>
                <a:latin typeface="Arial"/>
                <a:ea typeface="Arial"/>
                <a:cs typeface="Arial"/>
              </a:defRPr>
            </a:pPr>
            <a:r>
              <a:rPr sz="1575" b="0">
                <a:solidFill>
                  <a:srgbClr val="64696F"/>
                </a:solidFill>
                <a:latin typeface="Arial"/>
                <a:ea typeface="Arial"/>
                <a:cs typeface="Arial"/>
              </a:rPr>
              <a:t>Discovery supplies the evidence. Business reasoning and actions remain future work.</a:t>
            </a:r>
          </a:p>
        </p:txBody>
      </p:sp>
    </p:spTree>
    <p:extLst>
      <p:ext uri="{BB962C8B-B14F-4D97-AF65-F5344CB8AC3E}">
        <p14:creationId xmlns:p14="http://schemas.microsoft.com/office/powerpoint/2010/main" val="7380797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2E8B75-C7A9-48FD-A682-4D02E59C2AB0}"/>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A focused pilot can establish accuracy and va">
            <a:extLst xmlns:a="http://schemas.openxmlformats.org/drawingml/2006/main">
              <a:ext uri="{FF2B5EF4-FFF2-40B4-BE49-F238E27FC236}">
                <a16:creationId xmlns:a16="http://schemas.microsoft.com/office/drawing/2014/main" id="{98BF3A08-087A-4F3C-8D8B-696671A3C3F7}"/>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A focused pilot can establish accuracy and value</a:t>
            </a:r>
          </a:p>
        </p:txBody>
      </p:sp>
      <p:sp>
        <p:nvSpPr>
          <p:cNvPr id="3" name="Proposed scope: one manufacturing company, se">
            <a:extLst xmlns:a="http://schemas.openxmlformats.org/drawingml/2006/main">
              <a:ext uri="{FF2B5EF4-FFF2-40B4-BE49-F238E27FC236}">
                <a16:creationId xmlns:a16="http://schemas.microsoft.com/office/drawing/2014/main" id="{A88EC307-92A6-4319-8628-8AF9186C7DFC}"/>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Proposed scope: one manufacturing company, selected endpoints and a named process owner.</a:t>
            </a:r>
          </a:p>
        </p:txBody>
      </p:sp>
      <p:sp>
        <p:nvSpPr>
          <p:cNvPr id="4" name="">
            <a:extLst xmlns:a="http://schemas.openxmlformats.org/drawingml/2006/main">
              <a:ext uri="{FF2B5EF4-FFF2-40B4-BE49-F238E27FC236}">
                <a16:creationId xmlns:a16="http://schemas.microsoft.com/office/drawing/2014/main" id="{4E006073-B139-420D-9E78-39B7B741E3D3}"/>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4D28F727-1957-4E45-97D1-782244A7625B}"/>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958336B0-2B7D-43C6-90E6-E1A792228F36}"/>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12">
            <a:extLst xmlns:a="http://schemas.openxmlformats.org/drawingml/2006/main">
              <a:ext uri="{FF2B5EF4-FFF2-40B4-BE49-F238E27FC236}">
                <a16:creationId xmlns:a16="http://schemas.microsoft.com/office/drawing/2014/main" id="{200C91C2-EF08-4177-B2DD-263BF9847391}"/>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12</a:t>
            </a:r>
          </a:p>
        </p:txBody>
      </p:sp>
      <p:graphicFrame>
        <p:nvGraphicFramePr>
          <p:cNvPr id="17" name=""/>
          <p:cNvGraphicFramePr/>
          <p:nvPr/>
        </p:nvGraphicFramePr>
        <p:xfrm>
          <a:off xmlns:a="http://schemas.openxmlformats.org/drawingml/2006/main" x="647700" y="2095500"/>
          <a:ext xmlns:a="http://schemas.openxmlformats.org/drawingml/2006/main" cx="10896600" cy="3552825"/>
        </p:xfrm>
        <a:graphic xmlns:a="http://schemas.openxmlformats.org/drawingml/2006/main">
          <a:graphicData uri="http://schemas.openxmlformats.org/drawingml/2006/table">
            <a:tbl>
              <a:tblPr firstRow="0" bandRow="0"/>
              <a:tblGrid>
                <a:gridCol w="2257425"/>
                <a:gridCol w="4714875"/>
                <a:gridCol w="3924300"/>
              </a:tblGrid>
              <a:tr h="495300">
                <a:tc>
                  <a:txBody>
                    <a:bodyPr wrap="square" lIns="123825" tIns="85725" rIns="123825" bIns="85725">
                      <a:noAutofit/>
                    </a:bodyPr>
                    <a:lstStyle/>
                    <a:p>
                      <a:r>
                        <a:rPr sz="1500" b="1">
                          <a:solidFill>
                            <a:srgbClr val="FFFFFF"/>
                          </a:solidFill>
                          <a:latin typeface="Arial"/>
                          <a:ea typeface="Arial"/>
                          <a:cs typeface="Arial"/>
                        </a:rPr>
                        <a:t>Pilot step</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What happens</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Evidence needed to proceed</a:t>
                      </a:r>
                    </a:p>
                  </a:txBody>
                  <a:tcPr marL="91440" marR="91440" marT="45720" marB="45720" anchor="ctr">
                    <a:solidFill>
                      <a:srgbClr val="25272B"/>
                    </a:solidFill>
                  </a:tcPr>
                </a:tc>
              </a:tr>
              <a:tr h="764381">
                <a:tc>
                  <a:txBody>
                    <a:bodyPr wrap="square" lIns="123825" tIns="85725" rIns="123825" bIns="85725">
                      <a:noAutofit/>
                    </a:bodyPr>
                    <a:lstStyle/>
                    <a:p>
                      <a:r>
                        <a:rPr sz="1800" b="1">
                          <a:solidFill>
                            <a:srgbClr val="25272B"/>
                          </a:solidFill>
                          <a:latin typeface="Arial"/>
                          <a:ea typeface="Arial"/>
                          <a:cs typeface="Arial"/>
                        </a:rPr>
                        <a:t>1. Agree scope</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Agree on permitted sources and create an owner-reviewed baseline.</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A clear, agreed system list</a:t>
                      </a:r>
                    </a:p>
                  </a:txBody>
                  <a:tcPr marL="91440" marR="91440" marT="45720" marB="45720" anchor="ctr">
                    <a:solidFill>
                      <a:srgbClr val="FFFFFF"/>
                    </a:solidFill>
                  </a:tcPr>
                </a:tc>
              </a:tr>
              <a:tr h="764381">
                <a:tc>
                  <a:txBody>
                    <a:bodyPr wrap="square" lIns="123825" tIns="85725" rIns="123825" bIns="85725">
                      <a:noAutofit/>
                    </a:bodyPr>
                    <a:lstStyle/>
                    <a:p>
                      <a:r>
                        <a:rPr sz="1800" b="1">
                          <a:solidFill>
                            <a:srgbClr val="25272B"/>
                          </a:solidFill>
                          <a:latin typeface="Arial"/>
                          <a:ea typeface="Arial"/>
                          <a:cs typeface="Arial"/>
                        </a:rPr>
                        <a:t>2. Verify findings</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Run the agent and confirm the findings with system owners.</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Explained matches and misses</a:t>
                      </a:r>
                    </a:p>
                  </a:txBody>
                  <a:tcPr marL="91440" marR="91440" marT="45720" marB="45720" anchor="ctr">
                    <a:solidFill>
                      <a:srgbClr val="F3F4F5"/>
                    </a:solidFill>
                  </a:tcPr>
                </a:tc>
              </a:tr>
              <a:tr h="764381">
                <a:tc>
                  <a:txBody>
                    <a:bodyPr wrap="square" lIns="123825" tIns="85725" rIns="123825" bIns="85725">
                      <a:noAutofit/>
                    </a:bodyPr>
                    <a:lstStyle/>
                    <a:p>
                      <a:r>
                        <a:rPr sz="1800" b="1">
                          <a:solidFill>
                            <a:srgbClr val="25272B"/>
                          </a:solidFill>
                          <a:latin typeface="Arial"/>
                          <a:ea typeface="Arial"/>
                          <a:cs typeface="Arial"/>
                        </a:rPr>
                        <a:t>3. Add context</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Connect identity records and build one direct ERP connector.</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Evidence for one business question</a:t>
                      </a:r>
                    </a:p>
                  </a:txBody>
                  <a:tcPr marL="91440" marR="91440" marT="45720" marB="45720" anchor="ctr">
                    <a:solidFill>
                      <a:srgbClr val="FFFFFF"/>
                    </a:solidFill>
                  </a:tcPr>
                </a:tc>
              </a:tr>
              <a:tr h="764381">
                <a:tc>
                  <a:txBody>
                    <a:bodyPr wrap="square" lIns="123825" tIns="85725" rIns="123825" bIns="85725">
                      <a:noAutofit/>
                    </a:bodyPr>
                    <a:lstStyle/>
                    <a:p>
                      <a:r>
                        <a:rPr sz="1800" b="1">
                          <a:solidFill>
                            <a:srgbClr val="25272B"/>
                          </a:solidFill>
                          <a:latin typeface="Arial"/>
                          <a:ea typeface="Arial"/>
                          <a:cs typeface="Arial"/>
                        </a:rPr>
                        <a:t>4. Evaluate value</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Review setup effort, decision usefulness and willingness to pay.</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A decision on a paid next phase</a:t>
                      </a:r>
                    </a:p>
                  </a:txBody>
                  <a:tcPr marL="91440" marR="91440" marT="45720" marB="45720" anchor="ctr">
                    <a:solidFill>
                      <a:srgbClr val="F3F4F5"/>
                    </a:solidFill>
                  </a:tcPr>
                </a:tc>
              </a:tr>
            </a:tbl>
          </a:graphicData>
        </a:graphic>
      </p:graphicFrame>
      <p:sp>
        <p:nvSpPr>
          <p:cNvPr id="9" name="The pilot and native ERP connector are propos">
            <a:extLst xmlns:a="http://schemas.openxmlformats.org/drawingml/2006/main">
              <a:ext uri="{FF2B5EF4-FFF2-40B4-BE49-F238E27FC236}">
                <a16:creationId xmlns:a16="http://schemas.microsoft.com/office/drawing/2014/main" id="{A78D1F43-CEA0-4BFF-9891-44029B2D1C99}"/>
              </a:ext>
            </a:extLst>
          </p:cNvPr>
          <p:cNvSpPr>
            <a:spLocks xmlns:a="http://schemas.openxmlformats.org/drawingml/2006/main" noGrp="1"/>
          </p:cNvSpPr>
          <p:nvPr/>
        </p:nvSpPr>
        <p:spPr>
          <a:xfrm xmlns:a="http://schemas.openxmlformats.org/drawingml/2006/main">
            <a:off x="647700" y="58578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4696F"/>
                </a:solidFill>
                <a:latin typeface="Arial"/>
                <a:ea typeface="Arial"/>
                <a:cs typeface="Arial"/>
              </a:defRPr>
            </a:pPr>
            <a:r>
              <a:rPr sz="1575" b="0">
                <a:solidFill>
                  <a:srgbClr val="64696F"/>
                </a:solidFill>
                <a:latin typeface="Arial"/>
                <a:ea typeface="Arial"/>
                <a:cs typeface="Arial"/>
              </a:rPr>
              <a:t>The pilot and native ERP connector are proposed next work. Access, scope and commercial terms remain to be agreed.</a:t>
            </a:r>
          </a:p>
        </p:txBody>
      </p:sp>
    </p:spTree>
    <p:extLst>
      <p:ext uri="{BB962C8B-B14F-4D97-AF65-F5344CB8AC3E}">
        <p14:creationId xmlns:p14="http://schemas.microsoft.com/office/powerpoint/2010/main" val="20857363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3DA2D02-FD01-44BD-ACA8-73E1853B9EA6}"/>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The next milestone is a real company pilot">
            <a:extLst xmlns:a="http://schemas.openxmlformats.org/drawingml/2006/main">
              <a:ext uri="{FF2B5EF4-FFF2-40B4-BE49-F238E27FC236}">
                <a16:creationId xmlns:a16="http://schemas.microsoft.com/office/drawing/2014/main" id="{E82E8EEC-7743-4668-8E8D-54DFE7B6D6C4}"/>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The next milestone is a real company pilot</a:t>
            </a:r>
          </a:p>
        </p:txBody>
      </p:sp>
      <p:sp>
        <p:nvSpPr>
          <p:cNvPr id="3" name="Glinx has a first sensing product and a concr">
            <a:extLst xmlns:a="http://schemas.openxmlformats.org/drawingml/2006/main">
              <a:ext uri="{FF2B5EF4-FFF2-40B4-BE49-F238E27FC236}">
                <a16:creationId xmlns:a16="http://schemas.microsoft.com/office/drawing/2014/main" id="{DB5EB330-AEE3-4417-B346-ED86DA9E43D6}"/>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Glinx has a first sensing product and a concrete route into a pilot.</a:t>
            </a:r>
          </a:p>
        </p:txBody>
      </p:sp>
      <p:sp>
        <p:nvSpPr>
          <p:cNvPr id="4" name="">
            <a:extLst xmlns:a="http://schemas.openxmlformats.org/drawingml/2006/main">
              <a:ext uri="{FF2B5EF4-FFF2-40B4-BE49-F238E27FC236}">
                <a16:creationId xmlns:a16="http://schemas.microsoft.com/office/drawing/2014/main" id="{FE78D2C2-3D36-47D3-AF81-4F5D579BBDF7}"/>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EDEE53AB-396D-41CA-9570-18DD3E5F5282}"/>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Company Discovery">
            <a:extLst xmlns:a="http://schemas.openxmlformats.org/drawingml/2006/main">
              <a:ext uri="{FF2B5EF4-FFF2-40B4-BE49-F238E27FC236}">
                <a16:creationId xmlns:a16="http://schemas.microsoft.com/office/drawing/2014/main" id="{76D2DA41-43D9-4550-8B7E-D579C00AF71B}"/>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Company Discovery</a:t>
            </a:r>
          </a:p>
        </p:txBody>
      </p:sp>
      <p:sp>
        <p:nvSpPr>
          <p:cNvPr id="7" name="13">
            <a:extLst xmlns:a="http://schemas.openxmlformats.org/drawingml/2006/main">
              <a:ext uri="{FF2B5EF4-FFF2-40B4-BE49-F238E27FC236}">
                <a16:creationId xmlns:a16="http://schemas.microsoft.com/office/drawing/2014/main" id="{AD6C1C69-1A62-4B9A-A742-433AEEFA371C}"/>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13</a:t>
            </a:r>
          </a:p>
        </p:txBody>
      </p:sp>
      <p:sp>
        <p:nvSpPr>
          <p:cNvPr id="8" name="Investor discussion">
            <a:extLst xmlns:a="http://schemas.openxmlformats.org/drawingml/2006/main">
              <a:ext uri="{FF2B5EF4-FFF2-40B4-BE49-F238E27FC236}">
                <a16:creationId xmlns:a16="http://schemas.microsoft.com/office/drawing/2014/main" id="{F116E938-454E-46A5-B941-F3F3B1CA1DB6}"/>
              </a:ext>
            </a:extLst>
          </p:cNvPr>
          <p:cNvSpPr>
            <a:spLocks xmlns:a="http://schemas.openxmlformats.org/drawingml/2006/main" noGrp="1"/>
          </p:cNvSpPr>
          <p:nvPr/>
        </p:nvSpPr>
        <p:spPr>
          <a:xfrm xmlns:a="http://schemas.openxmlformats.org/drawingml/2006/main">
            <a:off x="647700" y="2257425"/>
            <a:ext cx="10896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BA1326"/>
                </a:solidFill>
                <a:latin typeface="Arial"/>
                <a:ea typeface="Arial"/>
                <a:cs typeface="Arial"/>
              </a:defRPr>
            </a:pPr>
            <a:r>
              <a:rPr sz="2400" b="1">
                <a:solidFill>
                  <a:srgbClr val="BA1326"/>
                </a:solidFill>
                <a:latin typeface="Arial"/>
                <a:ea typeface="Arial"/>
                <a:cs typeface="Arial"/>
              </a:rPr>
              <a:t>Investor discussion</a:t>
            </a:r>
          </a:p>
        </p:txBody>
      </p:sp>
      <p:sp>
        <p:nvSpPr>
          <p:cNvPr id="9" name="Which operating company could become&#10;the firs">
            <a:extLst xmlns:a="http://schemas.openxmlformats.org/drawingml/2006/main">
              <a:ext uri="{FF2B5EF4-FFF2-40B4-BE49-F238E27FC236}">
                <a16:creationId xmlns:a16="http://schemas.microsoft.com/office/drawing/2014/main" id="{11C88829-310A-4FFE-A534-474F55E25062}"/>
              </a:ext>
            </a:extLst>
          </p:cNvPr>
          <p:cNvSpPr>
            <a:spLocks xmlns:a="http://schemas.openxmlformats.org/drawingml/2006/main" noGrp="1"/>
          </p:cNvSpPr>
          <p:nvPr/>
        </p:nvSpPr>
        <p:spPr>
          <a:xfrm xmlns:a="http://schemas.openxmlformats.org/drawingml/2006/main">
            <a:off x="647700" y="2952750"/>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5272B"/>
                </a:solidFill>
                <a:latin typeface="Arial"/>
                <a:ea typeface="Arial"/>
                <a:cs typeface="Arial"/>
              </a:defRPr>
            </a:pPr>
            <a:r>
              <a:rPr sz="3150" b="1">
                <a:solidFill>
                  <a:srgbClr val="25272B"/>
                </a:solidFill>
                <a:latin typeface="Arial"/>
                <a:ea typeface="Arial"/>
                <a:cs typeface="Arial"/>
              </a:rPr>
              <a:t>Which operating company could become</a:t>
            </a:r>
          </a:p>
          <a:p xmlns:a="http://schemas.openxmlformats.org/drawingml/2006/main">
            <a:pPr algn="l">
              <a:defRPr sz="3150" b="1">
                <a:solidFill>
                  <a:srgbClr val="25272B"/>
                </a:solidFill>
                <a:latin typeface="Arial"/>
                <a:ea typeface="Arial"/>
                <a:cs typeface="Arial"/>
              </a:defRPr>
            </a:pPr>
            <a:r>
              <a:rPr sz="3150" b="1">
                <a:solidFill>
                  <a:srgbClr val="25272B"/>
                </a:solidFill>
                <a:latin typeface="Arial"/>
                <a:ea typeface="Arial"/>
                <a:cs typeface="Arial"/>
              </a:rPr>
              <a:t>the first design partner?</a:t>
            </a:r>
          </a:p>
        </p:txBody>
      </p:sp>
      <p:sp>
        <p:nvSpPr>
          <p:cNvPr id="10" name="What pilot evidence would support&#10;the next in">
            <a:extLst xmlns:a="http://schemas.openxmlformats.org/drawingml/2006/main">
              <a:ext uri="{FF2B5EF4-FFF2-40B4-BE49-F238E27FC236}">
                <a16:creationId xmlns:a16="http://schemas.microsoft.com/office/drawing/2014/main" id="{D7CA254D-9BA2-4B06-AE57-179C7769043D}"/>
              </a:ext>
            </a:extLst>
          </p:cNvPr>
          <p:cNvSpPr>
            <a:spLocks xmlns:a="http://schemas.openxmlformats.org/drawingml/2006/main" noGrp="1"/>
          </p:cNvSpPr>
          <p:nvPr/>
        </p:nvSpPr>
        <p:spPr>
          <a:xfrm xmlns:a="http://schemas.openxmlformats.org/drawingml/2006/main">
            <a:off x="647700" y="4295775"/>
            <a:ext cx="10896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5272B"/>
                </a:solidFill>
                <a:latin typeface="Arial"/>
                <a:ea typeface="Arial"/>
                <a:cs typeface="Arial"/>
              </a:defRPr>
            </a:pPr>
            <a:r>
              <a:rPr sz="2925" b="1">
                <a:solidFill>
                  <a:srgbClr val="25272B"/>
                </a:solidFill>
                <a:latin typeface="Arial"/>
                <a:ea typeface="Arial"/>
                <a:cs typeface="Arial"/>
              </a:rPr>
              <a:t>What pilot evidence would support</a:t>
            </a:r>
          </a:p>
          <a:p xmlns:a="http://schemas.openxmlformats.org/drawingml/2006/main">
            <a:pPr algn="l">
              <a:defRPr sz="2925" b="1">
                <a:solidFill>
                  <a:srgbClr val="25272B"/>
                </a:solidFill>
                <a:latin typeface="Arial"/>
                <a:ea typeface="Arial"/>
                <a:cs typeface="Arial"/>
              </a:defRPr>
            </a:pPr>
            <a:r>
              <a:rPr sz="2925" b="1">
                <a:solidFill>
                  <a:srgbClr val="25272B"/>
                </a:solidFill>
                <a:latin typeface="Arial"/>
                <a:ea typeface="Arial"/>
                <a:cs typeface="Arial"/>
              </a:rPr>
              <a:t>the next investment decision?</a:t>
            </a:r>
          </a:p>
        </p:txBody>
      </p:sp>
      <p:sp>
        <p:nvSpPr>
          <p:cNvPr id="11" name="">
            <a:extLst xmlns:a="http://schemas.openxmlformats.org/drawingml/2006/main">
              <a:ext uri="{FF2B5EF4-FFF2-40B4-BE49-F238E27FC236}">
                <a16:creationId xmlns:a16="http://schemas.microsoft.com/office/drawing/2014/main" id="{A1F9668A-0325-47E8-8256-20D19EF131CE}"/>
              </a:ext>
            </a:extLst>
          </p:cNvPr>
          <p:cNvSpPr>
            <a:spLocks xmlns:a="http://schemas.openxmlformats.org/drawingml/2006/main" noGrp="1"/>
          </p:cNvSpPr>
          <p:nvPr/>
        </p:nvSpPr>
        <p:spPr>
          <a:xfrm xmlns:a="http://schemas.openxmlformats.org/drawingml/2006/main">
            <a:off x="647700" y="55530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12" name="Private product demo">
            <a:extLst xmlns:a="http://schemas.openxmlformats.org/drawingml/2006/main">
              <a:ext uri="{FF2B5EF4-FFF2-40B4-BE49-F238E27FC236}">
                <a16:creationId xmlns:a16="http://schemas.microsoft.com/office/drawing/2014/main" id="{198DCA45-594B-4ECA-B16F-FF39F1B1BA56}"/>
              </a:ext>
            </a:extLst>
          </p:cNvPr>
          <p:cNvSpPr>
            <a:spLocks xmlns:a="http://schemas.openxmlformats.org/drawingml/2006/main" noGrp="1"/>
          </p:cNvSpPr>
          <p:nvPr/>
        </p:nvSpPr>
        <p:spPr>
          <a:xfrm xmlns:a="http://schemas.openxmlformats.org/drawingml/2006/main">
            <a:off x="647700" y="580072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BA1326"/>
                </a:solidFill>
                <a:latin typeface="Arial"/>
                <a:ea typeface="Arial"/>
                <a:cs typeface="Arial"/>
              </a:defRPr>
            </a:pPr>
            <a:r>
              <a:rPr sz="1875" b="1">
                <a:solidFill>
                  <a:srgbClr val="BA1326"/>
                </a:solidFill>
                <a:latin typeface="Arial"/>
                <a:ea typeface="Arial"/>
                <a:cs typeface="Arial"/>
                <a:hlinkClick xmlns:r="http://schemas.openxmlformats.org/officeDocument/2006/relationships" r:id="Ref3cf7af619a4cd6"/>
              </a:rPr>
              <a:t>Private product demo</a:t>
            </a:r>
          </a:p>
        </p:txBody>
      </p:sp>
      <p:sp>
        <p:nvSpPr>
          <p:cNvPr id="13" name="GitHub source and collaboration">
            <a:extLst xmlns:a="http://schemas.openxmlformats.org/drawingml/2006/main">
              <a:ext uri="{FF2B5EF4-FFF2-40B4-BE49-F238E27FC236}">
                <a16:creationId xmlns:a16="http://schemas.microsoft.com/office/drawing/2014/main" id="{64D04407-0BAB-4822-8943-AE51DE0BBE15}"/>
              </a:ext>
            </a:extLst>
          </p:cNvPr>
          <p:cNvSpPr>
            <a:spLocks xmlns:a="http://schemas.openxmlformats.org/drawingml/2006/main" noGrp="1"/>
          </p:cNvSpPr>
          <p:nvPr/>
        </p:nvSpPr>
        <p:spPr>
          <a:xfrm xmlns:a="http://schemas.openxmlformats.org/drawingml/2006/main">
            <a:off x="6362700" y="5800725"/>
            <a:ext cx="518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BA1326"/>
                </a:solidFill>
                <a:latin typeface="Arial"/>
                <a:ea typeface="Arial"/>
                <a:cs typeface="Arial"/>
              </a:defRPr>
            </a:pPr>
            <a:r>
              <a:rPr sz="1875" b="1">
                <a:solidFill>
                  <a:srgbClr val="BA1326"/>
                </a:solidFill>
                <a:latin typeface="Arial"/>
                <a:ea typeface="Arial"/>
                <a:cs typeface="Arial"/>
                <a:hlinkClick xmlns:r="http://schemas.openxmlformats.org/officeDocument/2006/relationships" r:id="R2ea23e9403024e98"/>
              </a:rPr>
              <a:t>GitHub source and collaboration</a:t>
            </a:r>
          </a:p>
        </p:txBody>
      </p:sp>
    </p:spTree>
    <p:extLst>
      <p:ext uri="{BB962C8B-B14F-4D97-AF65-F5344CB8AC3E}">
        <p14:creationId xmlns:p14="http://schemas.microsoft.com/office/powerpoint/2010/main" val="21041915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4B5612-CA89-48AE-9422-A98A15B67ABD}"/>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Investor questions">
            <a:extLst xmlns:a="http://schemas.openxmlformats.org/drawingml/2006/main">
              <a:ext uri="{FF2B5EF4-FFF2-40B4-BE49-F238E27FC236}">
                <a16:creationId xmlns:a16="http://schemas.microsoft.com/office/drawing/2014/main" id="{7CAEEC3A-F533-498D-85C5-D67752753998}"/>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Investor questions</a:t>
            </a:r>
          </a:p>
        </p:txBody>
      </p:sp>
      <p:sp>
        <p:nvSpPr>
          <p:cNvPr id="3" name="Appendix">
            <a:extLst xmlns:a="http://schemas.openxmlformats.org/drawingml/2006/main">
              <a:ext uri="{FF2B5EF4-FFF2-40B4-BE49-F238E27FC236}">
                <a16:creationId xmlns:a16="http://schemas.microsoft.com/office/drawing/2014/main" id="{9A3468A2-09B1-4419-A6D2-6502356F0BBC}"/>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B904EB0D-75DF-4DBF-B752-73BB38308FF6}"/>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EC547091-86F3-4259-BCBF-8C9816993330}"/>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Appendix">
            <a:extLst xmlns:a="http://schemas.openxmlformats.org/drawingml/2006/main">
              <a:ext uri="{FF2B5EF4-FFF2-40B4-BE49-F238E27FC236}">
                <a16:creationId xmlns:a16="http://schemas.microsoft.com/office/drawing/2014/main" id="{CF134B62-EFBE-460D-8242-724FD764A179}"/>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Appendix</a:t>
            </a:r>
          </a:p>
        </p:txBody>
      </p:sp>
      <p:sp>
        <p:nvSpPr>
          <p:cNvPr id="7" name="14">
            <a:extLst xmlns:a="http://schemas.openxmlformats.org/drawingml/2006/main">
              <a:ext uri="{FF2B5EF4-FFF2-40B4-BE49-F238E27FC236}">
                <a16:creationId xmlns:a16="http://schemas.microsoft.com/office/drawing/2014/main" id="{1C12ADE3-D521-44A8-943C-1005D7EDDCAC}"/>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14</a:t>
            </a:r>
          </a:p>
        </p:txBody>
      </p:sp>
      <p:graphicFrame>
        <p:nvGraphicFramePr>
          <p:cNvPr id="16" name=""/>
          <p:cNvGraphicFramePr/>
          <p:nvPr/>
        </p:nvGraphicFramePr>
        <p:xfrm>
          <a:off xmlns:a="http://schemas.openxmlformats.org/drawingml/2006/main" x="647700" y="2066925"/>
          <a:ext xmlns:a="http://schemas.openxmlformats.org/drawingml/2006/main" cx="10896600" cy="4076700"/>
        </p:xfrm>
        <a:graphic xmlns:a="http://schemas.openxmlformats.org/drawingml/2006/main">
          <a:graphicData uri="http://schemas.openxmlformats.org/drawingml/2006/table">
            <a:tbl>
              <a:tblPr firstRow="0" bandRow="0"/>
              <a:tblGrid>
                <a:gridCol w="4381500"/>
                <a:gridCol w="6515100"/>
              </a:tblGrid>
              <a:tr h="495300">
                <a:tc>
                  <a:txBody>
                    <a:bodyPr wrap="square" lIns="123825" tIns="85725" rIns="123825" bIns="85725">
                      <a:noAutofit/>
                    </a:bodyPr>
                    <a:lstStyle/>
                    <a:p>
                      <a:r>
                        <a:rPr sz="1500" b="1">
                          <a:solidFill>
                            <a:srgbClr val="FFFFFF"/>
                          </a:solidFill>
                          <a:latin typeface="Arial"/>
                          <a:ea typeface="Arial"/>
                          <a:cs typeface="Arial"/>
                        </a:rPr>
                        <a:t>Question</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Accurate answer today</a:t>
                      </a:r>
                    </a:p>
                  </a:txBody>
                  <a:tcPr marL="91440" marR="91440" marT="45720" marB="45720" anchor="ctr">
                    <a:solidFill>
                      <a:srgbClr val="25272B"/>
                    </a:solidFill>
                  </a:tcPr>
                </a:tc>
              </a:tr>
              <a:tr h="716280">
                <a:tc>
                  <a:txBody>
                    <a:bodyPr wrap="square" lIns="123825" tIns="85725" rIns="123825" bIns="85725">
                      <a:noAutofit/>
                    </a:bodyPr>
                    <a:lstStyle/>
                    <a:p>
                      <a:r>
                        <a:rPr sz="1725" b="1">
                          <a:solidFill>
                            <a:srgbClr val="25272B"/>
                          </a:solidFill>
                          <a:latin typeface="Arial"/>
                          <a:ea typeface="Arial"/>
                          <a:cs typeface="Arial"/>
                        </a:rPr>
                        <a:t>Does one install find everything?</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It covers the approved scope. Other devices and disconnected systems require added access.</a:t>
                      </a:r>
                    </a:p>
                  </a:txBody>
                  <a:tcPr marL="91440" marR="91440" marT="45720" marB="45720" anchor="ctr">
                    <a:solidFill>
                      <a:srgbClr val="FFFFFF"/>
                    </a:solidFill>
                  </a:tcPr>
                </a:tc>
              </a:tr>
              <a:tr h="716280">
                <a:tc>
                  <a:txBody>
                    <a:bodyPr wrap="square" lIns="123825" tIns="85725" rIns="123825" bIns="85725">
                      <a:noAutofit/>
                    </a:bodyPr>
                    <a:lstStyle/>
                    <a:p>
                      <a:r>
                        <a:rPr sz="1725" b="1">
                          <a:solidFill>
                            <a:srgbClr val="25272B"/>
                          </a:solidFill>
                          <a:latin typeface="Arial"/>
                          <a:ea typeface="Arial"/>
                          <a:cs typeface="Arial"/>
                        </a:rPr>
                        <a:t>Can it read ERP transactions?</a:t>
                      </a:r>
                    </a:p>
                  </a:txBody>
                  <a:tcPr marL="91440" marR="91440" marT="45720" marB="45720" anchor="ctr">
                    <a:solidFill>
                      <a:srgbClr val="F3F4F5"/>
                    </a:solidFill>
                  </a:tcPr>
                </a:tc>
                <a:tc>
                  <a:txBody>
                    <a:bodyPr wrap="square" lIns="123825" tIns="85725" rIns="123825" bIns="85725">
                      <a:noAutofit/>
                    </a:bodyPr>
                    <a:lstStyle/>
                    <a:p>
                      <a:r>
                        <a:rPr sz="1725" b="0">
                          <a:solidFill>
                            <a:srgbClr val="25272B"/>
                          </a:solidFill>
                          <a:latin typeface="Arial"/>
                          <a:ea typeface="Arial"/>
                          <a:cs typeface="Arial"/>
                        </a:rPr>
                        <a:t>Today it finds ERP clues. A direct connector is next work.</a:t>
                      </a:r>
                    </a:p>
                  </a:txBody>
                  <a:tcPr marL="91440" marR="91440" marT="45720" marB="45720" anchor="ctr">
                    <a:solidFill>
                      <a:srgbClr val="F3F4F5"/>
                    </a:solidFill>
                  </a:tcPr>
                </a:tc>
              </a:tr>
              <a:tr h="716280">
                <a:tc>
                  <a:txBody>
                    <a:bodyPr wrap="square" lIns="123825" tIns="85725" rIns="123825" bIns="85725">
                      <a:noAutofit/>
                    </a:bodyPr>
                    <a:lstStyle/>
                    <a:p>
                      <a:r>
                        <a:rPr sz="1725" b="1">
                          <a:solidFill>
                            <a:srgbClr val="25272B"/>
                          </a:solidFill>
                          <a:latin typeface="Arial"/>
                          <a:ea typeface="Arial"/>
                          <a:cs typeface="Arial"/>
                        </a:rPr>
                        <a:t>Is the demo a live customer scan?</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Alder Forge is fictional. The viewer can also import real agent reports.</a:t>
                      </a:r>
                    </a:p>
                  </a:txBody>
                  <a:tcPr marL="91440" marR="91440" marT="45720" marB="45720" anchor="ctr">
                    <a:solidFill>
                      <a:srgbClr val="FFFFFF"/>
                    </a:solidFill>
                  </a:tcPr>
                </a:tc>
              </a:tr>
              <a:tr h="716280">
                <a:tc>
                  <a:txBody>
                    <a:bodyPr wrap="square" lIns="123825" tIns="85725" rIns="123825" bIns="85725">
                      <a:noAutofit/>
                    </a:bodyPr>
                    <a:lstStyle/>
                    <a:p>
                      <a:r>
                        <a:rPr sz="1725" b="1">
                          <a:solidFill>
                            <a:srgbClr val="25272B"/>
                          </a:solidFill>
                          <a:latin typeface="Arial"/>
                          <a:ea typeface="Arial"/>
                          <a:cs typeface="Arial"/>
                        </a:rPr>
                        <a:t>Does an AI model make operating decisions?</a:t>
                      </a:r>
                    </a:p>
                  </a:txBody>
                  <a:tcPr marL="91440" marR="91440" marT="45720" marB="45720" anchor="ctr">
                    <a:solidFill>
                      <a:srgbClr val="F3F4F5"/>
                    </a:solidFill>
                  </a:tcPr>
                </a:tc>
                <a:tc>
                  <a:txBody>
                    <a:bodyPr wrap="square" lIns="123825" tIns="85725" rIns="123825" bIns="85725">
                      <a:noAutofit/>
                    </a:bodyPr>
                    <a:lstStyle/>
                    <a:p>
                      <a:r>
                        <a:rPr sz="1725" b="0">
                          <a:solidFill>
                            <a:srgbClr val="25272B"/>
                          </a:solidFill>
                          <a:latin typeface="Arial"/>
                          <a:ea typeface="Arial"/>
                          <a:cs typeface="Arial"/>
                        </a:rPr>
                        <a:t>Current findings use fixed rules. Business reasoning and actions come later.</a:t>
                      </a:r>
                    </a:p>
                  </a:txBody>
                  <a:tcPr marL="91440" marR="91440" marT="45720" marB="45720" anchor="ctr">
                    <a:solidFill>
                      <a:srgbClr val="F3F4F5"/>
                    </a:solidFill>
                  </a:tcPr>
                </a:tc>
              </a:tr>
              <a:tr h="716280">
                <a:tc>
                  <a:txBody>
                    <a:bodyPr wrap="square" lIns="123825" tIns="85725" rIns="123825" bIns="85725">
                      <a:noAutofit/>
                    </a:bodyPr>
                    <a:lstStyle/>
                    <a:p>
                      <a:r>
                        <a:rPr sz="1725" b="1">
                          <a:solidFill>
                            <a:srgbClr val="25272B"/>
                          </a:solidFill>
                          <a:latin typeface="Arial"/>
                          <a:ea typeface="Arial"/>
                          <a:cs typeface="Arial"/>
                        </a:rPr>
                        <a:t>Can a team build on this?</a:t>
                      </a:r>
                    </a:p>
                  </a:txBody>
                  <a:tcPr marL="91440" marR="91440" marT="45720" marB="45720" anchor="ctr">
                    <a:solidFill>
                      <a:srgbClr val="FFFFFF"/>
                    </a:solidFill>
                  </a:tcPr>
                </a:tc>
                <a:tc>
                  <a:txBody>
                    <a:bodyPr wrap="square" lIns="123825" tIns="85725" rIns="123825" bIns="85725">
                      <a:noAutofit/>
                    </a:bodyPr>
                    <a:lstStyle/>
                    <a:p>
                      <a:r>
                        <a:rPr sz="1725" b="0">
                          <a:solidFill>
                            <a:srgbClr val="25272B"/>
                          </a:solidFill>
                          <a:latin typeface="Arial"/>
                          <a:ea typeface="Arial"/>
                          <a:cs typeface="Arial"/>
                        </a:rPr>
                        <a:t>Yes. GitHub includes source, tests, automated checks and contributor instructions.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0427225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84F45C-B1A8-421C-BFB2-B8FFFB696EE4}"/>
              </a:ext>
            </a:extLst>
          </p:cNvPr>
          <p:cNvSpPr>
            <a:spLocks xmlns:a="http://schemas.openxmlformats.org/drawingml/2006/main" noGrp="1"/>
          </p:cNvSpPr>
          <p:nvPr/>
        </p:nvSpPr>
        <p:spPr>
          <a:xfrm xmlns:a="http://schemas.openxmlformats.org/drawingml/2006/main">
            <a:off x="647700" y="342900"/>
            <a:ext cx="419100" cy="47625"/>
          </a:xfrm>
          <a:prstGeom xmlns:a="http://schemas.openxmlformats.org/drawingml/2006/main" prst="rect">
            <a:avLst/>
          </a:prstGeom>
          <a:solidFill xmlns:a="http://schemas.openxmlformats.org/drawingml/2006/main">
            <a:srgbClr val="BA1326"/>
          </a:solidFill>
          <a:ln xmlns:a="http://schemas.openxmlformats.org/drawingml/2006/main" w="0">
            <a:noFill/>
          </a:ln>
        </p:spPr>
      </p:sp>
      <p:sp>
        <p:nvSpPr>
          <p:cNvPr id="2" name="Proposed pilot acceptance criteria">
            <a:extLst xmlns:a="http://schemas.openxmlformats.org/drawingml/2006/main">
              <a:ext uri="{FF2B5EF4-FFF2-40B4-BE49-F238E27FC236}">
                <a16:creationId xmlns:a16="http://schemas.microsoft.com/office/drawing/2014/main" id="{22EE7707-1E55-468B-BC31-DD8D2AA6129F}"/>
              </a:ext>
            </a:extLst>
          </p:cNvPr>
          <p:cNvSpPr>
            <a:spLocks xmlns:a="http://schemas.openxmlformats.org/drawingml/2006/main" noGrp="1"/>
          </p:cNvSpPr>
          <p:nvPr/>
        </p:nvSpPr>
        <p:spPr>
          <a:xfrm xmlns:a="http://schemas.openxmlformats.org/drawingml/2006/main">
            <a:off x="647700" y="5810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5272B"/>
                </a:solidFill>
                <a:latin typeface="Arial"/>
                <a:ea typeface="Arial"/>
                <a:cs typeface="Arial"/>
              </a:defRPr>
            </a:pPr>
            <a:r>
              <a:rPr sz="3225" b="1">
                <a:solidFill>
                  <a:srgbClr val="25272B"/>
                </a:solidFill>
                <a:latin typeface="Arial"/>
                <a:ea typeface="Arial"/>
                <a:cs typeface="Arial"/>
              </a:rPr>
              <a:t>Proposed pilot acceptance criteria</a:t>
            </a:r>
          </a:p>
        </p:txBody>
      </p:sp>
      <p:sp>
        <p:nvSpPr>
          <p:cNvPr id="3" name="Appendix: agree on these measures with the pi">
            <a:extLst xmlns:a="http://schemas.openxmlformats.org/drawingml/2006/main">
              <a:ext uri="{FF2B5EF4-FFF2-40B4-BE49-F238E27FC236}">
                <a16:creationId xmlns:a16="http://schemas.microsoft.com/office/drawing/2014/main" id="{0D01F294-9885-444E-A267-0986E11864F6}"/>
              </a:ext>
            </a:extLst>
          </p:cNvPr>
          <p:cNvSpPr>
            <a:spLocks xmlns:a="http://schemas.openxmlformats.org/drawingml/2006/main" noGrp="1"/>
          </p:cNvSpPr>
          <p:nvPr/>
        </p:nvSpPr>
        <p:spPr>
          <a:xfrm xmlns:a="http://schemas.openxmlformats.org/drawingml/2006/main">
            <a:off x="647700" y="15144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696F"/>
                </a:solidFill>
                <a:latin typeface="Arial"/>
                <a:ea typeface="Arial"/>
                <a:cs typeface="Arial"/>
              </a:defRPr>
            </a:pPr>
            <a:r>
              <a:rPr sz="1650" b="0">
                <a:solidFill>
                  <a:srgbClr val="64696F"/>
                </a:solidFill>
                <a:latin typeface="Arial"/>
                <a:ea typeface="Arial"/>
                <a:cs typeface="Arial"/>
              </a:rPr>
              <a:t>Appendix: agree on these measures with the pilot company before collection begins.</a:t>
            </a:r>
          </a:p>
        </p:txBody>
      </p:sp>
      <p:sp>
        <p:nvSpPr>
          <p:cNvPr id="4" name="">
            <a:extLst xmlns:a="http://schemas.openxmlformats.org/drawingml/2006/main">
              <a:ext uri="{FF2B5EF4-FFF2-40B4-BE49-F238E27FC236}">
                <a16:creationId xmlns:a16="http://schemas.microsoft.com/office/drawing/2014/main" id="{22E90C40-584C-4B19-97EB-0DB83C796915}"/>
              </a:ext>
            </a:extLst>
          </p:cNvPr>
          <p:cNvSpPr>
            <a:spLocks xmlns:a="http://schemas.openxmlformats.org/drawingml/2006/main" noGrp="1"/>
          </p:cNvSpPr>
          <p:nvPr/>
        </p:nvSpPr>
        <p:spPr>
          <a:xfrm xmlns:a="http://schemas.openxmlformats.org/drawingml/2006/main">
            <a:off x="647700" y="6429375"/>
            <a:ext cx="10896600" cy="9525"/>
          </a:xfrm>
          <a:prstGeom xmlns:a="http://schemas.openxmlformats.org/drawingml/2006/main" prst="rect">
            <a:avLst/>
          </a:prstGeom>
          <a:solidFill xmlns:a="http://schemas.openxmlformats.org/drawingml/2006/main">
            <a:srgbClr val="D9DCE0"/>
          </a:solidFill>
          <a:ln xmlns:a="http://schemas.openxmlformats.org/drawingml/2006/main" w="0">
            <a:noFill/>
          </a:ln>
        </p:spPr>
      </p:sp>
      <p:sp>
        <p:nvSpPr>
          <p:cNvPr id="5" name="GLINX">
            <a:extLst xmlns:a="http://schemas.openxmlformats.org/drawingml/2006/main">
              <a:ext uri="{FF2B5EF4-FFF2-40B4-BE49-F238E27FC236}">
                <a16:creationId xmlns:a16="http://schemas.microsoft.com/office/drawing/2014/main" id="{A78CF925-B6DC-4788-8DDF-452BC9272722}"/>
              </a:ext>
            </a:extLst>
          </p:cNvPr>
          <p:cNvSpPr>
            <a:spLocks xmlns:a="http://schemas.openxmlformats.org/drawingml/2006/main" noGrp="1"/>
          </p:cNvSpPr>
          <p:nvPr/>
        </p:nvSpPr>
        <p:spPr>
          <a:xfrm xmlns:a="http://schemas.openxmlformats.org/drawingml/2006/main">
            <a:off x="647700" y="65436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BA1326"/>
                </a:solidFill>
                <a:latin typeface="Arial"/>
                <a:ea typeface="Arial"/>
                <a:cs typeface="Arial"/>
              </a:defRPr>
            </a:pPr>
            <a:r>
              <a:rPr sz="975" b="1">
                <a:solidFill>
                  <a:srgbClr val="BA1326"/>
                </a:solidFill>
                <a:latin typeface="Arial"/>
                <a:ea typeface="Arial"/>
                <a:cs typeface="Arial"/>
              </a:rPr>
              <a:t>GLINX</a:t>
            </a:r>
          </a:p>
        </p:txBody>
      </p:sp>
      <p:sp>
        <p:nvSpPr>
          <p:cNvPr id="6" name="Appendix">
            <a:extLst xmlns:a="http://schemas.openxmlformats.org/drawingml/2006/main">
              <a:ext uri="{FF2B5EF4-FFF2-40B4-BE49-F238E27FC236}">
                <a16:creationId xmlns:a16="http://schemas.microsoft.com/office/drawing/2014/main" id="{D309EBED-34F7-44D6-B5ED-3875869F687D}"/>
              </a:ext>
            </a:extLst>
          </p:cNvPr>
          <p:cNvSpPr>
            <a:spLocks xmlns:a="http://schemas.openxmlformats.org/drawingml/2006/main" noGrp="1"/>
          </p:cNvSpPr>
          <p:nvPr/>
        </p:nvSpPr>
        <p:spPr>
          <a:xfrm xmlns:a="http://schemas.openxmlformats.org/drawingml/2006/main">
            <a:off x="1562100" y="6543675"/>
            <a:ext cx="552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4696F"/>
                </a:solidFill>
                <a:latin typeface="Arial"/>
                <a:ea typeface="Arial"/>
                <a:cs typeface="Arial"/>
              </a:defRPr>
            </a:pPr>
            <a:r>
              <a:rPr sz="975" b="0">
                <a:solidFill>
                  <a:srgbClr val="64696F"/>
                </a:solidFill>
                <a:latin typeface="Arial"/>
                <a:ea typeface="Arial"/>
                <a:cs typeface="Arial"/>
              </a:rPr>
              <a:t>Appendix</a:t>
            </a:r>
          </a:p>
        </p:txBody>
      </p:sp>
      <p:sp>
        <p:nvSpPr>
          <p:cNvPr id="7" name="15">
            <a:extLst xmlns:a="http://schemas.openxmlformats.org/drawingml/2006/main">
              <a:ext uri="{FF2B5EF4-FFF2-40B4-BE49-F238E27FC236}">
                <a16:creationId xmlns:a16="http://schemas.microsoft.com/office/drawing/2014/main" id="{693CD413-2624-492A-99E6-F2496F5014C9}"/>
              </a:ext>
            </a:extLst>
          </p:cNvPr>
          <p:cNvSpPr>
            <a:spLocks xmlns:a="http://schemas.openxmlformats.org/drawingml/2006/main" noGrp="1"/>
          </p:cNvSpPr>
          <p:nvPr/>
        </p:nvSpPr>
        <p:spPr>
          <a:xfrm xmlns:a="http://schemas.openxmlformats.org/drawingml/2006/main">
            <a:off x="11191875" y="6543675"/>
            <a:ext cx="3524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4696F"/>
                </a:solidFill>
                <a:latin typeface="Arial"/>
                <a:ea typeface="Arial"/>
                <a:cs typeface="Arial"/>
              </a:defRPr>
            </a:pPr>
            <a:r>
              <a:rPr sz="975" b="0">
                <a:solidFill>
                  <a:srgbClr val="64696F"/>
                </a:solidFill>
                <a:latin typeface="Arial"/>
                <a:ea typeface="Arial"/>
                <a:cs typeface="Arial"/>
              </a:rPr>
              <a:t>15</a:t>
            </a:r>
          </a:p>
        </p:txBody>
      </p:sp>
      <p:graphicFrame>
        <p:nvGraphicFramePr>
          <p:cNvPr id="17" name=""/>
          <p:cNvGraphicFramePr/>
          <p:nvPr/>
        </p:nvGraphicFramePr>
        <p:xfrm>
          <a:off xmlns:a="http://schemas.openxmlformats.org/drawingml/2006/main" x="647700" y="2114550"/>
          <a:ext xmlns:a="http://schemas.openxmlformats.org/drawingml/2006/main" cx="10896600" cy="3733800"/>
        </p:xfrm>
        <a:graphic xmlns:a="http://schemas.openxmlformats.org/drawingml/2006/main">
          <a:graphicData uri="http://schemas.openxmlformats.org/drawingml/2006/table">
            <a:tbl>
              <a:tblPr firstRow="0" bandRow="0"/>
              <a:tblGrid>
                <a:gridCol w="2409825"/>
                <a:gridCol w="4943475"/>
                <a:gridCol w="3543300"/>
              </a:tblGrid>
              <a:tr h="495300">
                <a:tc>
                  <a:txBody>
                    <a:bodyPr wrap="square" lIns="123825" tIns="85725" rIns="123825" bIns="85725">
                      <a:noAutofit/>
                    </a:bodyPr>
                    <a:lstStyle/>
                    <a:p>
                      <a:r>
                        <a:rPr sz="1500" b="1">
                          <a:solidFill>
                            <a:srgbClr val="FFFFFF"/>
                          </a:solidFill>
                          <a:latin typeface="Arial"/>
                          <a:ea typeface="Arial"/>
                          <a:cs typeface="Arial"/>
                        </a:rPr>
                        <a:t>Measure</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How to assess it</a:t>
                      </a:r>
                    </a:p>
                  </a:txBody>
                  <a:tcPr marL="91440" marR="91440" marT="45720" marB="45720" anchor="ctr">
                    <a:solidFill>
                      <a:srgbClr val="25272B"/>
                    </a:solidFill>
                  </a:tcPr>
                </a:tc>
                <a:tc>
                  <a:txBody>
                    <a:bodyPr wrap="square" lIns="123825" tIns="85725" rIns="123825" bIns="85725">
                      <a:noAutofit/>
                    </a:bodyPr>
                    <a:lstStyle/>
                    <a:p>
                      <a:r>
                        <a:rPr sz="1500" b="1">
                          <a:solidFill>
                            <a:srgbClr val="FFFFFF"/>
                          </a:solidFill>
                          <a:latin typeface="Arial"/>
                          <a:ea typeface="Arial"/>
                          <a:cs typeface="Arial"/>
                        </a:rPr>
                        <a:t>Evidence to retain</a:t>
                      </a:r>
                    </a:p>
                  </a:txBody>
                  <a:tcPr marL="91440" marR="91440" marT="45720" marB="45720" anchor="ctr">
                    <a:solidFill>
                      <a:srgbClr val="25272B"/>
                    </a:solidFill>
                  </a:tcPr>
                </a:tc>
              </a:tr>
              <a:tr h="809625">
                <a:tc>
                  <a:txBody>
                    <a:bodyPr wrap="square" lIns="123825" tIns="85725" rIns="123825" bIns="85725">
                      <a:noAutofit/>
                    </a:bodyPr>
                    <a:lstStyle/>
                    <a:p>
                      <a:r>
                        <a:rPr sz="1800" b="1">
                          <a:solidFill>
                            <a:srgbClr val="25272B"/>
                          </a:solidFill>
                          <a:latin typeface="Arial"/>
                          <a:ea typeface="Arial"/>
                          <a:cs typeface="Arial"/>
                        </a:rPr>
                        <a:t>Inventory accuracy</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Compare findings with the owner’s agreed system list.</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Confirmed systems, misses and false matches</a:t>
                      </a:r>
                    </a:p>
                  </a:txBody>
                  <a:tcPr marL="91440" marR="91440" marT="45720" marB="45720" anchor="ctr">
                    <a:solidFill>
                      <a:srgbClr val="FFFFFF"/>
                    </a:solidFill>
                  </a:tcPr>
                </a:tc>
              </a:tr>
              <a:tr h="809625">
                <a:tc>
                  <a:txBody>
                    <a:bodyPr wrap="square" lIns="123825" tIns="85725" rIns="123825" bIns="85725">
                      <a:noAutofit/>
                    </a:bodyPr>
                    <a:lstStyle/>
                    <a:p>
                      <a:r>
                        <a:rPr sz="1800" b="1">
                          <a:solidFill>
                            <a:srgbClr val="25272B"/>
                          </a:solidFill>
                          <a:latin typeface="Arial"/>
                          <a:ea typeface="Arial"/>
                          <a:cs typeface="Arial"/>
                        </a:rPr>
                        <a:t>Traceable evidence</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Check each finding’s source and time, and each collector’s outcome.</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A reviewable discovery report</a:t>
                      </a:r>
                    </a:p>
                  </a:txBody>
                  <a:tcPr marL="91440" marR="91440" marT="45720" marB="45720" anchor="ctr">
                    <a:solidFill>
                      <a:srgbClr val="F3F4F5"/>
                    </a:solidFill>
                  </a:tcPr>
                </a:tc>
              </a:tr>
              <a:tr h="809625">
                <a:tc>
                  <a:txBody>
                    <a:bodyPr wrap="square" lIns="123825" tIns="85725" rIns="123825" bIns="85725">
                      <a:noAutofit/>
                    </a:bodyPr>
                    <a:lstStyle/>
                    <a:p>
                      <a:r>
                        <a:rPr sz="1800" b="1">
                          <a:solidFill>
                            <a:srgbClr val="25272B"/>
                          </a:solidFill>
                          <a:latin typeface="Arial"/>
                          <a:ea typeface="Arial"/>
                          <a:cs typeface="Arial"/>
                        </a:rPr>
                        <a:t>Setup effort</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Record time, administrator effort and corrections.</a:t>
                      </a:r>
                    </a:p>
                  </a:txBody>
                  <a:tcPr marL="91440" marR="91440" marT="45720" marB="45720" anchor="ctr">
                    <a:solidFill>
                      <a:srgbClr val="FFFFFF"/>
                    </a:solidFill>
                  </a:tcPr>
                </a:tc>
                <a:tc>
                  <a:txBody>
                    <a:bodyPr wrap="square" lIns="123825" tIns="85725" rIns="123825" bIns="85725">
                      <a:noAutofit/>
                    </a:bodyPr>
                    <a:lstStyle/>
                    <a:p>
                      <a:r>
                        <a:rPr sz="1800" b="0">
                          <a:solidFill>
                            <a:srgbClr val="25272B"/>
                          </a:solidFill>
                          <a:latin typeface="Arial"/>
                          <a:ea typeface="Arial"/>
                          <a:cs typeface="Arial"/>
                        </a:rPr>
                        <a:t>A repeatable onboarding record</a:t>
                      </a:r>
                    </a:p>
                  </a:txBody>
                  <a:tcPr marL="91440" marR="91440" marT="45720" marB="45720" anchor="ctr">
                    <a:solidFill>
                      <a:srgbClr val="FFFFFF"/>
                    </a:solidFill>
                  </a:tcPr>
                </a:tc>
              </a:tr>
              <a:tr h="809625">
                <a:tc>
                  <a:txBody>
                    <a:bodyPr wrap="square" lIns="123825" tIns="85725" rIns="123825" bIns="85725">
                      <a:noAutofit/>
                    </a:bodyPr>
                    <a:lstStyle/>
                    <a:p>
                      <a:r>
                        <a:rPr sz="1800" b="1">
                          <a:solidFill>
                            <a:srgbClr val="25272B"/>
                          </a:solidFill>
                          <a:latin typeface="Arial"/>
                          <a:ea typeface="Arial"/>
                          <a:cs typeface="Arial"/>
                        </a:rPr>
                        <a:t>Customer usefulness</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Ask the owner to choose a useful next step and evaluate paid continuation.</a:t>
                      </a:r>
                    </a:p>
                  </a:txBody>
                  <a:tcPr marL="91440" marR="91440" marT="45720" marB="45720" anchor="ctr">
                    <a:solidFill>
                      <a:srgbClr val="F3F4F5"/>
                    </a:solidFill>
                  </a:tcPr>
                </a:tc>
                <a:tc>
                  <a:txBody>
                    <a:bodyPr wrap="square" lIns="123825" tIns="85725" rIns="123825" bIns="85725">
                      <a:noAutofit/>
                    </a:bodyPr>
                    <a:lstStyle/>
                    <a:p>
                      <a:r>
                        <a:rPr sz="1800" b="0">
                          <a:solidFill>
                            <a:srgbClr val="25272B"/>
                          </a:solidFill>
                          <a:latin typeface="Arial"/>
                          <a:ea typeface="Arial"/>
                          <a:cs typeface="Arial"/>
                        </a:rPr>
                        <a:t>A documented customer assessment</a:t>
                      </a:r>
                    </a:p>
                  </a:txBody>
                  <a:tcPr marL="91440" marR="91440" marT="45720" marB="45720" anchor="ctr">
                    <a:solidFill>
                      <a:srgbClr val="F3F4F5"/>
                    </a:solidFill>
                  </a:tcPr>
                </a:tc>
              </a:tr>
            </a:tbl>
          </a:graphicData>
        </a:graphic>
      </p:graphicFrame>
      <p:sp>
        <p:nvSpPr>
          <p:cNvPr id="9" name="These are proposed evaluation methods. They a">
            <a:extLst xmlns:a="http://schemas.openxmlformats.org/drawingml/2006/main">
              <a:ext uri="{FF2B5EF4-FFF2-40B4-BE49-F238E27FC236}">
                <a16:creationId xmlns:a16="http://schemas.microsoft.com/office/drawing/2014/main" id="{7C9150D0-E6AC-47BA-8F31-68D99BCF777F}"/>
              </a:ext>
            </a:extLst>
          </p:cNvPr>
          <p:cNvSpPr>
            <a:spLocks xmlns:a="http://schemas.openxmlformats.org/drawingml/2006/main" noGrp="1"/>
          </p:cNvSpPr>
          <p:nvPr/>
        </p:nvSpPr>
        <p:spPr>
          <a:xfrm xmlns:a="http://schemas.openxmlformats.org/drawingml/2006/main">
            <a:off x="647700" y="5981700"/>
            <a:ext cx="10896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4696F"/>
                </a:solidFill>
                <a:latin typeface="Arial"/>
                <a:ea typeface="Arial"/>
                <a:cs typeface="Arial"/>
              </a:defRPr>
            </a:pPr>
            <a:r>
              <a:rPr sz="1500" b="0">
                <a:solidFill>
                  <a:srgbClr val="64696F"/>
                </a:solidFill>
                <a:latin typeface="Arial"/>
                <a:ea typeface="Arial"/>
                <a:cs typeface="Arial"/>
              </a:rPr>
              <a:t>These are proposed evaluation methods. They are not achieved customer outcomes or negotiated acceptance targets.</a:t>
            </a:r>
          </a:p>
        </p:txBody>
      </p:sp>
    </p:spTree>
    <p:extLst>
      <p:ext uri="{BB962C8B-B14F-4D97-AF65-F5344CB8AC3E}">
        <p14:creationId xmlns:p14="http://schemas.microsoft.com/office/powerpoint/2010/main" val="8199056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2026-09-09T03:30:55.2790000Z</dcterms:created>
  <dcterms:modified xsi:type="dcterms:W3CDTF">2026-09-09T03:30:55.2790000Z</dcterms:modified>
</coreProperties>
</file>